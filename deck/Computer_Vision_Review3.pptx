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5"/>
    <p:sldId id="265" r:id="rId4"/>
    <p:sldId id="266" r:id="rId3"/>
    <p:sldId id="267" r:id="rId2"/>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5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992" autoAdjust="0"/>
  </p:normalViewPr>
  <p:slideViewPr>
    <p:cSldViewPr showGuides="1">
      <p:cViewPr varScale="1">
        <p:scale>
          <a:sx n="65" d="100"/>
          <a:sy n="65" d="100"/>
        </p:scale>
        <p:origin x="82" y="168"/>
      </p:cViewPr>
      <p:guideLst>
        <p:guide orient="horz" pos="285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2.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00" b="1">
                <a:solidFill>
                  <a:srgbClr val="1F1F1F"/>
                </a:solidFill>
                <a:latin typeface="Arial"/>
              </a:rPr>
              <a:t>mAP by epoch</a:t>
            </a:r>
          </a:p>
        </c:rich>
      </c:tx>
      <c:layout/>
      <c:overlay val="0"/>
    </c:title>
    <c:autoTitleDeleted val="0"/>
    <c:plotArea>
      <c:lineChart>
        <c:grouping val="standard"/>
        <c:varyColors val="0"/>
        <c:ser>
          <c:idx val="0"/>
          <c:order val="0"/>
          <c:tx>
            <c:strRef>
              <c:f>Sheet1!$B$1</c:f>
              <c:strCache>
                <c:ptCount val="1"/>
                <c:pt idx="0">
                  <c:v>mAP50</c:v>
                </c:pt>
              </c:strCache>
            </c:strRef>
          </c:tx>
          <c:spPr>
            <a:ln w="44450">
              <a:solidFill>
                <a:srgbClr val="E09F1F"/>
              </a:solidFill>
            </a:ln>
          </c:spPr>
          <c:marker>
            <c:symbol val="circle"/>
            <c:size val="9"/>
            <c:spPr>
              <a:solidFill>
                <a:srgbClr val="E09F1F"/>
              </a:solidFill>
              <a:ln>
                <a:solidFill>
                  <a:srgbClr val="E09F1F"/>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0.22684</c:v>
                </c:pt>
                <c:pt idx="1">
                  <c:v>0.25678</c:v>
                </c:pt>
                <c:pt idx="2">
                  <c:v>0.24108</c:v>
                </c:pt>
                <c:pt idx="3">
                  <c:v>0.21363</c:v>
                </c:pt>
                <c:pt idx="4">
                  <c:v>0.22603</c:v>
                </c:pt>
                <c:pt idx="5">
                  <c:v>0.25286</c:v>
                </c:pt>
                <c:pt idx="6">
                  <c:v>0.26339</c:v>
                </c:pt>
                <c:pt idx="7">
                  <c:v>0.24626</c:v>
                </c:pt>
                <c:pt idx="8">
                  <c:v>0.24764</c:v>
                </c:pt>
                <c:pt idx="9">
                  <c:v>0.2454</c:v>
                </c:pt>
              </c:numCache>
            </c:numRef>
          </c:val>
          <c:smooth val="0"/>
        </c:ser>
        <c:ser>
          <c:idx val="1"/>
          <c:order val="1"/>
          <c:tx>
            <c:strRef>
              <c:f>Sheet1!$C$1</c:f>
              <c:strCache>
                <c:ptCount val="1"/>
                <c:pt idx="0">
                  <c:v>mAP50-95</c:v>
                </c:pt>
              </c:strCache>
            </c:strRef>
          </c:tx>
          <c:spPr>
            <a:ln w="44450">
              <a:solidFill>
                <a:srgbClr val="2A9D8F"/>
              </a:solidFill>
            </a:ln>
          </c:spPr>
          <c:marker>
            <c:symbol val="circle"/>
            <c:size val="9"/>
            <c:spPr>
              <a:solidFill>
                <a:srgbClr val="2A9D8F"/>
              </a:solidFill>
              <a:ln>
                <a:solidFill>
                  <a:srgbClr val="2A9D8F"/>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0.13529</c:v>
                </c:pt>
                <c:pt idx="1">
                  <c:v>0.15102</c:v>
                </c:pt>
                <c:pt idx="2">
                  <c:v>0.14345</c:v>
                </c:pt>
                <c:pt idx="3">
                  <c:v>0.12227</c:v>
                </c:pt>
                <c:pt idx="4">
                  <c:v>0.13157</c:v>
                </c:pt>
                <c:pt idx="5">
                  <c:v>0.14764</c:v>
                </c:pt>
                <c:pt idx="6">
                  <c:v>0.1526</c:v>
                </c:pt>
                <c:pt idx="7">
                  <c:v>0.14368</c:v>
                </c:pt>
                <c:pt idx="8">
                  <c:v>0.14472</c:v>
                </c:pt>
                <c:pt idx="9">
                  <c:v>0.14602</c:v>
                </c:pt>
              </c:numCache>
            </c:numRef>
          </c:val>
          <c:smooth val="0"/>
        </c:ser>
        <c:marker val="1"/>
        <c:smooth val="0"/>
        <c:axId val="2118791784"/>
        <c:axId val="2140495176"/>
      </c:lineChart>
      <c:catAx>
        <c:axId val="2118791784"/>
        <c:scaling>
          <c:orientation val="minMax"/>
        </c:scaling>
        <c:delete val="0"/>
        <c:axPos val="b"/>
        <c:title>
          <c:tx>
            <c:rich>
              <a:bodyPr/>
              <a:lstStyle/>
              <a:p>
                <a:r>
                  <a:rPr sz="1600" b="0"/>
                  <a:t>epoch</a:t>
                </a:r>
              </a:p>
            </c:rich>
          </c:tx>
          <c:layout/>
          <c:overlay val="0"/>
        </c:title>
        <c:majorTickMark val="out"/>
        <c:minorTickMark val="none"/>
        <c:tickLblPos val="nextTo"/>
        <c:txPr>
          <a:bodyPr/>
          <a:lstStyle/>
          <a:p>
            <a:pPr>
              <a:defRPr sz="1600"/>
            </a:pPr>
          </a:p>
        </c:txPr>
        <c:crossAx val="2140495176"/>
        <c:crosses val="autoZero"/>
        <c:auto val="1"/>
        <c:lblAlgn val="ctr"/>
        <c:lblOffset val="100"/>
        <c:noMultiLvlLbl val="0"/>
      </c:catAx>
      <c:valAx>
        <c:axId val="2140495176"/>
        <c:scaling>
          <c:max val="0.3"/>
          <c:min val="0.1"/>
        </c:scaling>
        <c:delete val="0"/>
        <c:axPos val="l"/>
        <c:majorGridlines>
          <c:spPr>
            <a:ln>
              <a:solidFill>
                <a:srgbClr val="DDDDDD"/>
              </a:solidFill>
            </a:ln>
          </c:spPr>
        </c:majorGridlines>
        <c:numFmt formatCode="0.00" sourceLinked="0"/>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00" b="1">
                <a:solidFill>
                  <a:srgbClr val="1F1F1F"/>
                </a:solidFill>
                <a:latin typeface="Arial"/>
              </a:rPr>
              <a:t>Classification loss by epoch</a:t>
            </a:r>
          </a:p>
        </c:rich>
      </c:tx>
      <c:layout/>
      <c:overlay val="0"/>
    </c:title>
    <c:autoTitleDeleted val="0"/>
    <c:plotArea>
      <c:lineChart>
        <c:grouping val="standard"/>
        <c:varyColors val="0"/>
        <c:ser>
          <c:idx val="0"/>
          <c:order val="0"/>
          <c:tx>
            <c:strRef>
              <c:f>Sheet1!$B$1</c:f>
              <c:strCache>
                <c:ptCount val="1"/>
                <c:pt idx="0">
                  <c:v>train cls loss</c:v>
                </c:pt>
              </c:strCache>
            </c:strRef>
          </c:tx>
          <c:spPr>
            <a:ln w="44450">
              <a:solidFill>
                <a:srgbClr val="E76F51"/>
              </a:solidFill>
            </a:ln>
          </c:spPr>
          <c:marker>
            <c:symbol val="circle"/>
            <c:size val="9"/>
            <c:spPr>
              <a:solidFill>
                <a:srgbClr val="E76F51"/>
              </a:solidFill>
              <a:ln>
                <a:solidFill>
                  <a:srgbClr val="E76F51"/>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2.96703</c:v>
                </c:pt>
                <c:pt idx="1">
                  <c:v>1.78755</c:v>
                </c:pt>
                <c:pt idx="2">
                  <c:v>1.5923</c:v>
                </c:pt>
                <c:pt idx="3">
                  <c:v>1.49179</c:v>
                </c:pt>
                <c:pt idx="4">
                  <c:v>1.35952</c:v>
                </c:pt>
                <c:pt idx="5">
                  <c:v>1.272</c:v>
                </c:pt>
                <c:pt idx="6">
                  <c:v>1.20149</c:v>
                </c:pt>
                <c:pt idx="7">
                  <c:v>1.14002</c:v>
                </c:pt>
                <c:pt idx="8">
                  <c:v>1.08518</c:v>
                </c:pt>
                <c:pt idx="9">
                  <c:v>1.03725</c:v>
                </c:pt>
              </c:numCache>
            </c:numRef>
          </c:val>
          <c:smooth val="0"/>
        </c:ser>
        <c:ser>
          <c:idx val="1"/>
          <c:order val="1"/>
          <c:tx>
            <c:strRef>
              <c:f>Sheet1!$C$1</c:f>
              <c:strCache>
                <c:ptCount val="1"/>
                <c:pt idx="0">
                  <c:v>val cls loss</c:v>
                </c:pt>
              </c:strCache>
            </c:strRef>
          </c:tx>
          <c:spPr>
            <a:ln w="44450">
              <a:solidFill>
                <a:srgbClr val="3F51B5"/>
              </a:solidFill>
            </a:ln>
          </c:spPr>
          <c:marker>
            <c:symbol val="circle"/>
            <c:size val="9"/>
            <c:spPr>
              <a:solidFill>
                <a:srgbClr val="3F51B5"/>
              </a:solidFill>
              <a:ln>
                <a:solidFill>
                  <a:srgbClr val="3F51B5"/>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2.09962</c:v>
                </c:pt>
                <c:pt idx="1">
                  <c:v>2.05509</c:v>
                </c:pt>
                <c:pt idx="2">
                  <c:v>2.10536</c:v>
                </c:pt>
                <c:pt idx="3">
                  <c:v>2.17195</c:v>
                </c:pt>
                <c:pt idx="4">
                  <c:v>2.13572</c:v>
                </c:pt>
                <c:pt idx="5">
                  <c:v>2.06972</c:v>
                </c:pt>
                <c:pt idx="6">
                  <c:v>2.0767</c:v>
                </c:pt>
                <c:pt idx="7">
                  <c:v>2.10949</c:v>
                </c:pt>
                <c:pt idx="8">
                  <c:v>2.12532</c:v>
                </c:pt>
                <c:pt idx="9">
                  <c:v>2.1144</c:v>
                </c:pt>
              </c:numCache>
            </c:numRef>
          </c:val>
          <c:smooth val="0"/>
        </c:ser>
        <c:marker val="1"/>
        <c:smooth val="0"/>
        <c:axId val="2118791784"/>
        <c:axId val="2140495176"/>
      </c:lineChart>
      <c:catAx>
        <c:axId val="2118791784"/>
        <c:scaling>
          <c:orientation val="minMax"/>
        </c:scaling>
        <c:delete val="0"/>
        <c:axPos val="b"/>
        <c:title>
          <c:tx>
            <c:rich>
              <a:bodyPr/>
              <a:lstStyle/>
              <a:p>
                <a:r>
                  <a:rPr sz="1600" b="0"/>
                  <a:t>epoch</a:t>
                </a:r>
              </a:p>
            </c:rich>
          </c:tx>
          <c:layout/>
          <c:overlay val="0"/>
        </c:title>
        <c:majorTickMark val="out"/>
        <c:minorTickMark val="none"/>
        <c:tickLblPos val="nextTo"/>
        <c:txPr>
          <a:bodyPr/>
          <a:lstStyle/>
          <a:p>
            <a:pPr>
              <a:defRPr sz="1600"/>
            </a:pPr>
          </a:p>
        </c:txPr>
        <c:crossAx val="2140495176"/>
        <c:crosses val="autoZero"/>
        <c:auto val="1"/>
        <c:lblAlgn val="ctr"/>
        <c:lblOffset val="100"/>
        <c:noMultiLvlLbl val="0"/>
      </c:catAx>
      <c:valAx>
        <c:axId val="2140495176"/>
        <c:scaling>
          <c:max val="3.5"/>
          <c:min val="0.5"/>
        </c:scaling>
        <c:delete val="0"/>
        <c:axPos val="l"/>
        <c:majorGridlines>
          <c:spPr>
            <a:ln>
              <a:solidFill>
                <a:srgbClr val="DDDDDD"/>
              </a:solidFill>
            </a:ln>
          </c:spPr>
        </c:majorGridlines>
        <c:numFmt formatCode="0.0" sourceLinked="0"/>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00" b="1">
                <a:solidFill>
                  <a:srgbClr val="1F1F1F"/>
                </a:solidFill>
                <a:latin typeface="Arial"/>
              </a:rPr>
              <a:t>mAP50, same validation set</a:t>
            </a:r>
          </a:p>
        </c:rich>
      </c:tx>
      <c:layout/>
      <c:overlay val="0"/>
    </c:title>
    <c:autoTitleDeleted val="0"/>
    <c:plotArea>
      <c:lineChart>
        <c:grouping val="standard"/>
        <c:varyColors val="0"/>
        <c:ser>
          <c:idx val="0"/>
          <c:order val="0"/>
          <c:tx>
            <c:strRef>
              <c:f>Sheet1!$B$1</c:f>
              <c:strCache>
                <c:ptCount val="1"/>
                <c:pt idx="0">
                  <c:v>fine-tune mAP50</c:v>
                </c:pt>
              </c:strCache>
            </c:strRef>
          </c:tx>
          <c:spPr>
            <a:ln w="44450">
              <a:solidFill>
                <a:srgbClr val="E09F1F"/>
              </a:solidFill>
            </a:ln>
          </c:spPr>
          <c:marker>
            <c:symbol val="circle"/>
            <c:size val="9"/>
            <c:spPr>
              <a:solidFill>
                <a:srgbClr val="E09F1F"/>
              </a:solidFill>
              <a:ln>
                <a:solidFill>
                  <a:srgbClr val="E09F1F"/>
                </a:solidFill>
              </a:ln>
            </c:spPr>
          </c:marker>
          <c:cat>
            <c:strRef>
              <c:f>Sheet1!$A$2:$A$4</c:f>
              <c:strCache>
                <c:ptCount val="3"/>
                <c:pt idx="0">
                  <c:v>1</c:v>
                </c:pt>
                <c:pt idx="1">
                  <c:v>2</c:v>
                </c:pt>
                <c:pt idx="2">
                  <c:v>3</c:v>
                </c:pt>
              </c:strCache>
            </c:strRef>
          </c:cat>
          <c:val>
            <c:numRef>
              <c:f>Sheet1!$B$2:$B$4</c:f>
              <c:numCache>
                <c:formatCode>General</c:formatCode>
                <c:ptCount val="3"/>
                <c:pt idx="0">
                  <c:v>0.2492</c:v>
                </c:pt>
                <c:pt idx="1">
                  <c:v>0.2556</c:v>
                </c:pt>
                <c:pt idx="2">
                  <c:v>0.2602</c:v>
                </c:pt>
              </c:numCache>
            </c:numRef>
          </c:val>
          <c:smooth val="0"/>
        </c:ser>
        <c:ser>
          <c:idx val="1"/>
          <c:order val="1"/>
          <c:tx>
            <c:strRef>
              <c:f>Sheet1!$C$1</c:f>
              <c:strCache>
                <c:ptCount val="1"/>
                <c:pt idx="0">
                  <c:v>run-3 baseline 0.2635</c:v>
                </c:pt>
              </c:strCache>
            </c:strRef>
          </c:tx>
          <c:spPr>
            <a:ln w="44450">
              <a:solidFill>
                <a:srgbClr val="3F51B5"/>
              </a:solidFill>
            </a:ln>
          </c:spPr>
          <c:marker>
            <c:symbol val="circle"/>
            <c:size val="9"/>
            <c:spPr>
              <a:solidFill>
                <a:srgbClr val="3F51B5"/>
              </a:solidFill>
              <a:ln>
                <a:solidFill>
                  <a:srgbClr val="3F51B5"/>
                </a:solidFill>
              </a:ln>
            </c:spPr>
          </c:marker>
          <c:cat>
            <c:strRef>
              <c:f>Sheet1!$A$2:$A$4</c:f>
              <c:strCache>
                <c:ptCount val="3"/>
                <c:pt idx="0">
                  <c:v>1</c:v>
                </c:pt>
                <c:pt idx="1">
                  <c:v>2</c:v>
                </c:pt>
                <c:pt idx="2">
                  <c:v>3</c:v>
                </c:pt>
              </c:strCache>
            </c:strRef>
          </c:cat>
          <c:val>
            <c:numRef>
              <c:f>Sheet1!$C$2:$C$4</c:f>
              <c:numCache>
                <c:formatCode>General</c:formatCode>
                <c:ptCount val="3"/>
                <c:pt idx="0">
                  <c:v>0.2635</c:v>
                </c:pt>
                <c:pt idx="1">
                  <c:v>0.2635</c:v>
                </c:pt>
                <c:pt idx="2">
                  <c:v>0.2635</c:v>
                </c:pt>
              </c:numCache>
            </c:numRef>
          </c:val>
          <c:smooth val="0"/>
        </c:ser>
        <c:marker val="1"/>
        <c:smooth val="0"/>
        <c:axId val="2118791784"/>
        <c:axId val="2140495176"/>
      </c:lineChart>
      <c:catAx>
        <c:axId val="2118791784"/>
        <c:scaling>
          <c:orientation val="minMax"/>
        </c:scaling>
        <c:delete val="0"/>
        <c:axPos val="b"/>
        <c:title>
          <c:tx>
            <c:rich>
              <a:bodyPr/>
              <a:lstStyle/>
              <a:p>
                <a:r>
                  <a:rPr sz="1600" b="0"/>
                  <a:t>epoch</a:t>
                </a:r>
              </a:p>
            </c:rich>
          </c:tx>
          <c:layout/>
          <c:overlay val="0"/>
        </c:title>
        <c:majorTickMark val="out"/>
        <c:minorTickMark val="none"/>
        <c:tickLblPos val="nextTo"/>
        <c:txPr>
          <a:bodyPr/>
          <a:lstStyle/>
          <a:p>
            <a:pPr>
              <a:defRPr sz="1600"/>
            </a:pPr>
          </a:p>
        </c:txPr>
        <c:crossAx val="2140495176"/>
        <c:crosses val="autoZero"/>
        <c:auto val="1"/>
        <c:lblAlgn val="ctr"/>
        <c:lblOffset val="100"/>
        <c:noMultiLvlLbl val="0"/>
      </c:catAx>
      <c:valAx>
        <c:axId val="2140495176"/>
        <c:scaling>
          <c:max val="0.27"/>
          <c:min val="0.24"/>
        </c:scaling>
        <c:delete val="0"/>
        <c:axPos val="l"/>
        <c:majorGridlines>
          <c:spPr>
            <a:ln>
              <a:solidFill>
                <a:srgbClr val="DDDDDD"/>
              </a:solidFill>
            </a:ln>
          </c:spPr>
        </c:majorGridlines>
        <c:numFmt formatCode="0.000" sourceLinked="0"/>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00" b="1"/>
              <a:t>Share of positive training labels (%)</a:t>
            </a:r>
          </a:p>
        </c:rich>
      </c:tx>
      <c:layout/>
      <c:overlay val="0"/>
    </c:title>
    <c:autoTitleDeleted val="0"/>
    <c:plotArea>
      <c:barChart>
        <c:barDir val="bar"/>
        <c:grouping val="clustered"/>
        <c:ser>
          <c:idx val="0"/>
          <c:order val="0"/>
          <c:tx>
            <c:strRef>
              <c:f>Sheet1!$B$1</c:f>
              <c:strCache>
                <c:ptCount val="1"/>
                <c:pt idx="0">
                  <c:v>share of positive training labels (%)</c:v>
                </c:pt>
              </c:strCache>
            </c:strRef>
          </c:tx>
          <c:spPr>
            <a:solidFill>
              <a:srgbClr val="B40347"/>
            </a:solidFill>
          </c:spPr>
          <c:cat>
            <c:strRef>
              <c:f>Sheet1!$A$2:$A$11</c:f>
              <c:strCache>
                <c:ptCount val="10"/>
                <c:pt idx="0">
                  <c:v>hold</c:v>
                </c:pt>
                <c:pt idx="1">
                  <c:v>towards</c:v>
                </c:pt>
                <c:pt idx="2">
                  <c:v>play(instrument)</c:v>
                </c:pt>
                <c:pt idx="3">
                  <c:v>above</c:v>
                </c:pt>
                <c:pt idx="4">
                  <c:v>lean_on</c:v>
                </c:pt>
                <c:pt idx="5">
                  <c:v>beneath</c:v>
                </c:pt>
                <c:pt idx="6">
                  <c:v>watch</c:v>
                </c:pt>
                <c:pt idx="7">
                  <c:v>behind</c:v>
                </c:pt>
                <c:pt idx="8">
                  <c:v>in_front_of</c:v>
                </c:pt>
                <c:pt idx="9">
                  <c:v>next_to</c:v>
                </c:pt>
              </c:strCache>
            </c:strRef>
          </c:cat>
          <c:val>
            <c:numRef>
              <c:f>Sheet1!$B$2:$B$11</c:f>
              <c:numCache>
                <c:formatCode>General</c:formatCode>
                <c:ptCount val="10"/>
                <c:pt idx="0">
                  <c:v>0.7</c:v>
                </c:pt>
                <c:pt idx="1">
                  <c:v>0.7</c:v>
                </c:pt>
                <c:pt idx="2">
                  <c:v>1.0</c:v>
                </c:pt>
                <c:pt idx="3">
                  <c:v>2.3</c:v>
                </c:pt>
                <c:pt idx="4">
                  <c:v>2.5</c:v>
                </c:pt>
                <c:pt idx="5">
                  <c:v>4.7</c:v>
                </c:pt>
                <c:pt idx="6">
                  <c:v>6.4</c:v>
                </c:pt>
                <c:pt idx="7">
                  <c:v>7.0</c:v>
                </c:pt>
                <c:pt idx="8">
                  <c:v>34.0</c:v>
                </c:pt>
                <c:pt idx="9">
                  <c:v>38.5</c:v>
                </c:pt>
              </c:numCache>
            </c:numRef>
          </c:val>
        </c:ser>
        <c:dLbls>
          <c:numFmt formatCode="0.0" sourceLinked="0"/>
          <c:txPr>
            <a:bodyPr/>
            <a:lstStyle/>
            <a:p>
              <a:pPr>
                <a:defRPr sz="15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txPr>
          <a:bodyPr/>
          <a:lstStyle/>
          <a:p>
            <a:pPr>
              <a:defRPr sz="1600"/>
            </a:pPr>
          </a:p>
        </c:txPr>
        <c:crossAx val="-2113994440"/>
        <c:crosses val="autoZero"/>
        <c:auto val="1"/>
        <c:lblAlgn val="ctr"/>
        <c:lblOffset val="100"/>
        <c:noMultiLvlLbl val="0"/>
      </c:catAx>
      <c:valAx>
        <c:axId val="-2113994440"/>
        <c:scaling/>
        <c:delete val="0"/>
        <c:axPos val="b"/>
        <c:majorGridlines>
          <c:spPr>
            <a:ln>
              <a:solidFill>
                <a:srgbClr val="DDDDDD"/>
              </a:solidFill>
            </a:ln>
          </c:spPr>
        </c:majorGridlines>
        <c:majorTickMark val="out"/>
        <c:minorTickMark val="none"/>
        <c:tickLblPos val="nextTo"/>
        <c:txPr>
          <a:bodyPr/>
          <a:lstStyle/>
          <a:p>
            <a:pPr>
              <a:defRPr sz="16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200" b="0" i="0">
                <a:solidFill>
                  <a:schemeClr val="tx1"/>
                </a:solidFill>
                <a:latin typeface="Lucida Sans Unicode" panose="020B0602030504020204"/>
                <a:cs typeface="Lucida Sans Unicode" panose="020B0602030504020204"/>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4600" b="0" i="0">
                <a:solidFill>
                  <a:schemeClr val="tx1"/>
                </a:solidFill>
                <a:latin typeface="Arial Black" panose="020B0A04020102020204"/>
                <a:cs typeface="Arial Black" panose="020B0A040201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0" i="0">
                <a:solidFill>
                  <a:schemeClr val="tx1"/>
                </a:solidFill>
                <a:latin typeface="Lucida Sans Unicode" panose="020B0602030504020204"/>
                <a:cs typeface="Lucida Sans Unicode" panose="020B0602030504020204"/>
              </a:defRPr>
            </a:lvl1pPr>
          </a:lstStyle>
          <a:p>
            <a:endParaRPr/>
          </a:p>
        </p:txBody>
      </p:sp>
      <p:sp>
        <p:nvSpPr>
          <p:cNvPr id="3" name="Holder 3"/>
          <p:cNvSpPr>
            <a:spLocks noGrp="1"/>
          </p:cNvSpPr>
          <p:nvPr>
            <p:ph type="body" idx="1"/>
          </p:nvPr>
        </p:nvSpPr>
        <p:spPr/>
        <p:txBody>
          <a:bodyPr lIns="0" tIns="0" rIns="0" bIns="0"/>
          <a:lstStyle>
            <a:lvl1pPr>
              <a:defRPr sz="4600" b="0" i="0">
                <a:solidFill>
                  <a:schemeClr val="tx1"/>
                </a:solidFill>
                <a:latin typeface="Arial Black" panose="020B0A04020102020204"/>
                <a:cs typeface="Arial Black" panose="020B0A040201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03131" y="434747"/>
            <a:ext cx="4524521" cy="1211513"/>
          </a:xfrm>
          <a:prstGeom prst="rect">
            <a:avLst/>
          </a:prstGeom>
        </p:spPr>
      </p:pic>
      <p:sp>
        <p:nvSpPr>
          <p:cNvPr id="17" name="bg object 17"/>
          <p:cNvSpPr/>
          <p:nvPr/>
        </p:nvSpPr>
        <p:spPr>
          <a:xfrm>
            <a:off x="0" y="1719573"/>
            <a:ext cx="18288000" cy="0"/>
          </a:xfrm>
          <a:custGeom>
            <a:avLst/>
            <a:gdLst/>
            <a:ahLst/>
            <a:cxnLst/>
            <a:rect l="l" t="t" r="r" b="b"/>
            <a:pathLst>
              <a:path w="18288000">
                <a:moveTo>
                  <a:pt x="0" y="0"/>
                </a:moveTo>
                <a:lnTo>
                  <a:pt x="18287998" y="0"/>
                </a:lnTo>
              </a:path>
            </a:pathLst>
          </a:custGeom>
          <a:ln w="38099">
            <a:solidFill>
              <a:srgbClr val="000000"/>
            </a:solidFill>
          </a:ln>
        </p:spPr>
        <p:txBody>
          <a:bodyPr wrap="square" lIns="0" tIns="0" rIns="0" bIns="0" rtlCol="0"/>
          <a:lstStyle/>
          <a:p>
            <a:endParaRPr/>
          </a:p>
        </p:txBody>
      </p:sp>
      <p:sp>
        <p:nvSpPr>
          <p:cNvPr id="18" name="bg object 18"/>
          <p:cNvSpPr/>
          <p:nvPr/>
        </p:nvSpPr>
        <p:spPr>
          <a:xfrm>
            <a:off x="9143931" y="1719641"/>
            <a:ext cx="0" cy="8567420"/>
          </a:xfrm>
          <a:custGeom>
            <a:avLst/>
            <a:gdLst/>
            <a:ahLst/>
            <a:cxnLst/>
            <a:rect l="l" t="t" r="r" b="b"/>
            <a:pathLst>
              <a:path h="8567420">
                <a:moveTo>
                  <a:pt x="0" y="0"/>
                </a:moveTo>
                <a:lnTo>
                  <a:pt x="0" y="8567425"/>
                </a:lnTo>
              </a:path>
            </a:pathLst>
          </a:custGeom>
          <a:ln w="38099">
            <a:solidFill>
              <a:srgbClr val="000000"/>
            </a:solidFill>
          </a:ln>
        </p:spPr>
        <p:txBody>
          <a:bodyPr wrap="square" lIns="0" tIns="0" rIns="0" bIns="0" rtlCol="0"/>
          <a:lstStyle/>
          <a:p>
            <a:endParaRPr/>
          </a:p>
        </p:txBody>
      </p:sp>
      <p:pic>
        <p:nvPicPr>
          <p:cNvPr id="19" name="bg object 19"/>
          <p:cNvPicPr/>
          <p:nvPr/>
        </p:nvPicPr>
        <p:blipFill>
          <a:blip r:embed="rId3" cstate="print"/>
          <a:stretch>
            <a:fillRect/>
          </a:stretch>
        </p:blipFill>
        <p:spPr>
          <a:xfrm>
            <a:off x="9752096" y="3279484"/>
            <a:ext cx="111233" cy="111233"/>
          </a:xfrm>
          <a:prstGeom prst="rect">
            <a:avLst/>
          </a:prstGeom>
        </p:spPr>
      </p:pic>
      <p:pic>
        <p:nvPicPr>
          <p:cNvPr id="20" name="bg object 20"/>
          <p:cNvPicPr/>
          <p:nvPr/>
        </p:nvPicPr>
        <p:blipFill>
          <a:blip r:embed="rId4" cstate="print"/>
          <a:stretch>
            <a:fillRect/>
          </a:stretch>
        </p:blipFill>
        <p:spPr>
          <a:xfrm>
            <a:off x="9752096" y="4614288"/>
            <a:ext cx="111233" cy="111233"/>
          </a:xfrm>
          <a:prstGeom prst="rect">
            <a:avLst/>
          </a:prstGeom>
        </p:spPr>
      </p:pic>
      <p:pic>
        <p:nvPicPr>
          <p:cNvPr id="21" name="bg object 21"/>
          <p:cNvPicPr/>
          <p:nvPr/>
        </p:nvPicPr>
        <p:blipFill>
          <a:blip r:embed="rId4" cstate="print"/>
          <a:stretch>
            <a:fillRect/>
          </a:stretch>
        </p:blipFill>
        <p:spPr>
          <a:xfrm>
            <a:off x="9752096" y="5504158"/>
            <a:ext cx="111233" cy="111233"/>
          </a:xfrm>
          <a:prstGeom prst="rect">
            <a:avLst/>
          </a:prstGeom>
        </p:spPr>
      </p:pic>
      <p:pic>
        <p:nvPicPr>
          <p:cNvPr id="22" name="bg object 22"/>
          <p:cNvPicPr/>
          <p:nvPr/>
        </p:nvPicPr>
        <p:blipFill>
          <a:blip r:embed="rId3" cstate="print"/>
          <a:stretch>
            <a:fillRect/>
          </a:stretch>
        </p:blipFill>
        <p:spPr>
          <a:xfrm>
            <a:off x="9752096" y="6394027"/>
            <a:ext cx="111233" cy="111233"/>
          </a:xfrm>
          <a:prstGeom prst="rect">
            <a:avLst/>
          </a:prstGeom>
        </p:spPr>
      </p:pic>
      <p:pic>
        <p:nvPicPr>
          <p:cNvPr id="23" name="bg object 23"/>
          <p:cNvPicPr/>
          <p:nvPr/>
        </p:nvPicPr>
        <p:blipFill>
          <a:blip r:embed="rId5" cstate="print"/>
          <a:stretch>
            <a:fillRect/>
          </a:stretch>
        </p:blipFill>
        <p:spPr>
          <a:xfrm>
            <a:off x="9752096" y="7283896"/>
            <a:ext cx="111233" cy="111233"/>
          </a:xfrm>
          <a:prstGeom prst="rect">
            <a:avLst/>
          </a:prstGeom>
        </p:spPr>
      </p:pic>
      <p:sp>
        <p:nvSpPr>
          <p:cNvPr id="2" name="Holder 2"/>
          <p:cNvSpPr>
            <a:spLocks noGrp="1"/>
          </p:cNvSpPr>
          <p:nvPr>
            <p:ph type="title"/>
          </p:nvPr>
        </p:nvSpPr>
        <p:spPr/>
        <p:txBody>
          <a:bodyPr lIns="0" tIns="0" rIns="0" bIns="0"/>
          <a:lstStyle>
            <a:lvl1pPr>
              <a:defRPr sz="4200" b="0" i="0">
                <a:solidFill>
                  <a:schemeClr val="tx1"/>
                </a:solidFill>
                <a:latin typeface="Lucida Sans Unicode" panose="020B0602030504020204"/>
                <a:cs typeface="Lucida Sans Unicode" panose="020B0602030504020204"/>
              </a:defRPr>
            </a:lvl1pPr>
          </a:lstStyle>
          <a:p>
            <a:endParaRPr/>
          </a:p>
        </p:txBody>
      </p:sp>
      <p:sp>
        <p:nvSpPr>
          <p:cNvPr id="3" name="Holder 3"/>
          <p:cNvSpPr>
            <a:spLocks noGrp="1"/>
          </p:cNvSpPr>
          <p:nvPr>
            <p:ph sz="half" idx="2"/>
          </p:nvPr>
        </p:nvSpPr>
        <p:spPr>
          <a:xfrm>
            <a:off x="1304549" y="2199754"/>
            <a:ext cx="6941184" cy="6809740"/>
          </a:xfrm>
          <a:prstGeom prst="rect">
            <a:avLst/>
          </a:prstGeom>
        </p:spPr>
        <p:txBody>
          <a:bodyPr wrap="square" lIns="0" tIns="0" rIns="0" bIns="0">
            <a:spAutoFit/>
          </a:bodyPr>
          <a:lstStyle>
            <a:lvl1pPr>
              <a:defRPr sz="2800" b="0" i="0">
                <a:solidFill>
                  <a:schemeClr val="tx1"/>
                </a:solidFill>
                <a:latin typeface="Arial Black" panose="020B0A04020102020204"/>
                <a:cs typeface="Arial Black" panose="020B0A04020102020204"/>
              </a:defRPr>
            </a:lvl1pPr>
          </a:lstStyle>
          <a:p>
            <a:endParaRPr/>
          </a:p>
        </p:txBody>
      </p:sp>
      <p:sp>
        <p:nvSpPr>
          <p:cNvPr id="4" name="Holder 4"/>
          <p:cNvSpPr>
            <a:spLocks noGrp="1"/>
          </p:cNvSpPr>
          <p:nvPr>
            <p:ph sz="half" idx="3"/>
          </p:nvPr>
        </p:nvSpPr>
        <p:spPr>
          <a:xfrm>
            <a:off x="9768120" y="2200265"/>
            <a:ext cx="8112125" cy="5768340"/>
          </a:xfrm>
          <a:prstGeom prst="rect">
            <a:avLst/>
          </a:prstGeom>
        </p:spPr>
        <p:txBody>
          <a:bodyPr wrap="square" lIns="0" tIns="0" rIns="0" bIns="0">
            <a:spAutoFit/>
          </a:bodyPr>
          <a:lstStyle>
            <a:lvl1pPr>
              <a:defRPr sz="2800" b="0" i="0">
                <a:solidFill>
                  <a:schemeClr val="tx1"/>
                </a:solidFill>
                <a:latin typeface="Arial Black" panose="020B0A04020102020204"/>
                <a:cs typeface="Arial Black" panose="020B0A04020102020204"/>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0" i="0">
                <a:solidFill>
                  <a:schemeClr val="tx1"/>
                </a:solidFill>
                <a:latin typeface="Lucida Sans Unicode" panose="020B0602030504020204"/>
                <a:cs typeface="Lucida Sans Unicode" panose="020B0602030504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703131" y="434747"/>
            <a:ext cx="4524521" cy="1211513"/>
          </a:xfrm>
          <a:prstGeom prst="rect">
            <a:avLst/>
          </a:prstGeom>
        </p:spPr>
      </p:pic>
      <p:sp>
        <p:nvSpPr>
          <p:cNvPr id="17" name="bg object 17"/>
          <p:cNvSpPr/>
          <p:nvPr/>
        </p:nvSpPr>
        <p:spPr>
          <a:xfrm>
            <a:off x="0" y="1719573"/>
            <a:ext cx="18288000" cy="0"/>
          </a:xfrm>
          <a:custGeom>
            <a:avLst/>
            <a:gdLst/>
            <a:ahLst/>
            <a:cxnLst/>
            <a:rect l="l" t="t" r="r" b="b"/>
            <a:pathLst>
              <a:path w="18288000">
                <a:moveTo>
                  <a:pt x="0" y="0"/>
                </a:moveTo>
                <a:lnTo>
                  <a:pt x="18287998" y="0"/>
                </a:lnTo>
              </a:path>
            </a:pathLst>
          </a:custGeom>
          <a:ln w="38099">
            <a:solidFill>
              <a:srgbClr val="000000"/>
            </a:solidFill>
          </a:ln>
        </p:spPr>
        <p:txBody>
          <a:bodyPr wrap="square" lIns="0" tIns="0" rIns="0" bIns="0" rtlCol="0"/>
          <a:lstStyle/>
          <a:p>
            <a:endParaRPr/>
          </a:p>
        </p:txBody>
      </p:sp>
      <p:sp>
        <p:nvSpPr>
          <p:cNvPr id="2" name="Holder 2"/>
          <p:cNvSpPr>
            <a:spLocks noGrp="1"/>
          </p:cNvSpPr>
          <p:nvPr>
            <p:ph type="title"/>
          </p:nvPr>
        </p:nvSpPr>
        <p:spPr>
          <a:xfrm>
            <a:off x="10593192" y="676396"/>
            <a:ext cx="7290434" cy="666750"/>
          </a:xfrm>
          <a:prstGeom prst="rect">
            <a:avLst/>
          </a:prstGeom>
        </p:spPr>
        <p:txBody>
          <a:bodyPr wrap="square" lIns="0" tIns="0" rIns="0" bIns="0">
            <a:spAutoFit/>
          </a:bodyPr>
          <a:lstStyle>
            <a:lvl1pPr>
              <a:defRPr sz="4200" b="0" i="0">
                <a:solidFill>
                  <a:schemeClr val="tx1"/>
                </a:solidFill>
                <a:latin typeface="Lucida Sans Unicode" panose="020B0602030504020204"/>
                <a:cs typeface="Lucida Sans Unicode" panose="020B0602030504020204"/>
              </a:defRPr>
            </a:lvl1pPr>
          </a:lstStyle>
          <a:p>
            <a:endParaRPr/>
          </a:p>
        </p:txBody>
      </p:sp>
      <p:sp>
        <p:nvSpPr>
          <p:cNvPr id="3" name="Holder 3"/>
          <p:cNvSpPr>
            <a:spLocks noGrp="1"/>
          </p:cNvSpPr>
          <p:nvPr>
            <p:ph type="body" idx="1"/>
          </p:nvPr>
        </p:nvSpPr>
        <p:spPr>
          <a:xfrm>
            <a:off x="2537894" y="2194915"/>
            <a:ext cx="12417425" cy="4658995"/>
          </a:xfrm>
          <a:prstGeom prst="rect">
            <a:avLst/>
          </a:prstGeom>
        </p:spPr>
        <p:txBody>
          <a:bodyPr wrap="square" lIns="0" tIns="0" rIns="0" bIns="0">
            <a:spAutoFit/>
          </a:bodyPr>
          <a:lstStyle>
            <a:lvl1pPr>
              <a:defRPr sz="4600" b="0" i="0">
                <a:solidFill>
                  <a:schemeClr val="tx1"/>
                </a:solidFill>
                <a:latin typeface="Arial Black" panose="020B0A04020102020204"/>
                <a:cs typeface="Arial Black" panose="020B0A04020102020204"/>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Label"/>
          <p:cNvSpPr txBox="1"/>
          <p:nvPr/>
        </p:nvSpPr>
        <p:spPr>
          <a:xfrm>
            <a:off x="2560320" y="2651760"/>
            <a:ext cx="12801600" cy="640080"/>
          </a:xfrm>
          <a:prstGeom prst="rect">
            <a:avLst/>
          </a:prstGeom>
          <a:noFill/>
        </p:spPr>
        <p:txBody>
          <a:bodyPr wrap="square" anchor="t" lIns="45720" rIns="45720" tIns="27432" bIns="27432">
            <a:spAutoFit/>
          </a:bodyPr>
          <a:lstStyle/>
          <a:p>
            <a:pPr algn="l"/>
            <a:r>
              <a:rPr sz="3000" b="0" i="0">
                <a:solidFill>
                  <a:srgbClr val="666666"/>
                </a:solidFill>
                <a:latin typeface="Arial Black"/>
              </a:rPr>
              <a:t>Project Title</a:t>
            </a:r>
          </a:p>
        </p:txBody>
      </p:sp>
      <p:sp>
        <p:nvSpPr>
          <p:cNvPr id="4" name="Project title"/>
          <p:cNvSpPr txBox="1"/>
          <p:nvPr/>
        </p:nvSpPr>
        <p:spPr>
          <a:xfrm>
            <a:off x="2560320" y="3383280"/>
            <a:ext cx="13167360" cy="2377440"/>
          </a:xfrm>
          <a:prstGeom prst="rect">
            <a:avLst/>
          </a:prstGeom>
          <a:noFill/>
        </p:spPr>
        <p:txBody>
          <a:bodyPr wrap="square" anchor="t" lIns="45720" rIns="45720" tIns="27432" bIns="27432">
            <a:spAutoFit/>
          </a:bodyPr>
          <a:lstStyle/>
          <a:p>
            <a:pPr algn="l"/>
            <a:r>
              <a:rPr sz="5400" b="0" i="0">
                <a:solidFill>
                  <a:srgbClr val="B40347"/>
                </a:solidFill>
                <a:latin typeface="Arial Black"/>
              </a:rPr>
              <a:t>Dynamic Scene Graph Generation from Video</a:t>
            </a:r>
          </a:p>
        </p:txBody>
      </p:sp>
      <p:sp>
        <p:nvSpPr>
          <p:cNvPr id="5" name="Subtitle"/>
          <p:cNvSpPr txBox="1"/>
          <p:nvPr/>
        </p:nvSpPr>
        <p:spPr>
          <a:xfrm>
            <a:off x="2560320" y="5806440"/>
            <a:ext cx="12801600" cy="640080"/>
          </a:xfrm>
          <a:prstGeom prst="rect">
            <a:avLst/>
          </a:prstGeom>
          <a:noFill/>
        </p:spPr>
        <p:txBody>
          <a:bodyPr wrap="square" anchor="t" lIns="45720" rIns="45720" tIns="27432" bIns="27432">
            <a:spAutoFit/>
          </a:bodyPr>
          <a:lstStyle/>
          <a:p>
            <a:pPr algn="l"/>
            <a:r>
              <a:rPr sz="2800" b="0" i="0">
                <a:solidFill>
                  <a:srgbClr val="1F1F1F"/>
                </a:solidFill>
                <a:latin typeface="Arial"/>
              </a:rPr>
              <a:t>Using the VidOR dataset  |  Review 3</a:t>
            </a:r>
          </a:p>
        </p:txBody>
      </p:sp>
      <p:cxnSp>
        <p:nvCxnSpPr>
          <p:cNvPr id="6" name="Connector 5"/>
          <p:cNvCxnSpPr/>
          <p:nvPr/>
        </p:nvCxnSpPr>
        <p:spPr>
          <a:xfrm>
            <a:off x="4709159" y="7452360"/>
            <a:ext cx="2651760" cy="0"/>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sp>
        <p:nvSpPr>
          <p:cNvPr id="7" name="Edge label"/>
          <p:cNvSpPr txBox="1"/>
          <p:nvPr/>
        </p:nvSpPr>
        <p:spPr>
          <a:xfrm>
            <a:off x="5303520" y="6949440"/>
            <a:ext cx="1463040" cy="411480"/>
          </a:xfrm>
          <a:prstGeom prst="rect">
            <a:avLst/>
          </a:prstGeom>
          <a:noFill/>
        </p:spPr>
        <p:txBody>
          <a:bodyPr wrap="square" anchor="t" lIns="45720" rIns="45720" tIns="27432" bIns="27432">
            <a:spAutoFit/>
          </a:bodyPr>
          <a:lstStyle/>
          <a:p>
            <a:pPr algn="ctr"/>
            <a:r>
              <a:rPr sz="1800" b="0" i="1">
                <a:solidFill>
                  <a:srgbClr val="666666"/>
                </a:solidFill>
                <a:latin typeface="Arial"/>
              </a:rPr>
              <a:t>holds</a:t>
            </a:r>
          </a:p>
        </p:txBody>
      </p:sp>
      <p:cxnSp>
        <p:nvCxnSpPr>
          <p:cNvPr id="8" name="Connector 7"/>
          <p:cNvCxnSpPr/>
          <p:nvPr/>
        </p:nvCxnSpPr>
        <p:spPr>
          <a:xfrm>
            <a:off x="8366760" y="7452360"/>
            <a:ext cx="2651759" cy="0"/>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sp>
        <p:nvSpPr>
          <p:cNvPr id="9" name="Edge label"/>
          <p:cNvSpPr txBox="1"/>
          <p:nvPr/>
        </p:nvSpPr>
        <p:spPr>
          <a:xfrm>
            <a:off x="8961119" y="6949440"/>
            <a:ext cx="1463040" cy="411480"/>
          </a:xfrm>
          <a:prstGeom prst="rect">
            <a:avLst/>
          </a:prstGeom>
          <a:noFill/>
        </p:spPr>
        <p:txBody>
          <a:bodyPr wrap="square" anchor="t" lIns="45720" rIns="45720" tIns="27432" bIns="27432">
            <a:spAutoFit/>
          </a:bodyPr>
          <a:lstStyle/>
          <a:p>
            <a:pPr algn="ctr"/>
            <a:r>
              <a:rPr sz="1800" b="0" i="1">
                <a:solidFill>
                  <a:srgbClr val="666666"/>
                </a:solidFill>
                <a:latin typeface="Arial"/>
              </a:rPr>
              <a:t>on</a:t>
            </a:r>
          </a:p>
        </p:txBody>
      </p:sp>
      <p:cxnSp>
        <p:nvCxnSpPr>
          <p:cNvPr id="10" name="Connector 9"/>
          <p:cNvCxnSpPr/>
          <p:nvPr/>
        </p:nvCxnSpPr>
        <p:spPr>
          <a:xfrm>
            <a:off x="12024360" y="7452360"/>
            <a:ext cx="2285999" cy="0"/>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sp>
        <p:nvSpPr>
          <p:cNvPr id="11" name="Edge label"/>
          <p:cNvSpPr txBox="1"/>
          <p:nvPr/>
        </p:nvSpPr>
        <p:spPr>
          <a:xfrm>
            <a:off x="12435839" y="6949440"/>
            <a:ext cx="1463040" cy="411480"/>
          </a:xfrm>
          <a:prstGeom prst="rect">
            <a:avLst/>
          </a:prstGeom>
          <a:noFill/>
        </p:spPr>
        <p:txBody>
          <a:bodyPr wrap="square" anchor="t" lIns="45720" rIns="45720" tIns="27432" bIns="27432">
            <a:spAutoFit/>
          </a:bodyPr>
          <a:lstStyle/>
          <a:p>
            <a:pPr algn="ctr"/>
            <a:r>
              <a:rPr sz="1800" b="0" i="1">
                <a:solidFill>
                  <a:srgbClr val="666666"/>
                </a:solidFill>
                <a:latin typeface="Arial"/>
              </a:rPr>
              <a:t>beside</a:t>
            </a:r>
          </a:p>
        </p:txBody>
      </p:sp>
      <p:sp>
        <p:nvSpPr>
          <p:cNvPr id="12" name="Oval 11"/>
          <p:cNvSpPr/>
          <p:nvPr/>
        </p:nvSpPr>
        <p:spPr>
          <a:xfrm>
            <a:off x="3703320" y="6949440"/>
            <a:ext cx="1005840" cy="1005840"/>
          </a:xfrm>
          <a:prstGeom prst="ellipse">
            <a:avLst/>
          </a:prstGeom>
          <a:solidFill>
            <a:srgbClr val="FFFFFF"/>
          </a:solid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F1F1F"/>
                </a:solidFill>
                <a:latin typeface="Arial"/>
              </a:rPr>
              <a:t>adult</a:t>
            </a:r>
          </a:p>
        </p:txBody>
      </p:sp>
      <p:sp>
        <p:nvSpPr>
          <p:cNvPr id="13" name="Oval 12"/>
          <p:cNvSpPr/>
          <p:nvPr/>
        </p:nvSpPr>
        <p:spPr>
          <a:xfrm>
            <a:off x="7360919" y="6949440"/>
            <a:ext cx="1005840" cy="1005840"/>
          </a:xfrm>
          <a:prstGeom prst="ellipse">
            <a:avLst/>
          </a:prstGeom>
          <a:solidFill>
            <a:srgbClr val="FFFFFF"/>
          </a:solid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F1F1F"/>
                </a:solidFill>
                <a:latin typeface="Arial"/>
              </a:rPr>
              <a:t>baby</a:t>
            </a:r>
          </a:p>
        </p:txBody>
      </p:sp>
      <p:sp>
        <p:nvSpPr>
          <p:cNvPr id="14" name="Oval 13"/>
          <p:cNvSpPr/>
          <p:nvPr/>
        </p:nvSpPr>
        <p:spPr>
          <a:xfrm>
            <a:off x="11018519" y="6949440"/>
            <a:ext cx="1005840" cy="1005840"/>
          </a:xfrm>
          <a:prstGeom prst="ellipse">
            <a:avLst/>
          </a:prstGeom>
          <a:solidFill>
            <a:srgbClr val="FFFFFF"/>
          </a:solid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F1F1F"/>
                </a:solidFill>
                <a:latin typeface="Arial"/>
              </a:rPr>
              <a:t>table</a:t>
            </a:r>
          </a:p>
        </p:txBody>
      </p:sp>
      <p:sp>
        <p:nvSpPr>
          <p:cNvPr id="15" name="Oval 14"/>
          <p:cNvSpPr/>
          <p:nvPr/>
        </p:nvSpPr>
        <p:spPr>
          <a:xfrm>
            <a:off x="14310359" y="6949440"/>
            <a:ext cx="1005840" cy="1005840"/>
          </a:xfrm>
          <a:prstGeom prst="ellipse">
            <a:avLst/>
          </a:prstGeom>
          <a:solidFill>
            <a:srgbClr val="FFFFFF"/>
          </a:solid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F1F1F"/>
                </a:solidFill>
                <a:latin typeface="Arial"/>
              </a:rPr>
              <a:t>toy</a:t>
            </a:r>
          </a:p>
        </p:txBody>
      </p:sp>
      <p:sp>
        <p:nvSpPr>
          <p:cNvPr id="16" name="Rounded Rectangle 15"/>
          <p:cNvSpPr/>
          <p:nvPr/>
        </p:nvSpPr>
        <p:spPr>
          <a:xfrm>
            <a:off x="5120640" y="8641080"/>
            <a:ext cx="8046720" cy="731520"/>
          </a:xfrm>
          <a:prstGeom prst="roundRect">
            <a:avLst>
              <a:gd name="adj" fmla="val 50000"/>
            </a:avLst>
          </a:prstGeom>
          <a:noFill/>
          <a:ln w="3175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B40347"/>
                </a:solidFill>
                <a:latin typeface="Arial"/>
              </a:rPr>
              <a:t>VidOR parts 1-8 trained  |  78-class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What is Dynamic Scene Graph Generation?</a:t>
            </a:r>
          </a:p>
        </p:txBody>
      </p:sp>
      <p:sp>
        <p:nvSpPr>
          <p:cNvPr id="4" name="Bullets"/>
          <p:cNvSpPr txBox="1"/>
          <p:nvPr/>
        </p:nvSpPr>
        <p:spPr>
          <a:xfrm>
            <a:off x="731520" y="2834640"/>
            <a:ext cx="8046720" cy="6035040"/>
          </a:xfrm>
          <a:prstGeom prst="rect">
            <a:avLst/>
          </a:prstGeom>
          <a:noFill/>
        </p:spPr>
        <p:txBody>
          <a:bodyPr wrap="square" lIns="45720" rIns="45720">
            <a:spAutoFit/>
          </a:bodyPr>
          <a:lstStyle/>
          <a:p>
            <a:pPr marL="347472" indent="-347472">
              <a:spcAft>
                <a:spcPts val="1600"/>
              </a:spcAft>
              <a:buClr>
                <a:srgbClr val="B40347"/>
              </a:buClr>
              <a:buChar char="•"/>
            </a:pPr>
            <a:r>
              <a:rPr sz="2600" b="0" i="0">
                <a:solidFill>
                  <a:srgbClr val="1F1F1F"/>
                </a:solidFill>
                <a:latin typeface="Arial"/>
              </a:rPr>
              <a:t>A scene graph describes a scene as objects (nodes) and relations (edges).</a:t>
            </a:r>
          </a:p>
          <a:p>
            <a:pPr marL="347472" indent="-347472">
              <a:spcAft>
                <a:spcPts val="1600"/>
              </a:spcAft>
              <a:buClr>
                <a:srgbClr val="B40347"/>
              </a:buClr>
              <a:buChar char="•"/>
            </a:pPr>
            <a:r>
              <a:rPr sz="2600" b="0" i="0">
                <a:solidFill>
                  <a:srgbClr val="1F1F1F"/>
                </a:solidFill>
                <a:latin typeface="Arial"/>
              </a:rPr>
              <a:t>For video, the graph must follow each object through time.</a:t>
            </a:r>
          </a:p>
          <a:p>
            <a:pPr marL="347472" indent="-347472">
              <a:spcAft>
                <a:spcPts val="1600"/>
              </a:spcAft>
              <a:buClr>
                <a:srgbClr val="B40347"/>
              </a:buClr>
              <a:buChar char="•"/>
            </a:pPr>
            <a:r>
              <a:rPr sz="2600" b="0" i="0">
                <a:solidFill>
                  <a:srgbClr val="1F1F1F"/>
                </a:solidFill>
                <a:latin typeface="Arial"/>
              </a:rPr>
              <a:t>Output for every frame: &lt;subject, relation, object&gt; triplets.</a:t>
            </a:r>
          </a:p>
          <a:p>
            <a:pPr marL="347472" indent="-347472">
              <a:spcAft>
                <a:spcPts val="1600"/>
              </a:spcAft>
              <a:buClr>
                <a:srgbClr val="B40347"/>
              </a:buClr>
              <a:buChar char="•"/>
            </a:pPr>
            <a:r>
              <a:rPr sz="2600" b="0" i="0">
                <a:solidFill>
                  <a:srgbClr val="1F1F1F"/>
                </a:solidFill>
                <a:latin typeface="Arial"/>
              </a:rPr>
              <a:t>Built on VidOR with a YOLOv8s detector, tracking and relation prediction.</a:t>
            </a:r>
          </a:p>
        </p:txBody>
      </p:sp>
      <p:pic>
        <p:nvPicPr>
          <p:cNvPr id="5" name="Picture 4" descr="val_batch1_pred.jpg"/>
          <p:cNvPicPr>
            <a:picLocks noChangeAspect="1"/>
          </p:cNvPicPr>
          <p:nvPr/>
        </p:nvPicPr>
        <p:blipFill>
          <a:blip r:embed="rId2"/>
          <a:stretch>
            <a:fillRect/>
          </a:stretch>
        </p:blipFill>
        <p:spPr>
          <a:xfrm>
            <a:off x="9326880" y="2743200"/>
            <a:ext cx="8229600" cy="4714875"/>
          </a:xfrm>
          <a:prstGeom prst="rect">
            <a:avLst/>
          </a:prstGeom>
        </p:spPr>
      </p:pic>
      <p:sp>
        <p:nvSpPr>
          <p:cNvPr id="6" name="Caption"/>
          <p:cNvSpPr txBox="1"/>
          <p:nvPr/>
        </p:nvSpPr>
        <p:spPr>
          <a:xfrm>
            <a:off x="9326880" y="7498079"/>
            <a:ext cx="8229600" cy="457200"/>
          </a:xfrm>
          <a:prstGeom prst="rect">
            <a:avLst/>
          </a:prstGeom>
          <a:noFill/>
        </p:spPr>
        <p:txBody>
          <a:bodyPr wrap="square" anchor="t" lIns="45720" rIns="45720" tIns="27432" bIns="27432">
            <a:spAutoFit/>
          </a:bodyPr>
          <a:lstStyle/>
          <a:p>
            <a:pPr algn="l"/>
            <a:r>
              <a:rPr sz="1700" b="0" i="1">
                <a:solidFill>
                  <a:srgbClr val="666666"/>
                </a:solidFill>
                <a:latin typeface="Arial"/>
              </a:rPr>
              <a:t>Real validation frames with detector output (run 3)</a:t>
            </a:r>
          </a:p>
        </p:txBody>
      </p:sp>
      <p:sp>
        <p:nvSpPr>
          <p:cNvPr id="7" name="Rounded Rectangle 6"/>
          <p:cNvSpPr/>
          <p:nvPr/>
        </p:nvSpPr>
        <p:spPr>
          <a:xfrm>
            <a:off x="9326880" y="8183879"/>
            <a:ext cx="2651760" cy="82296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F1F1F"/>
                </a:solidFill>
                <a:latin typeface="Arial"/>
              </a:rPr>
              <a:t>adult - holds - baby</a:t>
            </a:r>
          </a:p>
        </p:txBody>
      </p:sp>
      <p:sp>
        <p:nvSpPr>
          <p:cNvPr id="8" name="Rounded Rectangle 7"/>
          <p:cNvSpPr/>
          <p:nvPr/>
        </p:nvSpPr>
        <p:spPr>
          <a:xfrm>
            <a:off x="12115800" y="8183879"/>
            <a:ext cx="2651760" cy="82296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F1F1F"/>
                </a:solidFill>
                <a:latin typeface="Arial"/>
              </a:rPr>
              <a:t>baby - looks at - adult</a:t>
            </a:r>
          </a:p>
        </p:txBody>
      </p:sp>
      <p:sp>
        <p:nvSpPr>
          <p:cNvPr id="9" name="Rounded Rectangle 8"/>
          <p:cNvSpPr/>
          <p:nvPr/>
        </p:nvSpPr>
        <p:spPr>
          <a:xfrm>
            <a:off x="14904719" y="8183879"/>
            <a:ext cx="2651760" cy="82296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F1F1F"/>
                </a:solidFill>
                <a:latin typeface="Arial"/>
              </a:rPr>
              <a:t>adult - next to - baby</a:t>
            </a:r>
          </a:p>
        </p:txBody>
      </p:sp>
      <p:sp>
        <p:nvSpPr>
          <p:cNvPr id="10" name="Caption"/>
          <p:cNvSpPr txBox="1"/>
          <p:nvPr/>
        </p:nvSpPr>
        <p:spPr>
          <a:xfrm>
            <a:off x="9326880" y="9098280"/>
            <a:ext cx="8229600" cy="411480"/>
          </a:xfrm>
          <a:prstGeom prst="rect">
            <a:avLst/>
          </a:prstGeom>
          <a:noFill/>
        </p:spPr>
        <p:txBody>
          <a:bodyPr wrap="square" anchor="t" lIns="45720" rIns="45720" tIns="27432" bIns="27432">
            <a:spAutoFit/>
          </a:bodyPr>
          <a:lstStyle/>
          <a:p>
            <a:pPr algn="l"/>
            <a:r>
              <a:rPr sz="1600" b="0" i="1">
                <a:solidFill>
                  <a:srgbClr val="666666"/>
                </a:solidFill>
                <a:latin typeface="Arial"/>
              </a:rPr>
              <a:t>Example triplets (illustrative)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Block heading"/>
          <p:cNvSpPr txBox="1"/>
          <p:nvPr/>
        </p:nvSpPr>
        <p:spPr>
          <a:xfrm>
            <a:off x="731520" y="2011680"/>
            <a:ext cx="10058400" cy="548640"/>
          </a:xfrm>
          <a:prstGeom prst="rect">
            <a:avLst/>
          </a:prstGeom>
          <a:noFill/>
        </p:spPr>
        <p:txBody>
          <a:bodyPr wrap="square" anchor="t" lIns="45720" rIns="45720" tIns="27432" bIns="27432">
            <a:spAutoFit/>
          </a:bodyPr>
          <a:lstStyle/>
          <a:p>
            <a:pPr algn="l"/>
            <a:r>
              <a:rPr sz="2800" b="0" i="0">
                <a:solidFill>
                  <a:srgbClr val="B40347"/>
                </a:solidFill>
                <a:latin typeface="Arial Black"/>
              </a:rPr>
              <a:t>Objective</a:t>
            </a:r>
          </a:p>
        </p:txBody>
      </p:sp>
      <p:sp>
        <p:nvSpPr>
          <p:cNvPr id="4" name="Block text"/>
          <p:cNvSpPr txBox="1"/>
          <p:nvPr/>
        </p:nvSpPr>
        <p:spPr>
          <a:xfrm>
            <a:off x="731520" y="2606040"/>
            <a:ext cx="10241280" cy="1371600"/>
          </a:xfrm>
          <a:prstGeom prst="rect">
            <a:avLst/>
          </a:prstGeom>
          <a:noFill/>
        </p:spPr>
        <p:txBody>
          <a:bodyPr wrap="square" anchor="t" lIns="45720" rIns="45720" tIns="27432" bIns="27432">
            <a:spAutoFit/>
          </a:bodyPr>
          <a:lstStyle/>
          <a:p>
            <a:pPr algn="l"/>
            <a:r>
              <a:rPr sz="2400" b="0" i="0">
                <a:solidFill>
                  <a:srgbClr val="1F1F1F"/>
                </a:solidFill>
                <a:latin typeface="Arial"/>
              </a:rPr>
              <a:t>Generate a dynamic scene graph for video: detect objects, track them across frames and predict how they relate over time.</a:t>
            </a:r>
          </a:p>
        </p:txBody>
      </p:sp>
      <p:sp>
        <p:nvSpPr>
          <p:cNvPr id="5" name="Block heading"/>
          <p:cNvSpPr txBox="1"/>
          <p:nvPr/>
        </p:nvSpPr>
        <p:spPr>
          <a:xfrm>
            <a:off x="731520" y="4434840"/>
            <a:ext cx="10058400" cy="548640"/>
          </a:xfrm>
          <a:prstGeom prst="rect">
            <a:avLst/>
          </a:prstGeom>
          <a:noFill/>
        </p:spPr>
        <p:txBody>
          <a:bodyPr wrap="square" anchor="t" lIns="45720" rIns="45720" tIns="27432" bIns="27432">
            <a:spAutoFit/>
          </a:bodyPr>
          <a:lstStyle/>
          <a:p>
            <a:pPr algn="l"/>
            <a:r>
              <a:rPr sz="2800" b="0" i="0">
                <a:solidFill>
                  <a:srgbClr val="B40347"/>
                </a:solidFill>
                <a:latin typeface="Arial Black"/>
              </a:rPr>
              <a:t>Problem Addressed</a:t>
            </a:r>
          </a:p>
        </p:txBody>
      </p:sp>
      <p:sp>
        <p:nvSpPr>
          <p:cNvPr id="6" name="Block text"/>
          <p:cNvSpPr txBox="1"/>
          <p:nvPr/>
        </p:nvSpPr>
        <p:spPr>
          <a:xfrm>
            <a:off x="731520" y="5029200"/>
            <a:ext cx="10241280" cy="1371600"/>
          </a:xfrm>
          <a:prstGeom prst="rect">
            <a:avLst/>
          </a:prstGeom>
          <a:noFill/>
        </p:spPr>
        <p:txBody>
          <a:bodyPr wrap="square" anchor="t" lIns="45720" rIns="45720" tIns="27432" bIns="27432">
            <a:spAutoFit/>
          </a:bodyPr>
          <a:lstStyle/>
          <a:p>
            <a:pPr algn="l"/>
            <a:r>
              <a:rPr sz="2400" b="0" i="0">
                <a:solidFill>
                  <a:srgbClr val="1F1F1F"/>
                </a:solidFill>
                <a:latin typeface="Arial"/>
              </a:rPr>
              <a:t>Per-frame scene graphs have no identity across frames, so relations flicker and temporal context is lost.</a:t>
            </a:r>
          </a:p>
        </p:txBody>
      </p:sp>
      <p:sp>
        <p:nvSpPr>
          <p:cNvPr id="7" name="Block heading"/>
          <p:cNvSpPr txBox="1"/>
          <p:nvPr/>
        </p:nvSpPr>
        <p:spPr>
          <a:xfrm>
            <a:off x="731520" y="6858000"/>
            <a:ext cx="10058400" cy="548640"/>
          </a:xfrm>
          <a:prstGeom prst="rect">
            <a:avLst/>
          </a:prstGeom>
          <a:noFill/>
        </p:spPr>
        <p:txBody>
          <a:bodyPr wrap="square" anchor="t" lIns="45720" rIns="45720" tIns="27432" bIns="27432">
            <a:spAutoFit/>
          </a:bodyPr>
          <a:lstStyle/>
          <a:p>
            <a:pPr algn="l"/>
            <a:r>
              <a:rPr sz="2800" b="0" i="0">
                <a:solidFill>
                  <a:srgbClr val="B40347"/>
                </a:solidFill>
                <a:latin typeface="Arial Black"/>
              </a:rPr>
              <a:t>Approach</a:t>
            </a:r>
          </a:p>
        </p:txBody>
      </p:sp>
      <p:sp>
        <p:nvSpPr>
          <p:cNvPr id="8" name="Block text"/>
          <p:cNvSpPr txBox="1"/>
          <p:nvPr/>
        </p:nvSpPr>
        <p:spPr>
          <a:xfrm>
            <a:off x="731520" y="7452360"/>
            <a:ext cx="10241280" cy="1554479"/>
          </a:xfrm>
          <a:prstGeom prst="rect">
            <a:avLst/>
          </a:prstGeom>
          <a:noFill/>
        </p:spPr>
        <p:txBody>
          <a:bodyPr wrap="square" anchor="t" lIns="45720" rIns="45720" tIns="27432" bIns="27432">
            <a:spAutoFit/>
          </a:bodyPr>
          <a:lstStyle/>
          <a:p>
            <a:pPr algn="l"/>
            <a:r>
              <a:rPr sz="2400" b="0" i="0">
                <a:solidFill>
                  <a:srgbClr val="1F1F1F"/>
                </a:solidFill>
                <a:latin typeface="Arial"/>
              </a:rPr>
              <a:t>Detect with YOLOv8s, link boxes into tracks, build one graph per frame, connect graphs over time and predict relation labels.</a:t>
            </a:r>
          </a:p>
        </p:txBody>
      </p:sp>
      <p:sp>
        <p:nvSpPr>
          <p:cNvPr id="9" name="Rounded Rectangle 8"/>
          <p:cNvSpPr/>
          <p:nvPr/>
        </p:nvSpPr>
        <p:spPr>
          <a:xfrm>
            <a:off x="11704320" y="2103120"/>
            <a:ext cx="5852160" cy="7498079"/>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title"/>
          <p:cNvSpPr txBox="1"/>
          <p:nvPr/>
        </p:nvSpPr>
        <p:spPr>
          <a:xfrm>
            <a:off x="11887200" y="2240280"/>
            <a:ext cx="5486400" cy="548640"/>
          </a:xfrm>
          <a:prstGeom prst="rect">
            <a:avLst/>
          </a:prstGeom>
          <a:noFill/>
        </p:spPr>
        <p:txBody>
          <a:bodyPr wrap="square" anchor="t" lIns="45720" rIns="45720" tIns="27432" bIns="27432">
            <a:spAutoFit/>
          </a:bodyPr>
          <a:lstStyle/>
          <a:p>
            <a:pPr algn="l"/>
            <a:r>
              <a:rPr sz="2200" b="1" i="0">
                <a:solidFill>
                  <a:srgbClr val="1F1F1F"/>
                </a:solidFill>
                <a:latin typeface="Arial"/>
              </a:rPr>
              <a:t>Relations as intervals</a:t>
            </a:r>
          </a:p>
        </p:txBody>
      </p:sp>
      <p:sp>
        <p:nvSpPr>
          <p:cNvPr id="11" name="tick"/>
          <p:cNvSpPr txBox="1"/>
          <p:nvPr/>
        </p:nvSpPr>
        <p:spPr>
          <a:xfrm>
            <a:off x="13350240" y="2926080"/>
            <a:ext cx="548640" cy="365760"/>
          </a:xfrm>
          <a:prstGeom prst="rect">
            <a:avLst/>
          </a:prstGeom>
          <a:noFill/>
        </p:spPr>
        <p:txBody>
          <a:bodyPr wrap="square" anchor="t" lIns="45720" rIns="45720" tIns="27432" bIns="27432">
            <a:spAutoFit/>
          </a:bodyPr>
          <a:lstStyle/>
          <a:p>
            <a:pPr algn="ctr"/>
            <a:r>
              <a:rPr sz="1500" b="0" i="0">
                <a:solidFill>
                  <a:srgbClr val="666666"/>
                </a:solidFill>
                <a:latin typeface="Arial"/>
              </a:rPr>
              <a:t>t0</a:t>
            </a:r>
          </a:p>
        </p:txBody>
      </p:sp>
      <p:cxnSp>
        <p:nvCxnSpPr>
          <p:cNvPr id="12" name="Connector 11"/>
          <p:cNvCxnSpPr/>
          <p:nvPr/>
        </p:nvCxnSpPr>
        <p:spPr>
          <a:xfrm>
            <a:off x="13624560" y="3337560"/>
            <a:ext cx="0" cy="4892040"/>
          </a:xfrm>
          <a:prstGeom prst="line">
            <a:avLst/>
          </a:prstGeom>
          <a:ln w="15875">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13" name="tick"/>
          <p:cNvSpPr txBox="1"/>
          <p:nvPr/>
        </p:nvSpPr>
        <p:spPr>
          <a:xfrm>
            <a:off x="14127480" y="2926080"/>
            <a:ext cx="548640" cy="365760"/>
          </a:xfrm>
          <a:prstGeom prst="rect">
            <a:avLst/>
          </a:prstGeom>
          <a:noFill/>
        </p:spPr>
        <p:txBody>
          <a:bodyPr wrap="square" anchor="t" lIns="45720" rIns="45720" tIns="27432" bIns="27432">
            <a:spAutoFit/>
          </a:bodyPr>
          <a:lstStyle/>
          <a:p>
            <a:pPr algn="ctr"/>
            <a:r>
              <a:rPr sz="1500" b="0" i="0">
                <a:solidFill>
                  <a:srgbClr val="666666"/>
                </a:solidFill>
                <a:latin typeface="Arial"/>
              </a:rPr>
              <a:t>t1</a:t>
            </a:r>
          </a:p>
        </p:txBody>
      </p:sp>
      <p:cxnSp>
        <p:nvCxnSpPr>
          <p:cNvPr id="14" name="Connector 13"/>
          <p:cNvCxnSpPr/>
          <p:nvPr/>
        </p:nvCxnSpPr>
        <p:spPr>
          <a:xfrm>
            <a:off x="14401800" y="3337560"/>
            <a:ext cx="0" cy="4892040"/>
          </a:xfrm>
          <a:prstGeom prst="line">
            <a:avLst/>
          </a:prstGeom>
          <a:ln w="15875">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15" name="tick"/>
          <p:cNvSpPr txBox="1"/>
          <p:nvPr/>
        </p:nvSpPr>
        <p:spPr>
          <a:xfrm>
            <a:off x="14904720" y="2926080"/>
            <a:ext cx="548640" cy="365760"/>
          </a:xfrm>
          <a:prstGeom prst="rect">
            <a:avLst/>
          </a:prstGeom>
          <a:noFill/>
        </p:spPr>
        <p:txBody>
          <a:bodyPr wrap="square" anchor="t" lIns="45720" rIns="45720" tIns="27432" bIns="27432">
            <a:spAutoFit/>
          </a:bodyPr>
          <a:lstStyle/>
          <a:p>
            <a:pPr algn="ctr"/>
            <a:r>
              <a:rPr sz="1500" b="0" i="0">
                <a:solidFill>
                  <a:srgbClr val="666666"/>
                </a:solidFill>
                <a:latin typeface="Arial"/>
              </a:rPr>
              <a:t>t2</a:t>
            </a:r>
          </a:p>
        </p:txBody>
      </p:sp>
      <p:cxnSp>
        <p:nvCxnSpPr>
          <p:cNvPr id="16" name="Connector 15"/>
          <p:cNvCxnSpPr/>
          <p:nvPr/>
        </p:nvCxnSpPr>
        <p:spPr>
          <a:xfrm>
            <a:off x="15179040" y="3337560"/>
            <a:ext cx="0" cy="4892040"/>
          </a:xfrm>
          <a:prstGeom prst="line">
            <a:avLst/>
          </a:prstGeom>
          <a:ln w="15875">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17" name="tick"/>
          <p:cNvSpPr txBox="1"/>
          <p:nvPr/>
        </p:nvSpPr>
        <p:spPr>
          <a:xfrm>
            <a:off x="15681959" y="2926080"/>
            <a:ext cx="548640" cy="365760"/>
          </a:xfrm>
          <a:prstGeom prst="rect">
            <a:avLst/>
          </a:prstGeom>
          <a:noFill/>
        </p:spPr>
        <p:txBody>
          <a:bodyPr wrap="square" anchor="t" lIns="45720" rIns="45720" tIns="27432" bIns="27432">
            <a:spAutoFit/>
          </a:bodyPr>
          <a:lstStyle/>
          <a:p>
            <a:pPr algn="ctr"/>
            <a:r>
              <a:rPr sz="1500" b="0" i="0">
                <a:solidFill>
                  <a:srgbClr val="666666"/>
                </a:solidFill>
                <a:latin typeface="Arial"/>
              </a:rPr>
              <a:t>t3</a:t>
            </a:r>
          </a:p>
        </p:txBody>
      </p:sp>
      <p:cxnSp>
        <p:nvCxnSpPr>
          <p:cNvPr id="18" name="Connector 17"/>
          <p:cNvCxnSpPr/>
          <p:nvPr/>
        </p:nvCxnSpPr>
        <p:spPr>
          <a:xfrm>
            <a:off x="15956280" y="3337560"/>
            <a:ext cx="0" cy="4892040"/>
          </a:xfrm>
          <a:prstGeom prst="line">
            <a:avLst/>
          </a:prstGeom>
          <a:ln w="15875">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19" name="tick"/>
          <p:cNvSpPr txBox="1"/>
          <p:nvPr/>
        </p:nvSpPr>
        <p:spPr>
          <a:xfrm>
            <a:off x="16459200" y="2926080"/>
            <a:ext cx="548640" cy="365760"/>
          </a:xfrm>
          <a:prstGeom prst="rect">
            <a:avLst/>
          </a:prstGeom>
          <a:noFill/>
        </p:spPr>
        <p:txBody>
          <a:bodyPr wrap="square" anchor="t" lIns="45720" rIns="45720" tIns="27432" bIns="27432">
            <a:spAutoFit/>
          </a:bodyPr>
          <a:lstStyle/>
          <a:p>
            <a:pPr algn="ctr"/>
            <a:r>
              <a:rPr sz="1500" b="0" i="0">
                <a:solidFill>
                  <a:srgbClr val="666666"/>
                </a:solidFill>
                <a:latin typeface="Arial"/>
              </a:rPr>
              <a:t>t4</a:t>
            </a:r>
          </a:p>
        </p:txBody>
      </p:sp>
      <p:cxnSp>
        <p:nvCxnSpPr>
          <p:cNvPr id="20" name="Connector 19"/>
          <p:cNvCxnSpPr/>
          <p:nvPr/>
        </p:nvCxnSpPr>
        <p:spPr>
          <a:xfrm>
            <a:off x="16733520" y="3337560"/>
            <a:ext cx="0" cy="4892040"/>
          </a:xfrm>
          <a:prstGeom prst="line">
            <a:avLst/>
          </a:prstGeom>
          <a:ln w="15875">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21" name="Row label"/>
          <p:cNvSpPr txBox="1"/>
          <p:nvPr/>
        </p:nvSpPr>
        <p:spPr>
          <a:xfrm>
            <a:off x="11887200" y="3200400"/>
            <a:ext cx="5394960" cy="411480"/>
          </a:xfrm>
          <a:prstGeom prst="rect">
            <a:avLst/>
          </a:prstGeom>
          <a:noFill/>
        </p:spPr>
        <p:txBody>
          <a:bodyPr wrap="square" anchor="t" lIns="45720" rIns="45720" tIns="27432" bIns="27432">
            <a:spAutoFit/>
          </a:bodyPr>
          <a:lstStyle/>
          <a:p>
            <a:pPr algn="l"/>
            <a:r>
              <a:rPr sz="1700" b="0" i="0">
                <a:solidFill>
                  <a:srgbClr val="1F1F1F"/>
                </a:solidFill>
                <a:latin typeface="Arial"/>
              </a:rPr>
              <a:t>adult - holds - baby</a:t>
            </a:r>
          </a:p>
        </p:txBody>
      </p:sp>
      <p:sp>
        <p:nvSpPr>
          <p:cNvPr id="22" name="Rounded Rectangle 21"/>
          <p:cNvSpPr/>
          <p:nvPr/>
        </p:nvSpPr>
        <p:spPr>
          <a:xfrm>
            <a:off x="14401800" y="3657600"/>
            <a:ext cx="2331720" cy="457200"/>
          </a:xfrm>
          <a:prstGeom prst="roundRect">
            <a:avLst>
              <a:gd name="adj" fmla="val 50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w label"/>
          <p:cNvSpPr txBox="1"/>
          <p:nvPr/>
        </p:nvSpPr>
        <p:spPr>
          <a:xfrm>
            <a:off x="11887200" y="4800600"/>
            <a:ext cx="5394960" cy="411480"/>
          </a:xfrm>
          <a:prstGeom prst="rect">
            <a:avLst/>
          </a:prstGeom>
          <a:noFill/>
        </p:spPr>
        <p:txBody>
          <a:bodyPr wrap="square" anchor="t" lIns="45720" rIns="45720" tIns="27432" bIns="27432">
            <a:spAutoFit/>
          </a:bodyPr>
          <a:lstStyle/>
          <a:p>
            <a:pPr algn="l"/>
            <a:r>
              <a:rPr sz="1700" b="0" i="0">
                <a:solidFill>
                  <a:srgbClr val="1F1F1F"/>
                </a:solidFill>
                <a:latin typeface="Arial"/>
              </a:rPr>
              <a:t>baby - near - adult</a:t>
            </a:r>
          </a:p>
        </p:txBody>
      </p:sp>
      <p:sp>
        <p:nvSpPr>
          <p:cNvPr id="24" name="Rounded Rectangle 23"/>
          <p:cNvSpPr/>
          <p:nvPr/>
        </p:nvSpPr>
        <p:spPr>
          <a:xfrm>
            <a:off x="13624560" y="5257800"/>
            <a:ext cx="2331720" cy="457200"/>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w label"/>
          <p:cNvSpPr txBox="1"/>
          <p:nvPr/>
        </p:nvSpPr>
        <p:spPr>
          <a:xfrm>
            <a:off x="11887200" y="6400800"/>
            <a:ext cx="5394960" cy="411480"/>
          </a:xfrm>
          <a:prstGeom prst="rect">
            <a:avLst/>
          </a:prstGeom>
          <a:noFill/>
        </p:spPr>
        <p:txBody>
          <a:bodyPr wrap="square" anchor="t" lIns="45720" rIns="45720" tIns="27432" bIns="27432">
            <a:spAutoFit/>
          </a:bodyPr>
          <a:lstStyle/>
          <a:p>
            <a:pPr algn="l"/>
            <a:r>
              <a:rPr sz="1700" b="0" i="0">
                <a:solidFill>
                  <a:srgbClr val="1F1F1F"/>
                </a:solidFill>
                <a:latin typeface="Arial"/>
              </a:rPr>
              <a:t>baby - looks at - toy</a:t>
            </a:r>
          </a:p>
        </p:txBody>
      </p:sp>
      <p:sp>
        <p:nvSpPr>
          <p:cNvPr id="26" name="Rounded Rectangle 25"/>
          <p:cNvSpPr/>
          <p:nvPr/>
        </p:nvSpPr>
        <p:spPr>
          <a:xfrm>
            <a:off x="15179040" y="6858000"/>
            <a:ext cx="1554480" cy="457200"/>
          </a:xfrm>
          <a:prstGeom prst="roundRect">
            <a:avLst>
              <a:gd name="adj" fmla="val 50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aption"/>
          <p:cNvSpPr txBox="1"/>
          <p:nvPr/>
        </p:nvSpPr>
        <p:spPr>
          <a:xfrm>
            <a:off x="11887200" y="8549640"/>
            <a:ext cx="5486400" cy="822960"/>
          </a:xfrm>
          <a:prstGeom prst="rect">
            <a:avLst/>
          </a:prstGeom>
          <a:noFill/>
        </p:spPr>
        <p:txBody>
          <a:bodyPr wrap="square" anchor="t" lIns="45720" rIns="45720" tIns="27432" bIns="27432">
            <a:spAutoFit/>
          </a:bodyPr>
          <a:lstStyle/>
          <a:p>
            <a:pPr algn="l"/>
            <a:r>
              <a:rPr sz="1600" b="0" i="1">
                <a:solidFill>
                  <a:srgbClr val="666666"/>
                </a:solidFill>
                <a:latin typeface="Arial"/>
              </a:rPr>
              <a:t>Bars show how long each relation holds across frames.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Dataset Identification</a:t>
            </a:r>
          </a:p>
        </p:txBody>
      </p:sp>
      <p:sp>
        <p:nvSpPr>
          <p:cNvPr id="4" name="Sub"/>
          <p:cNvSpPr txBox="1"/>
          <p:nvPr/>
        </p:nvSpPr>
        <p:spPr>
          <a:xfrm>
            <a:off x="731520" y="2743200"/>
            <a:ext cx="8229600" cy="457200"/>
          </a:xfrm>
          <a:prstGeom prst="rect">
            <a:avLst/>
          </a:prstGeom>
          <a:noFill/>
        </p:spPr>
        <p:txBody>
          <a:bodyPr wrap="square" anchor="t" lIns="45720" rIns="45720" tIns="27432" bIns="27432">
            <a:spAutoFit/>
          </a:bodyPr>
          <a:lstStyle/>
          <a:p>
            <a:pPr algn="l"/>
            <a:r>
              <a:rPr sz="2200" b="1" i="0">
                <a:solidFill>
                  <a:srgbClr val="1F1F1F"/>
                </a:solidFill>
                <a:latin typeface="Arial"/>
              </a:rPr>
              <a:t>VidOR is split into 8 parts, all now trained</a:t>
            </a:r>
          </a:p>
        </p:txBody>
      </p:sp>
      <p:sp>
        <p:nvSpPr>
          <p:cNvPr id="5" name="Rounded Rectangle 4"/>
          <p:cNvSpPr/>
          <p:nvPr/>
        </p:nvSpPr>
        <p:spPr>
          <a:xfrm>
            <a:off x="822960" y="3383280"/>
            <a:ext cx="1920240" cy="1920240"/>
          </a:xfrm>
          <a:prstGeom prst="roundRect">
            <a:avLst>
              <a:gd name="adj" fmla="val 10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i="0">
                <a:solidFill>
                  <a:srgbClr val="FFFFFF"/>
                </a:solidFill>
                <a:latin typeface="Arial"/>
              </a:rPr>
              <a:t>PART</a:t>
            </a:r>
          </a:p>
          <a:p>
            <a:pPr algn="ctr"/>
            <a:r>
              <a:rPr sz="4000" b="1" i="0">
                <a:solidFill>
                  <a:srgbClr val="FFFFFF"/>
                </a:solidFill>
                <a:latin typeface="Arial"/>
              </a:rPr>
              <a:t>1</a:t>
            </a:r>
          </a:p>
          <a:p>
            <a:pPr algn="ctr"/>
            <a:r>
              <a:rPr sz="1600" b="0" i="0">
                <a:solidFill>
                  <a:srgbClr val="FFFFFF"/>
                </a:solidFill>
                <a:latin typeface="Arial"/>
              </a:rPr>
              <a:t>earlier</a:t>
            </a:r>
          </a:p>
        </p:txBody>
      </p:sp>
      <p:sp>
        <p:nvSpPr>
          <p:cNvPr id="6" name="Rounded Rectangle 5"/>
          <p:cNvSpPr/>
          <p:nvPr/>
        </p:nvSpPr>
        <p:spPr>
          <a:xfrm>
            <a:off x="2971800" y="3383280"/>
            <a:ext cx="1920240" cy="1920240"/>
          </a:xfrm>
          <a:prstGeom prst="roundRect">
            <a:avLst>
              <a:gd name="adj" fmla="val 10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i="0">
                <a:solidFill>
                  <a:srgbClr val="FFFFFF"/>
                </a:solidFill>
                <a:latin typeface="Arial"/>
              </a:rPr>
              <a:t>PART</a:t>
            </a:r>
          </a:p>
          <a:p>
            <a:pPr algn="ctr"/>
            <a:r>
              <a:rPr sz="4000" b="1" i="0">
                <a:solidFill>
                  <a:srgbClr val="FFFFFF"/>
                </a:solidFill>
                <a:latin typeface="Arial"/>
              </a:rPr>
              <a:t>2</a:t>
            </a:r>
          </a:p>
          <a:p>
            <a:pPr algn="ctr"/>
            <a:r>
              <a:rPr sz="1600" b="0" i="0">
                <a:solidFill>
                  <a:srgbClr val="FFFFFF"/>
                </a:solidFill>
                <a:latin typeface="Arial"/>
              </a:rPr>
              <a:t>earlier</a:t>
            </a:r>
          </a:p>
        </p:txBody>
      </p:sp>
      <p:sp>
        <p:nvSpPr>
          <p:cNvPr id="7" name="Rounded Rectangle 6"/>
          <p:cNvSpPr/>
          <p:nvPr/>
        </p:nvSpPr>
        <p:spPr>
          <a:xfrm>
            <a:off x="5120640" y="3383280"/>
            <a:ext cx="1920240" cy="1920240"/>
          </a:xfrm>
          <a:prstGeom prst="roundRect">
            <a:avLst>
              <a:gd name="adj" fmla="val 10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i="0">
                <a:solidFill>
                  <a:srgbClr val="FFFFFF"/>
                </a:solidFill>
                <a:latin typeface="Arial"/>
              </a:rPr>
              <a:t>PART</a:t>
            </a:r>
          </a:p>
          <a:p>
            <a:pPr algn="ctr"/>
            <a:r>
              <a:rPr sz="4000" b="1" i="0">
                <a:solidFill>
                  <a:srgbClr val="FFFFFF"/>
                </a:solidFill>
                <a:latin typeface="Arial"/>
              </a:rPr>
              <a:t>3</a:t>
            </a:r>
          </a:p>
          <a:p>
            <a:pPr algn="ctr"/>
            <a:r>
              <a:rPr sz="1600" b="0" i="0">
                <a:solidFill>
                  <a:srgbClr val="FFFFFF"/>
                </a:solidFill>
                <a:latin typeface="Arial"/>
              </a:rPr>
              <a:t>earlier</a:t>
            </a:r>
          </a:p>
        </p:txBody>
      </p:sp>
      <p:sp>
        <p:nvSpPr>
          <p:cNvPr id="8" name="Rounded Rectangle 7"/>
          <p:cNvSpPr/>
          <p:nvPr/>
        </p:nvSpPr>
        <p:spPr>
          <a:xfrm>
            <a:off x="7269480" y="3383280"/>
            <a:ext cx="1920240" cy="1920240"/>
          </a:xfrm>
          <a:prstGeom prst="roundRect">
            <a:avLst>
              <a:gd name="adj" fmla="val 10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i="0">
                <a:solidFill>
                  <a:srgbClr val="FFFFFF"/>
                </a:solidFill>
                <a:latin typeface="Arial"/>
              </a:rPr>
              <a:t>PART</a:t>
            </a:r>
          </a:p>
          <a:p>
            <a:pPr algn="ctr"/>
            <a:r>
              <a:rPr sz="4000" b="1" i="0">
                <a:solidFill>
                  <a:srgbClr val="FFFFFF"/>
                </a:solidFill>
                <a:latin typeface="Arial"/>
              </a:rPr>
              <a:t>4</a:t>
            </a:r>
          </a:p>
          <a:p>
            <a:pPr algn="ctr"/>
            <a:r>
              <a:rPr sz="1600" b="0" i="0">
                <a:solidFill>
                  <a:srgbClr val="FFFFFF"/>
                </a:solidFill>
                <a:latin typeface="Arial"/>
              </a:rPr>
              <a:t>earlier</a:t>
            </a:r>
          </a:p>
        </p:txBody>
      </p:sp>
      <p:sp>
        <p:nvSpPr>
          <p:cNvPr id="9" name="Rounded Rectangle 8"/>
          <p:cNvSpPr/>
          <p:nvPr/>
        </p:nvSpPr>
        <p:spPr>
          <a:xfrm>
            <a:off x="822960" y="5623560"/>
            <a:ext cx="1920240" cy="1920240"/>
          </a:xfrm>
          <a:prstGeom prst="roundRect">
            <a:avLst>
              <a:gd name="adj" fmla="val 10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i="0">
                <a:solidFill>
                  <a:srgbClr val="FFFFFF"/>
                </a:solidFill>
                <a:latin typeface="Arial"/>
              </a:rPr>
              <a:t>PART</a:t>
            </a:r>
          </a:p>
          <a:p>
            <a:pPr algn="ctr"/>
            <a:r>
              <a:rPr sz="4000" b="1" i="0">
                <a:solidFill>
                  <a:srgbClr val="FFFFFF"/>
                </a:solidFill>
                <a:latin typeface="Arial"/>
              </a:rPr>
              <a:t>5</a:t>
            </a:r>
          </a:p>
          <a:p>
            <a:pPr algn="ctr"/>
            <a:r>
              <a:rPr sz="1600" b="0" i="0">
                <a:solidFill>
                  <a:srgbClr val="FFFFFF"/>
                </a:solidFill>
                <a:latin typeface="Arial"/>
              </a:rPr>
              <a:t>earlier</a:t>
            </a:r>
          </a:p>
        </p:txBody>
      </p:sp>
      <p:sp>
        <p:nvSpPr>
          <p:cNvPr id="10" name="Rounded Rectangle 9"/>
          <p:cNvSpPr/>
          <p:nvPr/>
        </p:nvSpPr>
        <p:spPr>
          <a:xfrm>
            <a:off x="2971800" y="5623560"/>
            <a:ext cx="1920240" cy="1920240"/>
          </a:xfrm>
          <a:prstGeom prst="roundRect">
            <a:avLst>
              <a:gd name="adj" fmla="val 10000"/>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i="0">
                <a:solidFill>
                  <a:srgbClr val="FFFFFF"/>
                </a:solidFill>
                <a:latin typeface="Arial"/>
              </a:rPr>
              <a:t>PART</a:t>
            </a:r>
          </a:p>
          <a:p>
            <a:pPr algn="ctr"/>
            <a:r>
              <a:rPr sz="4000" b="1" i="0">
                <a:solidFill>
                  <a:srgbClr val="FFFFFF"/>
                </a:solidFill>
                <a:latin typeface="Arial"/>
              </a:rPr>
              <a:t>6</a:t>
            </a:r>
          </a:p>
          <a:p>
            <a:pPr algn="ctr"/>
            <a:r>
              <a:rPr sz="1600" b="0" i="0">
                <a:solidFill>
                  <a:srgbClr val="FFFFFF"/>
                </a:solidFill>
                <a:latin typeface="Arial"/>
              </a:rPr>
              <a:t>added now</a:t>
            </a:r>
          </a:p>
        </p:txBody>
      </p:sp>
      <p:sp>
        <p:nvSpPr>
          <p:cNvPr id="11" name="Rounded Rectangle 10"/>
          <p:cNvSpPr/>
          <p:nvPr/>
        </p:nvSpPr>
        <p:spPr>
          <a:xfrm>
            <a:off x="5120640" y="5623560"/>
            <a:ext cx="1920240" cy="1920240"/>
          </a:xfrm>
          <a:prstGeom prst="roundRect">
            <a:avLst>
              <a:gd name="adj" fmla="val 10000"/>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i="0">
                <a:solidFill>
                  <a:srgbClr val="FFFFFF"/>
                </a:solidFill>
                <a:latin typeface="Arial"/>
              </a:rPr>
              <a:t>PART</a:t>
            </a:r>
          </a:p>
          <a:p>
            <a:pPr algn="ctr"/>
            <a:r>
              <a:rPr sz="4000" b="1" i="0">
                <a:solidFill>
                  <a:srgbClr val="FFFFFF"/>
                </a:solidFill>
                <a:latin typeface="Arial"/>
              </a:rPr>
              <a:t>7</a:t>
            </a:r>
          </a:p>
          <a:p>
            <a:pPr algn="ctr"/>
            <a:r>
              <a:rPr sz="1600" b="0" i="0">
                <a:solidFill>
                  <a:srgbClr val="FFFFFF"/>
                </a:solidFill>
                <a:latin typeface="Arial"/>
              </a:rPr>
              <a:t>added now</a:t>
            </a:r>
          </a:p>
        </p:txBody>
      </p:sp>
      <p:sp>
        <p:nvSpPr>
          <p:cNvPr id="12" name="Rounded Rectangle 11"/>
          <p:cNvSpPr/>
          <p:nvPr/>
        </p:nvSpPr>
        <p:spPr>
          <a:xfrm>
            <a:off x="7269480" y="5623560"/>
            <a:ext cx="1920240" cy="1920240"/>
          </a:xfrm>
          <a:prstGeom prst="roundRect">
            <a:avLst>
              <a:gd name="adj" fmla="val 10000"/>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i="0">
                <a:solidFill>
                  <a:srgbClr val="FFFFFF"/>
                </a:solidFill>
                <a:latin typeface="Arial"/>
              </a:rPr>
              <a:t>PART</a:t>
            </a:r>
          </a:p>
          <a:p>
            <a:pPr algn="ctr"/>
            <a:r>
              <a:rPr sz="4000" b="1" i="0">
                <a:solidFill>
                  <a:srgbClr val="FFFFFF"/>
                </a:solidFill>
                <a:latin typeface="Arial"/>
              </a:rPr>
              <a:t>8</a:t>
            </a:r>
          </a:p>
          <a:p>
            <a:pPr algn="ctr"/>
            <a:r>
              <a:rPr sz="1600" b="0" i="0">
                <a:solidFill>
                  <a:srgbClr val="FFFFFF"/>
                </a:solidFill>
                <a:latin typeface="Arial"/>
              </a:rPr>
              <a:t>added now</a:t>
            </a:r>
          </a:p>
        </p:txBody>
      </p:sp>
      <p:sp>
        <p:nvSpPr>
          <p:cNvPr id="13" name="Legend"/>
          <p:cNvSpPr txBox="1"/>
          <p:nvPr/>
        </p:nvSpPr>
        <p:spPr>
          <a:xfrm>
            <a:off x="822960" y="8001000"/>
            <a:ext cx="8412480" cy="457200"/>
          </a:xfrm>
          <a:prstGeom prst="rect">
            <a:avLst/>
          </a:prstGeom>
          <a:noFill/>
        </p:spPr>
        <p:txBody>
          <a:bodyPr wrap="square" anchor="t" lIns="45720" rIns="45720" tIns="27432" bIns="27432">
            <a:spAutoFit/>
          </a:bodyPr>
          <a:lstStyle/>
          <a:p>
            <a:pPr algn="l"/>
            <a:r>
              <a:rPr sz="1700" b="0" i="0">
                <a:solidFill>
                  <a:srgbClr val="666666"/>
                </a:solidFill>
                <a:latin typeface="Arial"/>
              </a:rPr>
              <a:t>Crimson = trained earlier   |   Grey = added for this review</a:t>
            </a:r>
          </a:p>
        </p:txBody>
      </p:sp>
      <p:graphicFrame>
        <p:nvGraphicFramePr>
          <p:cNvPr id="14" name="Table 13"/>
          <p:cNvGraphicFramePr>
            <a:graphicFrameLocks noGrp="1"/>
          </p:cNvGraphicFramePr>
          <p:nvPr/>
        </p:nvGraphicFramePr>
        <p:xfrm>
          <a:off x="9692640" y="2926080"/>
          <a:ext cx="7863840" cy="4800600"/>
        </p:xfrm>
        <a:graphic>
          <a:graphicData uri="http://schemas.openxmlformats.org/drawingml/2006/table">
            <a:tbl>
              <a:tblPr firstRow="0" bandRow="0">
                <a:tableStyleId>{5C22544A-7EE6-4342-B048-85BDC9FD1C3A}</a:tableStyleId>
              </a:tblPr>
              <a:tblGrid>
                <a:gridCol w="4023360"/>
                <a:gridCol w="3840480"/>
              </a:tblGrid>
              <a:tr h="685800">
                <a:tc>
                  <a:txBody>
                    <a:bodyPr wrap="square"/>
                    <a:lstStyle/>
                    <a:p>
                      <a:r>
                        <a:rPr sz="2200" b="1" i="0">
                          <a:solidFill>
                            <a:srgbClr val="FFFFFF"/>
                          </a:solidFill>
                          <a:latin typeface="Arial"/>
                        </a:rPr>
                        <a:t>Property</a:t>
                      </a:r>
                    </a:p>
                  </a:txBody>
                  <a:tcPr anchor="ctr" marL="137160" marR="137160">
                    <a:solidFill>
                      <a:srgbClr val="B40347"/>
                    </a:solidFill>
                  </a:tcPr>
                </a:tc>
                <a:tc>
                  <a:txBody>
                    <a:bodyPr wrap="square"/>
                    <a:lstStyle/>
                    <a:p>
                      <a:r>
                        <a:rPr sz="2200" b="1" i="0">
                          <a:solidFill>
                            <a:srgbClr val="FFFFFF"/>
                          </a:solidFill>
                          <a:latin typeface="Arial"/>
                        </a:rPr>
                        <a:t>Value</a:t>
                      </a:r>
                    </a:p>
                  </a:txBody>
                  <a:tcPr anchor="ctr" marL="137160" marR="137160">
                    <a:solidFill>
                      <a:srgbClr val="B40347"/>
                    </a:solidFill>
                  </a:tcPr>
                </a:tc>
              </a:tr>
              <a:tr h="685800">
                <a:tc>
                  <a:txBody>
                    <a:bodyPr wrap="square"/>
                    <a:lstStyle/>
                    <a:p>
                      <a:r>
                        <a:rPr sz="2200" b="0" i="0">
                          <a:solidFill>
                            <a:srgbClr val="1F1F1F"/>
                          </a:solidFill>
                          <a:latin typeface="Arial"/>
                        </a:rPr>
                        <a:t>Dataset</a:t>
                      </a:r>
                    </a:p>
                  </a:txBody>
                  <a:tcPr anchor="ctr" marL="137160" marR="137160">
                    <a:solidFill>
                      <a:srgbClr val="F3F3F3"/>
                    </a:solidFill>
                  </a:tcPr>
                </a:tc>
                <a:tc>
                  <a:txBody>
                    <a:bodyPr wrap="square"/>
                    <a:lstStyle/>
                    <a:p>
                      <a:r>
                        <a:rPr sz="2200" b="0" i="0">
                          <a:solidFill>
                            <a:srgbClr val="1F1F1F"/>
                          </a:solidFill>
                          <a:latin typeface="Arial"/>
                        </a:rPr>
                        <a:t>VidOR</a:t>
                      </a:r>
                    </a:p>
                  </a:txBody>
                  <a:tcPr anchor="ctr" marL="137160" marR="137160">
                    <a:solidFill>
                      <a:srgbClr val="F3F3F3"/>
                    </a:solidFill>
                  </a:tcPr>
                </a:tc>
              </a:tr>
              <a:tr h="685800">
                <a:tc>
                  <a:txBody>
                    <a:bodyPr wrap="square"/>
                    <a:lstStyle/>
                    <a:p>
                      <a:r>
                        <a:rPr sz="2200" b="0" i="0">
                          <a:solidFill>
                            <a:srgbClr val="1F1F1F"/>
                          </a:solidFill>
                          <a:latin typeface="Arial"/>
                        </a:rPr>
                        <a:t>Frame sampling</a:t>
                      </a:r>
                    </a:p>
                  </a:txBody>
                  <a:tcPr anchor="ctr" marL="137160" marR="137160">
                    <a:solidFill>
                      <a:srgbClr val="FFFFFF"/>
                    </a:solidFill>
                  </a:tcPr>
                </a:tc>
                <a:tc>
                  <a:txBody>
                    <a:bodyPr wrap="square"/>
                    <a:lstStyle/>
                    <a:p>
                      <a:r>
                        <a:rPr sz="2200" b="0" i="0">
                          <a:solidFill>
                            <a:srgbClr val="1F1F1F"/>
                          </a:solidFill>
                          <a:latin typeface="Arial"/>
                        </a:rPr>
                        <a:t>1 fps</a:t>
                      </a:r>
                    </a:p>
                  </a:txBody>
                  <a:tcPr anchor="ctr" marL="137160" marR="137160">
                    <a:solidFill>
                      <a:srgbClr val="FFFFFF"/>
                    </a:solidFill>
                  </a:tcPr>
                </a:tc>
              </a:tr>
              <a:tr h="685800">
                <a:tc>
                  <a:txBody>
                    <a:bodyPr wrap="square"/>
                    <a:lstStyle/>
                    <a:p>
                      <a:r>
                        <a:rPr sz="2200" b="0" i="0">
                          <a:solidFill>
                            <a:srgbClr val="1F1F1F"/>
                          </a:solidFill>
                          <a:latin typeface="Arial"/>
                        </a:rPr>
                        <a:t>Training frames</a:t>
                      </a:r>
                    </a:p>
                  </a:txBody>
                  <a:tcPr anchor="ctr" marL="137160" marR="137160">
                    <a:solidFill>
                      <a:srgbClr val="F3F3F3"/>
                    </a:solidFill>
                  </a:tcPr>
                </a:tc>
                <a:tc>
                  <a:txBody>
                    <a:bodyPr wrap="square"/>
                    <a:lstStyle/>
                    <a:p>
                      <a:r>
                        <a:rPr sz="2200" b="0" i="0">
                          <a:solidFill>
                            <a:srgbClr val="1F1F1F"/>
                          </a:solidFill>
                          <a:latin typeface="Arial"/>
                        </a:rPr>
                        <a:t>60,588</a:t>
                      </a:r>
                    </a:p>
                  </a:txBody>
                  <a:tcPr anchor="ctr" marL="137160" marR="137160">
                    <a:solidFill>
                      <a:srgbClr val="F3F3F3"/>
                    </a:solidFill>
                  </a:tcPr>
                </a:tc>
              </a:tr>
              <a:tr h="685800">
                <a:tc>
                  <a:txBody>
                    <a:bodyPr wrap="square"/>
                    <a:lstStyle/>
                    <a:p>
                      <a:r>
                        <a:rPr sz="2200" b="0" i="0">
                          <a:solidFill>
                            <a:srgbClr val="1F1F1F"/>
                          </a:solidFill>
                          <a:latin typeface="Arial"/>
                        </a:rPr>
                        <a:t>Validation frames</a:t>
                      </a:r>
                    </a:p>
                  </a:txBody>
                  <a:tcPr anchor="ctr" marL="137160" marR="137160">
                    <a:solidFill>
                      <a:srgbClr val="FFFFFF"/>
                    </a:solidFill>
                  </a:tcPr>
                </a:tc>
                <a:tc>
                  <a:txBody>
                    <a:bodyPr wrap="square"/>
                    <a:lstStyle/>
                    <a:p>
                      <a:r>
                        <a:rPr sz="2200" b="0" i="0">
                          <a:solidFill>
                            <a:srgbClr val="1F1F1F"/>
                          </a:solidFill>
                          <a:latin typeface="Arial"/>
                        </a:rPr>
                        <a:t>3,594</a:t>
                      </a:r>
                    </a:p>
                  </a:txBody>
                  <a:tcPr anchor="ctr" marL="137160" marR="137160">
                    <a:solidFill>
                      <a:srgbClr val="FFFFFF"/>
                    </a:solidFill>
                  </a:tcPr>
                </a:tc>
              </a:tr>
              <a:tr h="685800">
                <a:tc>
                  <a:txBody>
                    <a:bodyPr wrap="square"/>
                    <a:lstStyle/>
                    <a:p>
                      <a:r>
                        <a:rPr sz="2200" b="0" i="0">
                          <a:solidFill>
                            <a:srgbClr val="1F1F1F"/>
                          </a:solidFill>
                          <a:latin typeface="Arial"/>
                        </a:rPr>
                        <a:t>New videos added</a:t>
                      </a:r>
                    </a:p>
                  </a:txBody>
                  <a:tcPr anchor="ctr" marL="137160" marR="137160">
                    <a:solidFill>
                      <a:srgbClr val="F3F3F3"/>
                    </a:solidFill>
                  </a:tcPr>
                </a:tc>
                <a:tc>
                  <a:txBody>
                    <a:bodyPr wrap="square"/>
                    <a:lstStyle/>
                    <a:p>
                      <a:r>
                        <a:rPr sz="2200" b="0" i="0">
                          <a:solidFill>
                            <a:srgbClr val="1F1F1F"/>
                          </a:solidFill>
                          <a:latin typeface="Arial"/>
                        </a:rPr>
                        <a:t>750 (3 groups)</a:t>
                      </a:r>
                    </a:p>
                  </a:txBody>
                  <a:tcPr anchor="ctr" marL="137160" marR="137160">
                    <a:solidFill>
                      <a:srgbClr val="F3F3F3"/>
                    </a:solidFill>
                  </a:tcPr>
                </a:tc>
              </a:tr>
              <a:tr h="685800">
                <a:tc>
                  <a:txBody>
                    <a:bodyPr wrap="square"/>
                    <a:lstStyle/>
                    <a:p>
                      <a:r>
                        <a:rPr sz="2200" b="0" i="0">
                          <a:solidFill>
                            <a:srgbClr val="1F1F1F"/>
                          </a:solidFill>
                          <a:latin typeface="Arial"/>
                        </a:rPr>
                        <a:t>Object classes</a:t>
                      </a:r>
                    </a:p>
                  </a:txBody>
                  <a:tcPr anchor="ctr" marL="137160" marR="137160">
                    <a:solidFill>
                      <a:srgbClr val="FFFFFF"/>
                    </a:solidFill>
                  </a:tcPr>
                </a:tc>
                <a:tc>
                  <a:txBody>
                    <a:bodyPr wrap="square"/>
                    <a:lstStyle/>
                    <a:p>
                      <a:r>
                        <a:rPr sz="2200" b="0" i="0">
                          <a:solidFill>
                            <a:srgbClr val="1F1F1F"/>
                          </a:solidFill>
                          <a:latin typeface="Arial"/>
                        </a:rPr>
                        <a:t>78</a:t>
                      </a:r>
                    </a:p>
                  </a:txBody>
                  <a:tcPr anchor="ctr" marL="137160" marR="137160">
                    <a:solidFill>
                      <a:srgbClr val="FFFFFF"/>
                    </a:solidFill>
                  </a:tcPr>
                </a:tc>
              </a:tr>
            </a:tbl>
          </a:graphicData>
        </a:graphic>
      </p:graphicFrame>
      <p:sp>
        <p:nvSpPr>
          <p:cNvPr id="15" name="Caption"/>
          <p:cNvSpPr txBox="1"/>
          <p:nvPr/>
        </p:nvSpPr>
        <p:spPr>
          <a:xfrm>
            <a:off x="9692640" y="7909560"/>
            <a:ext cx="7863840" cy="1097280"/>
          </a:xfrm>
          <a:prstGeom prst="rect">
            <a:avLst/>
          </a:prstGeom>
          <a:noFill/>
        </p:spPr>
        <p:txBody>
          <a:bodyPr wrap="square" anchor="t" lIns="45720" rIns="45720" tIns="27432" bIns="27432">
            <a:spAutoFit/>
          </a:bodyPr>
          <a:lstStyle/>
          <a:p>
            <a:pPr algn="l"/>
            <a:r>
              <a:rPr sz="1700" b="0" i="1">
                <a:solidFill>
                  <a:srgbClr val="666666"/>
                </a:solidFill>
                <a:latin typeface="Arial"/>
              </a:rPr>
              <a:t>Training frames = 33,277 earlier + 27,311 new. The validation set is unchanged, so results are comparable.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Pipeline: Eight Stages from Video to Scene Graph</a:t>
            </a:r>
          </a:p>
        </p:txBody>
      </p:sp>
      <p:sp>
        <p:nvSpPr>
          <p:cNvPr id="4" name="Rounded Rectangle 3"/>
          <p:cNvSpPr/>
          <p:nvPr/>
        </p:nvSpPr>
        <p:spPr>
          <a:xfrm>
            <a:off x="822960" y="3017520"/>
            <a:ext cx="3657600" cy="20116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1F1F1F"/>
                </a:solidFill>
                <a:latin typeface="Arial"/>
              </a:rPr>
              <a:t>1  preprocessing</a:t>
            </a:r>
          </a:p>
          <a:p>
            <a:pPr algn="ctr"/>
            <a:r>
              <a:rPr sz="1900" b="0" i="0">
                <a:solidFill>
                  <a:srgbClr val="666666"/>
                </a:solidFill>
                <a:latin typeface="Arial"/>
              </a:rPr>
              <a:t>clean and prepare frames</a:t>
            </a:r>
          </a:p>
        </p:txBody>
      </p:sp>
      <p:cxnSp>
        <p:nvCxnSpPr>
          <p:cNvPr id="5" name="Connector 4"/>
          <p:cNvCxnSpPr/>
          <p:nvPr/>
        </p:nvCxnSpPr>
        <p:spPr>
          <a:xfrm>
            <a:off x="4480560" y="4023360"/>
            <a:ext cx="54864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0" y="3017520"/>
            <a:ext cx="3657600" cy="20116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1F1F1F"/>
                </a:solidFill>
                <a:latin typeface="Arial"/>
              </a:rPr>
              <a:t>2  dataset</a:t>
            </a:r>
          </a:p>
          <a:p>
            <a:pPr algn="ctr"/>
            <a:r>
              <a:rPr sz="1900" b="0" i="0">
                <a:solidFill>
                  <a:srgbClr val="666666"/>
                </a:solidFill>
                <a:latin typeface="Arial"/>
              </a:rPr>
              <a:t>parse labels, sample at 1 fps</a:t>
            </a:r>
          </a:p>
        </p:txBody>
      </p:sp>
      <p:cxnSp>
        <p:nvCxnSpPr>
          <p:cNvPr id="7" name="Connector 6"/>
          <p:cNvCxnSpPr/>
          <p:nvPr/>
        </p:nvCxnSpPr>
        <p:spPr>
          <a:xfrm>
            <a:off x="8686800" y="4023360"/>
            <a:ext cx="54864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235440" y="3017520"/>
            <a:ext cx="3657600" cy="2011680"/>
          </a:xfrm>
          <a:prstGeom prst="roundRect">
            <a:avLst>
              <a:gd name="adj" fmla="val 8000"/>
            </a:avLst>
          </a:prstGeom>
          <a:solidFill>
            <a:srgbClr val="B40347"/>
          </a:solidFill>
          <a:ln w="254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FFFFFF"/>
                </a:solidFill>
                <a:latin typeface="Arial"/>
              </a:rPr>
              <a:t>3  detection</a:t>
            </a:r>
          </a:p>
          <a:p>
            <a:pPr algn="ctr"/>
            <a:r>
              <a:rPr sz="1900" b="0" i="0">
                <a:solidFill>
                  <a:srgbClr val="FFFFFF"/>
                </a:solidFill>
                <a:latin typeface="Arial"/>
              </a:rPr>
              <a:t>YOLOv8s finds objects</a:t>
            </a:r>
          </a:p>
        </p:txBody>
      </p:sp>
      <p:cxnSp>
        <p:nvCxnSpPr>
          <p:cNvPr id="9" name="Connector 8"/>
          <p:cNvCxnSpPr/>
          <p:nvPr/>
        </p:nvCxnSpPr>
        <p:spPr>
          <a:xfrm>
            <a:off x="12893040" y="4023360"/>
            <a:ext cx="54864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3441680" y="3017520"/>
            <a:ext cx="3657600" cy="20116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1F1F1F"/>
                </a:solidFill>
                <a:latin typeface="Arial"/>
              </a:rPr>
              <a:t>4  tracking</a:t>
            </a:r>
          </a:p>
          <a:p>
            <a:pPr algn="ctr"/>
            <a:r>
              <a:rPr sz="1900" b="0" i="0">
                <a:solidFill>
                  <a:srgbClr val="666666"/>
                </a:solidFill>
                <a:latin typeface="Arial"/>
              </a:rPr>
              <a:t>link boxes into tracks</a:t>
            </a:r>
          </a:p>
        </p:txBody>
      </p:sp>
      <p:sp>
        <p:nvSpPr>
          <p:cNvPr id="11" name="Rounded Rectangle 10"/>
          <p:cNvSpPr/>
          <p:nvPr/>
        </p:nvSpPr>
        <p:spPr>
          <a:xfrm>
            <a:off x="822960" y="5852160"/>
            <a:ext cx="3657600" cy="20116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1F1F1F"/>
                </a:solidFill>
                <a:latin typeface="Arial"/>
              </a:rPr>
              <a:t>5  features</a:t>
            </a:r>
          </a:p>
          <a:p>
            <a:pPr algn="ctr"/>
            <a:r>
              <a:rPr sz="1900" b="0" i="0">
                <a:solidFill>
                  <a:srgbClr val="666666"/>
                </a:solidFill>
                <a:latin typeface="Arial"/>
              </a:rPr>
              <a:t>appearance and geometry</a:t>
            </a:r>
          </a:p>
        </p:txBody>
      </p:sp>
      <p:cxnSp>
        <p:nvCxnSpPr>
          <p:cNvPr id="12" name="Connector 11"/>
          <p:cNvCxnSpPr/>
          <p:nvPr/>
        </p:nvCxnSpPr>
        <p:spPr>
          <a:xfrm>
            <a:off x="4480560" y="6858000"/>
            <a:ext cx="54864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29200" y="5852160"/>
            <a:ext cx="3657600" cy="20116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1F1F1F"/>
                </a:solidFill>
                <a:latin typeface="Arial"/>
              </a:rPr>
              <a:t>6  graph</a:t>
            </a:r>
          </a:p>
          <a:p>
            <a:pPr algn="ctr"/>
            <a:r>
              <a:rPr sz="1900" b="0" i="0">
                <a:solidFill>
                  <a:srgbClr val="666666"/>
                </a:solidFill>
                <a:latin typeface="Arial"/>
              </a:rPr>
              <a:t>one graph per frame</a:t>
            </a:r>
          </a:p>
        </p:txBody>
      </p:sp>
      <p:cxnSp>
        <p:nvCxnSpPr>
          <p:cNvPr id="14" name="Connector 13"/>
          <p:cNvCxnSpPr/>
          <p:nvPr/>
        </p:nvCxnSpPr>
        <p:spPr>
          <a:xfrm>
            <a:off x="8686800" y="6858000"/>
            <a:ext cx="54864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235440" y="5852160"/>
            <a:ext cx="3657600" cy="20116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1F1F1F"/>
                </a:solidFill>
                <a:latin typeface="Arial"/>
              </a:rPr>
              <a:t>7  temporal</a:t>
            </a:r>
          </a:p>
          <a:p>
            <a:pPr algn="ctr"/>
            <a:r>
              <a:rPr sz="1900" b="0" i="0">
                <a:solidFill>
                  <a:srgbClr val="666666"/>
                </a:solidFill>
                <a:latin typeface="Arial"/>
              </a:rPr>
              <a:t>connect graphs over time</a:t>
            </a:r>
          </a:p>
        </p:txBody>
      </p:sp>
      <p:cxnSp>
        <p:nvCxnSpPr>
          <p:cNvPr id="16" name="Connector 15"/>
          <p:cNvCxnSpPr/>
          <p:nvPr/>
        </p:nvCxnSpPr>
        <p:spPr>
          <a:xfrm>
            <a:off x="12893040" y="6858000"/>
            <a:ext cx="54864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441680" y="5852160"/>
            <a:ext cx="3657600" cy="20116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1F1F1F"/>
                </a:solidFill>
                <a:latin typeface="Arial"/>
              </a:rPr>
              <a:t>8  relations</a:t>
            </a:r>
          </a:p>
          <a:p>
            <a:pPr algn="ctr"/>
            <a:r>
              <a:rPr sz="1900" b="0" i="0">
                <a:solidFill>
                  <a:srgbClr val="666666"/>
                </a:solidFill>
                <a:latin typeface="Arial"/>
              </a:rPr>
              <a:t>predict predicate per pair</a:t>
            </a:r>
          </a:p>
        </p:txBody>
      </p:sp>
      <p:cxnSp>
        <p:nvCxnSpPr>
          <p:cNvPr id="18" name="Connector 17"/>
          <p:cNvCxnSpPr/>
          <p:nvPr/>
        </p:nvCxnSpPr>
        <p:spPr>
          <a:xfrm>
            <a:off x="15270480" y="5029200"/>
            <a:ext cx="0" cy="411479"/>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2651760" y="5440679"/>
            <a:ext cx="12618720" cy="0"/>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651760" y="5440679"/>
            <a:ext cx="0" cy="411481"/>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21" name="Note"/>
          <p:cNvSpPr txBox="1"/>
          <p:nvPr/>
        </p:nvSpPr>
        <p:spPr>
          <a:xfrm>
            <a:off x="822960" y="8961120"/>
            <a:ext cx="16642080" cy="822960"/>
          </a:xfrm>
          <a:prstGeom prst="rect">
            <a:avLst/>
          </a:prstGeom>
          <a:noFill/>
        </p:spPr>
        <p:txBody>
          <a:bodyPr wrap="square" anchor="t" lIns="45720" rIns="45720" tIns="27432" bIns="27432">
            <a:spAutoFit/>
          </a:bodyPr>
          <a:lstStyle/>
          <a:p>
            <a:pPr algn="l"/>
            <a:r>
              <a:rPr sz="2100" b="0" i="0">
                <a:solidFill>
                  <a:srgbClr val="1F1F1F"/>
                </a:solidFill>
                <a:latin typeface="Arial"/>
              </a:rPr>
              <a:t>Trained and evaluated: detection, the relation model and the temporal LSTM/GRU models. Later stages consume the detector's boxes, so its quality sets the ceiling.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What the Dataset Export Contains</a:t>
            </a:r>
          </a:p>
        </p:txBody>
      </p:sp>
      <p:graphicFrame>
        <p:nvGraphicFramePr>
          <p:cNvPr id="4" name="Table 3"/>
          <p:cNvGraphicFramePr>
            <a:graphicFrameLocks noGrp="1"/>
          </p:cNvGraphicFramePr>
          <p:nvPr/>
        </p:nvGraphicFramePr>
        <p:xfrm>
          <a:off x="1463040" y="2926080"/>
          <a:ext cx="15361920" cy="6419088"/>
        </p:xfrm>
        <a:graphic>
          <a:graphicData uri="http://schemas.openxmlformats.org/drawingml/2006/table">
            <a:tbl>
              <a:tblPr firstRow="0" bandRow="0">
                <a:tableStyleId>{5C22544A-7EE6-4342-B048-85BDC9FD1C3A}</a:tableStyleId>
              </a:tblPr>
              <a:tblGrid>
                <a:gridCol w="5852160"/>
                <a:gridCol w="9509760"/>
              </a:tblGrid>
              <a:tr h="713232">
                <a:tc>
                  <a:txBody>
                    <a:bodyPr wrap="square"/>
                    <a:lstStyle/>
                    <a:p>
                      <a:r>
                        <a:rPr sz="2200" b="1" i="0">
                          <a:solidFill>
                            <a:srgbClr val="FFFFFF"/>
                          </a:solidFill>
                          <a:latin typeface="Arial"/>
                        </a:rPr>
                        <a:t>Folder / file</a:t>
                      </a:r>
                    </a:p>
                  </a:txBody>
                  <a:tcPr anchor="ctr" marL="137160" marR="137160">
                    <a:solidFill>
                      <a:srgbClr val="B40347"/>
                    </a:solidFill>
                  </a:tcPr>
                </a:tc>
                <a:tc>
                  <a:txBody>
                    <a:bodyPr wrap="square"/>
                    <a:lstStyle/>
                    <a:p>
                      <a:r>
                        <a:rPr sz="2200" b="1" i="0">
                          <a:solidFill>
                            <a:srgbClr val="FFFFFF"/>
                          </a:solidFill>
                          <a:latin typeface="Arial"/>
                        </a:rPr>
                        <a:t>Contents</a:t>
                      </a:r>
                    </a:p>
                  </a:txBody>
                  <a:tcPr anchor="ctr" marL="137160" marR="137160">
                    <a:solidFill>
                      <a:srgbClr val="B40347"/>
                    </a:solidFill>
                  </a:tcPr>
                </a:tc>
              </a:tr>
              <a:tr h="713232">
                <a:tc>
                  <a:txBody>
                    <a:bodyPr wrap="square"/>
                    <a:lstStyle/>
                    <a:p>
                      <a:r>
                        <a:rPr sz="2200" b="1" i="0">
                          <a:solidFill>
                            <a:srgbClr val="1F1F1F"/>
                          </a:solidFill>
                          <a:latin typeface="Arial"/>
                        </a:rPr>
                        <a:t>annotations</a:t>
                      </a:r>
                    </a:p>
                  </a:txBody>
                  <a:tcPr anchor="ctr" marL="137160" marR="137160">
                    <a:solidFill>
                      <a:srgbClr val="F3F3F3"/>
                    </a:solidFill>
                  </a:tcPr>
                </a:tc>
                <a:tc>
                  <a:txBody>
                    <a:bodyPr wrap="square"/>
                    <a:lstStyle/>
                    <a:p>
                      <a:r>
                        <a:rPr sz="2200" b="0" i="0">
                          <a:solidFill>
                            <a:srgbClr val="1F1F1F"/>
                          </a:solidFill>
                          <a:latin typeface="Arial"/>
                        </a:rPr>
                        <a:t>VidOR labels for train and validation</a:t>
                      </a:r>
                    </a:p>
                  </a:txBody>
                  <a:tcPr anchor="ctr" marL="137160" marR="137160">
                    <a:solidFill>
                      <a:srgbClr val="F3F3F3"/>
                    </a:solidFill>
                  </a:tcPr>
                </a:tc>
              </a:tr>
              <a:tr h="713232">
                <a:tc>
                  <a:txBody>
                    <a:bodyPr wrap="square"/>
                    <a:lstStyle/>
                    <a:p>
                      <a:r>
                        <a:rPr sz="2200" b="1" i="0">
                          <a:solidFill>
                            <a:srgbClr val="1F1F1F"/>
                          </a:solidFill>
                          <a:latin typeface="Arial"/>
                        </a:rPr>
                        <a:t>videos</a:t>
                      </a:r>
                    </a:p>
                  </a:txBody>
                  <a:tcPr anchor="ctr" marL="137160" marR="137160">
                    <a:solidFill>
                      <a:srgbClr val="FFFFFF"/>
                    </a:solidFill>
                  </a:tcPr>
                </a:tc>
                <a:tc>
                  <a:txBody>
                    <a:bodyPr wrap="square"/>
                    <a:lstStyle/>
                    <a:p>
                      <a:r>
                        <a:rPr sz="2200" b="0" i="0">
                          <a:solidFill>
                            <a:srgbClr val="1F1F1F"/>
                          </a:solidFill>
                          <a:latin typeface="Arial"/>
                        </a:rPr>
                        <a:t>Source clips</a:t>
                      </a:r>
                    </a:p>
                  </a:txBody>
                  <a:tcPr anchor="ctr" marL="137160" marR="137160">
                    <a:solidFill>
                      <a:srgbClr val="FFFFFF"/>
                    </a:solidFill>
                  </a:tcPr>
                </a:tc>
              </a:tr>
              <a:tr h="713232">
                <a:tc>
                  <a:txBody>
                    <a:bodyPr wrap="square"/>
                    <a:lstStyle/>
                    <a:p>
                      <a:r>
                        <a:rPr sz="2200" b="1" i="0">
                          <a:solidFill>
                            <a:srgbClr val="1F1F1F"/>
                          </a:solidFill>
                          <a:latin typeface="Arial"/>
                        </a:rPr>
                        <a:t>yolo_format</a:t>
                      </a:r>
                    </a:p>
                  </a:txBody>
                  <a:tcPr anchor="ctr" marL="137160" marR="137160">
                    <a:solidFill>
                      <a:srgbClr val="F3F3F3"/>
                    </a:solidFill>
                  </a:tcPr>
                </a:tc>
                <a:tc>
                  <a:txBody>
                    <a:bodyPr wrap="square"/>
                    <a:lstStyle/>
                    <a:p>
                      <a:r>
                        <a:rPr sz="2200" b="0" i="0">
                          <a:solidFill>
                            <a:srgbClr val="1F1F1F"/>
                          </a:solidFill>
                          <a:latin typeface="Arial"/>
                        </a:rPr>
                        <a:t>Frames and boxes in YOLO layout</a:t>
                      </a:r>
                    </a:p>
                  </a:txBody>
                  <a:tcPr anchor="ctr" marL="137160" marR="137160">
                    <a:solidFill>
                      <a:srgbClr val="F3F3F3"/>
                    </a:solidFill>
                  </a:tcPr>
                </a:tc>
              </a:tr>
              <a:tr h="713232">
                <a:tc>
                  <a:txBody>
                    <a:bodyPr wrap="square"/>
                    <a:lstStyle/>
                    <a:p>
                      <a:r>
                        <a:rPr sz="2200" b="1" i="0">
                          <a:solidFill>
                            <a:srgbClr val="1F1F1F"/>
                          </a:solidFill>
                          <a:latin typeface="Arial"/>
                        </a:rPr>
                        <a:t>tracks</a:t>
                      </a:r>
                    </a:p>
                  </a:txBody>
                  <a:tcPr anchor="ctr" marL="137160" marR="137160">
                    <a:solidFill>
                      <a:srgbClr val="FFFFFF"/>
                    </a:solidFill>
                  </a:tcPr>
                </a:tc>
                <a:tc>
                  <a:txBody>
                    <a:bodyPr wrap="square"/>
                    <a:lstStyle/>
                    <a:p>
                      <a:r>
                        <a:rPr sz="2200" b="0" i="0">
                          <a:solidFill>
                            <a:srgbClr val="1F1F1F"/>
                          </a:solidFill>
                          <a:latin typeface="Arial"/>
                        </a:rPr>
                        <a:t>Per-video object tracks</a:t>
                      </a:r>
                    </a:p>
                  </a:txBody>
                  <a:tcPr anchor="ctr" marL="137160" marR="137160">
                    <a:solidFill>
                      <a:srgbClr val="FFFFFF"/>
                    </a:solidFill>
                  </a:tcPr>
                </a:tc>
              </a:tr>
              <a:tr h="713232">
                <a:tc>
                  <a:txBody>
                    <a:bodyPr wrap="square"/>
                    <a:lstStyle/>
                    <a:p>
                      <a:r>
                        <a:rPr sz="2200" b="1" i="0">
                          <a:solidFill>
                            <a:srgbClr val="1F1F1F"/>
                          </a:solidFill>
                          <a:latin typeface="Arial"/>
                        </a:rPr>
                        <a:t>features</a:t>
                      </a:r>
                    </a:p>
                  </a:txBody>
                  <a:tcPr anchor="ctr" marL="137160" marR="137160">
                    <a:solidFill>
                      <a:srgbClr val="F3F3F3"/>
                    </a:solidFill>
                  </a:tcPr>
                </a:tc>
                <a:tc>
                  <a:txBody>
                    <a:bodyPr wrap="square"/>
                    <a:lstStyle/>
                    <a:p>
                      <a:r>
                        <a:rPr sz="2200" b="0" i="0">
                          <a:solidFill>
                            <a:srgbClr val="1F1F1F"/>
                          </a:solidFill>
                          <a:latin typeface="Arial"/>
                        </a:rPr>
                        <a:t>Extracted object features</a:t>
                      </a:r>
                    </a:p>
                  </a:txBody>
                  <a:tcPr anchor="ctr" marL="137160" marR="137160">
                    <a:solidFill>
                      <a:srgbClr val="F3F3F3"/>
                    </a:solidFill>
                  </a:tcPr>
                </a:tc>
              </a:tr>
              <a:tr h="713232">
                <a:tc>
                  <a:txBody>
                    <a:bodyPr wrap="square"/>
                    <a:lstStyle/>
                    <a:p>
                      <a:r>
                        <a:rPr sz="2200" b="1" i="0">
                          <a:solidFill>
                            <a:srgbClr val="1F1F1F"/>
                          </a:solidFill>
                          <a:latin typeface="Arial"/>
                        </a:rPr>
                        <a:t>relation_dataset</a:t>
                      </a:r>
                    </a:p>
                  </a:txBody>
                  <a:tcPr anchor="ctr" marL="137160" marR="137160">
                    <a:solidFill>
                      <a:srgbClr val="FFFFFF"/>
                    </a:solidFill>
                  </a:tcPr>
                </a:tc>
                <a:tc>
                  <a:txBody>
                    <a:bodyPr wrap="square"/>
                    <a:lstStyle/>
                    <a:p>
                      <a:r>
                        <a:rPr sz="2200" b="0" i="0">
                          <a:solidFill>
                            <a:srgbClr val="1F1F1F"/>
                          </a:solidFill>
                          <a:latin typeface="Arial"/>
                        </a:rPr>
                        <a:t>Object-pair relation samples</a:t>
                      </a:r>
                    </a:p>
                  </a:txBody>
                  <a:tcPr anchor="ctr" marL="137160" marR="137160">
                    <a:solidFill>
                      <a:srgbClr val="FFFFFF"/>
                    </a:solidFill>
                  </a:tcPr>
                </a:tc>
              </a:tr>
              <a:tr h="713232">
                <a:tc>
                  <a:txBody>
                    <a:bodyPr wrap="square"/>
                    <a:lstStyle/>
                    <a:p>
                      <a:r>
                        <a:rPr sz="2200" b="1" i="0">
                          <a:solidFill>
                            <a:srgbClr val="1F1F1F"/>
                          </a:solidFill>
                          <a:latin typeface="Arial"/>
                        </a:rPr>
                        <a:t>relation_dataset_corrected</a:t>
                      </a:r>
                    </a:p>
                  </a:txBody>
                  <a:tcPr anchor="ctr" marL="137160" marR="137160">
                    <a:solidFill>
                      <a:srgbClr val="F3F3F3"/>
                    </a:solidFill>
                  </a:tcPr>
                </a:tc>
                <a:tc>
                  <a:txBody>
                    <a:bodyPr wrap="square"/>
                    <a:lstStyle/>
                    <a:p>
                      <a:r>
                        <a:rPr sz="2200" b="0" i="0">
                          <a:solidFill>
                            <a:srgbClr val="1F1F1F"/>
                          </a:solidFill>
                          <a:latin typeface="Arial"/>
                        </a:rPr>
                        <a:t>Revised relation samples</a:t>
                      </a:r>
                    </a:p>
                  </a:txBody>
                  <a:tcPr anchor="ctr" marL="137160" marR="137160">
                    <a:solidFill>
                      <a:srgbClr val="F3F3F3"/>
                    </a:solidFill>
                  </a:tcPr>
                </a:tc>
              </a:tr>
              <a:tr h="713232">
                <a:tc>
                  <a:txBody>
                    <a:bodyPr wrap="square"/>
                    <a:lstStyle/>
                    <a:p>
                      <a:r>
                        <a:rPr sz="2200" b="1" i="0">
                          <a:solidFill>
                            <a:srgbClr val="1F1F1F"/>
                          </a:solidFill>
                          <a:latin typeface="Arial"/>
                        </a:rPr>
                        <a:t>dataset_manifest.json</a:t>
                      </a:r>
                    </a:p>
                  </a:txBody>
                  <a:tcPr anchor="ctr" marL="137160" marR="137160">
                    <a:solidFill>
                      <a:srgbClr val="FFFFFF"/>
                    </a:solidFill>
                  </a:tcPr>
                </a:tc>
                <a:tc>
                  <a:txBody>
                    <a:bodyPr wrap="square"/>
                    <a:lstStyle/>
                    <a:p>
                      <a:r>
                        <a:rPr sz="2200" b="0" i="0">
                          <a:solidFill>
                            <a:srgbClr val="1F1F1F"/>
                          </a:solidFill>
                          <a:latin typeface="Arial"/>
                        </a:rPr>
                        <a:t>Parts, fps and counts</a:t>
                      </a:r>
                    </a:p>
                  </a:txBody>
                  <a:tcPr anchor="ctr" marL="137160" marR="13716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Detector: YOLOv8s, Three Colab Runs and a Fine-tune</a:t>
            </a:r>
          </a:p>
        </p:txBody>
      </p:sp>
      <p:graphicFrame>
        <p:nvGraphicFramePr>
          <p:cNvPr id="4" name="Table 3"/>
          <p:cNvGraphicFramePr>
            <a:graphicFrameLocks noGrp="1"/>
          </p:cNvGraphicFramePr>
          <p:nvPr/>
        </p:nvGraphicFramePr>
        <p:xfrm>
          <a:off x="822960" y="2926080"/>
          <a:ext cx="8412480" cy="5760720"/>
        </p:xfrm>
        <a:graphic>
          <a:graphicData uri="http://schemas.openxmlformats.org/drawingml/2006/table">
            <a:tbl>
              <a:tblPr firstRow="0" bandRow="0">
                <a:tableStyleId>{5C22544A-7EE6-4342-B048-85BDC9FD1C3A}</a:tableStyleId>
              </a:tblPr>
              <a:tblGrid>
                <a:gridCol w="3383280"/>
                <a:gridCol w="5029200"/>
              </a:tblGrid>
              <a:tr h="822960">
                <a:tc>
                  <a:txBody>
                    <a:bodyPr wrap="square"/>
                    <a:lstStyle/>
                    <a:p>
                      <a:r>
                        <a:rPr sz="2200" b="1" i="0">
                          <a:solidFill>
                            <a:srgbClr val="FFFFFF"/>
                          </a:solidFill>
                          <a:latin typeface="Arial"/>
                        </a:rPr>
                        <a:t>Setting</a:t>
                      </a:r>
                    </a:p>
                  </a:txBody>
                  <a:tcPr anchor="ctr" marL="137160" marR="137160">
                    <a:solidFill>
                      <a:srgbClr val="B40347"/>
                    </a:solidFill>
                  </a:tcPr>
                </a:tc>
                <a:tc>
                  <a:txBody>
                    <a:bodyPr wrap="square"/>
                    <a:lstStyle/>
                    <a:p>
                      <a:r>
                        <a:rPr sz="2200" b="1" i="0">
                          <a:solidFill>
                            <a:srgbClr val="FFFFFF"/>
                          </a:solidFill>
                          <a:latin typeface="Arial"/>
                        </a:rPr>
                        <a:t>Value</a:t>
                      </a:r>
                    </a:p>
                  </a:txBody>
                  <a:tcPr anchor="ctr" marL="137160" marR="137160">
                    <a:solidFill>
                      <a:srgbClr val="B40347"/>
                    </a:solidFill>
                  </a:tcPr>
                </a:tc>
              </a:tr>
              <a:tr h="822960">
                <a:tc>
                  <a:txBody>
                    <a:bodyPr wrap="square"/>
                    <a:lstStyle/>
                    <a:p>
                      <a:r>
                        <a:rPr sz="2200" b="1" i="0">
                          <a:solidFill>
                            <a:srgbClr val="1F1F1F"/>
                          </a:solidFill>
                          <a:latin typeface="Arial"/>
                        </a:rPr>
                        <a:t>Base model</a:t>
                      </a:r>
                    </a:p>
                  </a:txBody>
                  <a:tcPr anchor="ctr" marL="137160" marR="137160">
                    <a:solidFill>
                      <a:srgbClr val="F3F3F3"/>
                    </a:solidFill>
                  </a:tcPr>
                </a:tc>
                <a:tc>
                  <a:txBody>
                    <a:bodyPr wrap="square"/>
                    <a:lstStyle/>
                    <a:p>
                      <a:r>
                        <a:rPr sz="2200" b="0" i="0">
                          <a:solidFill>
                            <a:srgbClr val="1F1F1F"/>
                          </a:solidFill>
                          <a:latin typeface="Arial"/>
                        </a:rPr>
                        <a:t>yolov8s.pt, pretrained</a:t>
                      </a:r>
                    </a:p>
                  </a:txBody>
                  <a:tcPr anchor="ctr" marL="137160" marR="137160">
                    <a:solidFill>
                      <a:srgbClr val="F3F3F3"/>
                    </a:solidFill>
                  </a:tcPr>
                </a:tc>
              </a:tr>
              <a:tr h="822960">
                <a:tc>
                  <a:txBody>
                    <a:bodyPr wrap="square"/>
                    <a:lstStyle/>
                    <a:p>
                      <a:r>
                        <a:rPr sz="2200" b="1" i="0">
                          <a:solidFill>
                            <a:srgbClr val="1F1F1F"/>
                          </a:solidFill>
                          <a:latin typeface="Arial"/>
                        </a:rPr>
                        <a:t>Input size</a:t>
                      </a:r>
                    </a:p>
                  </a:txBody>
                  <a:tcPr anchor="ctr" marL="137160" marR="137160">
                    <a:solidFill>
                      <a:srgbClr val="FFFFFF"/>
                    </a:solidFill>
                  </a:tcPr>
                </a:tc>
                <a:tc>
                  <a:txBody>
                    <a:bodyPr wrap="square"/>
                    <a:lstStyle/>
                    <a:p>
                      <a:r>
                        <a:rPr sz="2200" b="0" i="0">
                          <a:solidFill>
                            <a:srgbClr val="1F1F1F"/>
                          </a:solidFill>
                          <a:latin typeface="Arial"/>
                        </a:rPr>
                        <a:t>640 px</a:t>
                      </a:r>
                    </a:p>
                  </a:txBody>
                  <a:tcPr anchor="ctr" marL="137160" marR="137160">
                    <a:solidFill>
                      <a:srgbClr val="FFFFFF"/>
                    </a:solidFill>
                  </a:tcPr>
                </a:tc>
              </a:tr>
              <a:tr h="822960">
                <a:tc>
                  <a:txBody>
                    <a:bodyPr wrap="square"/>
                    <a:lstStyle/>
                    <a:p>
                      <a:r>
                        <a:rPr sz="2200" b="1" i="0">
                          <a:solidFill>
                            <a:srgbClr val="1F1F1F"/>
                          </a:solidFill>
                          <a:latin typeface="Arial"/>
                        </a:rPr>
                        <a:t>Epochs</a:t>
                      </a:r>
                    </a:p>
                  </a:txBody>
                  <a:tcPr anchor="ctr" marL="137160" marR="137160">
                    <a:solidFill>
                      <a:srgbClr val="F3F3F3"/>
                    </a:solidFill>
                  </a:tcPr>
                </a:tc>
                <a:tc>
                  <a:txBody>
                    <a:bodyPr wrap="square"/>
                    <a:lstStyle/>
                    <a:p>
                      <a:r>
                        <a:rPr sz="2200" b="0" i="0">
                          <a:solidFill>
                            <a:srgbClr val="1F1F1F"/>
                          </a:solidFill>
                          <a:latin typeface="Arial"/>
                        </a:rPr>
                        <a:t>10 per run, 3 fine-tune</a:t>
                      </a:r>
                    </a:p>
                  </a:txBody>
                  <a:tcPr anchor="ctr" marL="137160" marR="137160">
                    <a:solidFill>
                      <a:srgbClr val="F3F3F3"/>
                    </a:solidFill>
                  </a:tcPr>
                </a:tc>
              </a:tr>
              <a:tr h="822960">
                <a:tc>
                  <a:txBody>
                    <a:bodyPr wrap="square"/>
                    <a:lstStyle/>
                    <a:p>
                      <a:r>
                        <a:rPr sz="2200" b="1" i="0">
                          <a:solidFill>
                            <a:srgbClr val="1F1F1F"/>
                          </a:solidFill>
                          <a:latin typeface="Arial"/>
                        </a:rPr>
                        <a:t>Optimizer</a:t>
                      </a:r>
                    </a:p>
                  </a:txBody>
                  <a:tcPr anchor="ctr" marL="137160" marR="137160">
                    <a:solidFill>
                      <a:srgbClr val="FFFFFF"/>
                    </a:solidFill>
                  </a:tcPr>
                </a:tc>
                <a:tc>
                  <a:txBody>
                    <a:bodyPr wrap="square"/>
                    <a:lstStyle/>
                    <a:p>
                      <a:r>
                        <a:rPr sz="2200" b="0" i="0">
                          <a:solidFill>
                            <a:srgbClr val="1F1F1F"/>
                          </a:solidFill>
                          <a:latin typeface="Arial"/>
                        </a:rPr>
                        <a:t>auto (AdamW)</a:t>
                      </a:r>
                    </a:p>
                  </a:txBody>
                  <a:tcPr anchor="ctr" marL="137160" marR="137160">
                    <a:solidFill>
                      <a:srgbClr val="FFFFFF"/>
                    </a:solidFill>
                  </a:tcPr>
                </a:tc>
              </a:tr>
              <a:tr h="822960">
                <a:tc>
                  <a:txBody>
                    <a:bodyPr wrap="square"/>
                    <a:lstStyle/>
                    <a:p>
                      <a:r>
                        <a:rPr sz="2200" b="1" i="0">
                          <a:solidFill>
                            <a:srgbClr val="1F1F1F"/>
                          </a:solidFill>
                          <a:latin typeface="Arial"/>
                        </a:rPr>
                        <a:t>Augmentation</a:t>
                      </a:r>
                    </a:p>
                  </a:txBody>
                  <a:tcPr anchor="ctr" marL="137160" marR="137160">
                    <a:solidFill>
                      <a:srgbClr val="F3F3F3"/>
                    </a:solidFill>
                  </a:tcPr>
                </a:tc>
                <a:tc>
                  <a:txBody>
                    <a:bodyPr wrap="square"/>
                    <a:lstStyle/>
                    <a:p>
                      <a:r>
                        <a:rPr sz="2200" b="0" i="0">
                          <a:solidFill>
                            <a:srgbClr val="1F1F1F"/>
                          </a:solidFill>
                          <a:latin typeface="Arial"/>
                        </a:rPr>
                        <a:t>mosaic, flip 0.5, HSV</a:t>
                      </a:r>
                    </a:p>
                  </a:txBody>
                  <a:tcPr anchor="ctr" marL="137160" marR="137160">
                    <a:solidFill>
                      <a:srgbClr val="F3F3F3"/>
                    </a:solidFill>
                  </a:tcPr>
                </a:tc>
              </a:tr>
              <a:tr h="822960">
                <a:tc>
                  <a:txBody>
                    <a:bodyPr wrap="square"/>
                    <a:lstStyle/>
                    <a:p>
                      <a:r>
                        <a:rPr sz="2200" b="1" i="0">
                          <a:solidFill>
                            <a:srgbClr val="1F1F1F"/>
                          </a:solidFill>
                          <a:latin typeface="Arial"/>
                        </a:rPr>
                        <a:t>Hardware</a:t>
                      </a:r>
                    </a:p>
                  </a:txBody>
                  <a:tcPr anchor="ctr" marL="137160" marR="137160">
                    <a:solidFill>
                      <a:srgbClr val="FFFFFF"/>
                    </a:solidFill>
                  </a:tcPr>
                </a:tc>
                <a:tc>
                  <a:txBody>
                    <a:bodyPr wrap="square"/>
                    <a:lstStyle/>
                    <a:p>
                      <a:r>
                        <a:rPr sz="2200" b="0" i="0">
                          <a:solidFill>
                            <a:srgbClr val="1F1F1F"/>
                          </a:solidFill>
                          <a:latin typeface="Arial"/>
                        </a:rPr>
                        <a:t>Colab GPU, then M3 Pro Mac</a:t>
                      </a:r>
                    </a:p>
                  </a:txBody>
                  <a:tcPr anchor="ctr" marL="137160" marR="137160">
                    <a:solidFill>
                      <a:srgbClr val="FFFFFF"/>
                    </a:solidFill>
                  </a:tcPr>
                </a:tc>
              </a:tr>
            </a:tbl>
          </a:graphicData>
        </a:graphic>
      </p:graphicFrame>
      <p:sp>
        <p:nvSpPr>
          <p:cNvPr id="5" name="Rounded Rectangle 4"/>
          <p:cNvSpPr/>
          <p:nvPr/>
        </p:nvSpPr>
        <p:spPr>
          <a:xfrm>
            <a:off x="10058400" y="2926080"/>
            <a:ext cx="7498079" cy="1325880"/>
          </a:xfrm>
          <a:prstGeom prst="roundRect">
            <a:avLst>
              <a:gd name="adj" fmla="val 10000"/>
            </a:avLst>
          </a:prstGeom>
          <a:noFill/>
          <a:ln w="19050">
            <a:solidFill>
              <a:srgbClr val="66666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un"/>
          <p:cNvSpPr txBox="1"/>
          <p:nvPr/>
        </p:nvSpPr>
        <p:spPr>
          <a:xfrm>
            <a:off x="10332720" y="3063240"/>
            <a:ext cx="3291840" cy="548640"/>
          </a:xfrm>
          <a:prstGeom prst="rect">
            <a:avLst/>
          </a:prstGeom>
          <a:noFill/>
        </p:spPr>
        <p:txBody>
          <a:bodyPr wrap="square" anchor="t" lIns="45720" rIns="45720" tIns="27432" bIns="27432">
            <a:spAutoFit/>
          </a:bodyPr>
          <a:lstStyle/>
          <a:p>
            <a:pPr algn="l"/>
            <a:r>
              <a:rPr sz="2600" b="0" i="0">
                <a:solidFill>
                  <a:srgbClr val="1F1F1F"/>
                </a:solidFill>
                <a:latin typeface="Arial Black"/>
              </a:rPr>
              <a:t>Run 1</a:t>
            </a:r>
          </a:p>
        </p:txBody>
      </p:sp>
      <p:sp>
        <p:nvSpPr>
          <p:cNvPr id="7" name="Run batch"/>
          <p:cNvSpPr txBox="1"/>
          <p:nvPr/>
        </p:nvSpPr>
        <p:spPr>
          <a:xfrm>
            <a:off x="10332720" y="3657600"/>
            <a:ext cx="2743200" cy="411480"/>
          </a:xfrm>
          <a:prstGeom prst="rect">
            <a:avLst/>
          </a:prstGeom>
          <a:noFill/>
        </p:spPr>
        <p:txBody>
          <a:bodyPr wrap="square" anchor="t" lIns="45720" rIns="45720" tIns="27432" bIns="27432">
            <a:spAutoFit/>
          </a:bodyPr>
          <a:lstStyle/>
          <a:p>
            <a:pPr algn="l"/>
            <a:r>
              <a:rPr sz="1900" b="0" i="0">
                <a:solidFill>
                  <a:srgbClr val="666666"/>
                </a:solidFill>
                <a:latin typeface="Arial"/>
              </a:rPr>
              <a:t>batch 16</a:t>
            </a:r>
          </a:p>
        </p:txBody>
      </p:sp>
      <p:sp>
        <p:nvSpPr>
          <p:cNvPr id="8" name="Run note"/>
          <p:cNvSpPr txBox="1"/>
          <p:nvPr/>
        </p:nvSpPr>
        <p:spPr>
          <a:xfrm>
            <a:off x="13350240" y="3291840"/>
            <a:ext cx="4023360" cy="640080"/>
          </a:xfrm>
          <a:prstGeom prst="rect">
            <a:avLst/>
          </a:prstGeom>
          <a:noFill/>
        </p:spPr>
        <p:txBody>
          <a:bodyPr wrap="square" anchor="t" lIns="45720" rIns="45720" tIns="27432" bIns="27432">
            <a:spAutoFit/>
          </a:bodyPr>
          <a:lstStyle/>
          <a:p>
            <a:pPr algn="r"/>
            <a:r>
              <a:rPr sz="2000" b="0" i="0">
                <a:solidFill>
                  <a:srgbClr val="1F1F1F"/>
                </a:solidFill>
                <a:latin typeface="Arial"/>
              </a:rPr>
              <a:t>weights saved</a:t>
            </a:r>
          </a:p>
        </p:txBody>
      </p:sp>
      <p:sp>
        <p:nvSpPr>
          <p:cNvPr id="9" name="Rounded Rectangle 8"/>
          <p:cNvSpPr/>
          <p:nvPr/>
        </p:nvSpPr>
        <p:spPr>
          <a:xfrm>
            <a:off x="10058400" y="4480560"/>
            <a:ext cx="7498079" cy="1325880"/>
          </a:xfrm>
          <a:prstGeom prst="roundRect">
            <a:avLst>
              <a:gd name="adj" fmla="val 10000"/>
            </a:avLst>
          </a:prstGeom>
          <a:noFill/>
          <a:ln w="19050">
            <a:solidFill>
              <a:srgbClr val="66666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un"/>
          <p:cNvSpPr txBox="1"/>
          <p:nvPr/>
        </p:nvSpPr>
        <p:spPr>
          <a:xfrm>
            <a:off x="10332720" y="4617720"/>
            <a:ext cx="3291840" cy="548640"/>
          </a:xfrm>
          <a:prstGeom prst="rect">
            <a:avLst/>
          </a:prstGeom>
          <a:noFill/>
        </p:spPr>
        <p:txBody>
          <a:bodyPr wrap="square" anchor="t" lIns="45720" rIns="45720" tIns="27432" bIns="27432">
            <a:spAutoFit/>
          </a:bodyPr>
          <a:lstStyle/>
          <a:p>
            <a:pPr algn="l"/>
            <a:r>
              <a:rPr sz="2600" b="0" i="0">
                <a:solidFill>
                  <a:srgbClr val="1F1F1F"/>
                </a:solidFill>
                <a:latin typeface="Arial Black"/>
              </a:rPr>
              <a:t>Run 2</a:t>
            </a:r>
          </a:p>
        </p:txBody>
      </p:sp>
      <p:sp>
        <p:nvSpPr>
          <p:cNvPr id="11" name="Run batch"/>
          <p:cNvSpPr txBox="1"/>
          <p:nvPr/>
        </p:nvSpPr>
        <p:spPr>
          <a:xfrm>
            <a:off x="10332720" y="5212080"/>
            <a:ext cx="2743200" cy="411480"/>
          </a:xfrm>
          <a:prstGeom prst="rect">
            <a:avLst/>
          </a:prstGeom>
          <a:noFill/>
        </p:spPr>
        <p:txBody>
          <a:bodyPr wrap="square" anchor="t" lIns="45720" rIns="45720" tIns="27432" bIns="27432">
            <a:spAutoFit/>
          </a:bodyPr>
          <a:lstStyle/>
          <a:p>
            <a:pPr algn="l"/>
            <a:r>
              <a:rPr sz="1900" b="0" i="0">
                <a:solidFill>
                  <a:srgbClr val="666666"/>
                </a:solidFill>
                <a:latin typeface="Arial"/>
              </a:rPr>
              <a:t>batch 32</a:t>
            </a:r>
          </a:p>
        </p:txBody>
      </p:sp>
      <p:sp>
        <p:nvSpPr>
          <p:cNvPr id="12" name="Run note"/>
          <p:cNvSpPr txBox="1"/>
          <p:nvPr/>
        </p:nvSpPr>
        <p:spPr>
          <a:xfrm>
            <a:off x="13350240" y="4846320"/>
            <a:ext cx="4023360" cy="640080"/>
          </a:xfrm>
          <a:prstGeom prst="rect">
            <a:avLst/>
          </a:prstGeom>
          <a:noFill/>
        </p:spPr>
        <p:txBody>
          <a:bodyPr wrap="square" anchor="t" lIns="45720" rIns="45720" tIns="27432" bIns="27432">
            <a:spAutoFit/>
          </a:bodyPr>
          <a:lstStyle/>
          <a:p>
            <a:pPr algn="r"/>
            <a:r>
              <a:rPr sz="2000" b="0" i="0">
                <a:solidFill>
                  <a:srgbClr val="1F1F1F"/>
                </a:solidFill>
                <a:latin typeface="Arial"/>
              </a:rPr>
              <a:t>weights saved</a:t>
            </a:r>
          </a:p>
        </p:txBody>
      </p:sp>
      <p:sp>
        <p:nvSpPr>
          <p:cNvPr id="13" name="Rounded Rectangle 12"/>
          <p:cNvSpPr/>
          <p:nvPr/>
        </p:nvSpPr>
        <p:spPr>
          <a:xfrm>
            <a:off x="10058400" y="6035040"/>
            <a:ext cx="7498079" cy="1325880"/>
          </a:xfrm>
          <a:prstGeom prst="roundRect">
            <a:avLst>
              <a:gd name="adj" fmla="val 10000"/>
            </a:avLst>
          </a:prstGeom>
          <a:noFill/>
          <a:ln w="1905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un"/>
          <p:cNvSpPr txBox="1"/>
          <p:nvPr/>
        </p:nvSpPr>
        <p:spPr>
          <a:xfrm>
            <a:off x="10332720" y="6172200"/>
            <a:ext cx="3291840" cy="548640"/>
          </a:xfrm>
          <a:prstGeom prst="rect">
            <a:avLst/>
          </a:prstGeom>
          <a:noFill/>
        </p:spPr>
        <p:txBody>
          <a:bodyPr wrap="square" anchor="t" lIns="45720" rIns="45720" tIns="27432" bIns="27432">
            <a:spAutoFit/>
          </a:bodyPr>
          <a:lstStyle/>
          <a:p>
            <a:pPr algn="l"/>
            <a:r>
              <a:rPr sz="2600" b="0" i="0">
                <a:solidFill>
                  <a:srgbClr val="B40347"/>
                </a:solidFill>
                <a:latin typeface="Arial Black"/>
              </a:rPr>
              <a:t>Run 3</a:t>
            </a:r>
          </a:p>
        </p:txBody>
      </p:sp>
      <p:sp>
        <p:nvSpPr>
          <p:cNvPr id="15" name="Run batch"/>
          <p:cNvSpPr txBox="1"/>
          <p:nvPr/>
        </p:nvSpPr>
        <p:spPr>
          <a:xfrm>
            <a:off x="10332720" y="6766559"/>
            <a:ext cx="2743200" cy="411480"/>
          </a:xfrm>
          <a:prstGeom prst="rect">
            <a:avLst/>
          </a:prstGeom>
          <a:noFill/>
        </p:spPr>
        <p:txBody>
          <a:bodyPr wrap="square" anchor="t" lIns="45720" rIns="45720" tIns="27432" bIns="27432">
            <a:spAutoFit/>
          </a:bodyPr>
          <a:lstStyle/>
          <a:p>
            <a:pPr algn="l"/>
            <a:r>
              <a:rPr sz="1900" b="0" i="0">
                <a:solidFill>
                  <a:srgbClr val="666666"/>
                </a:solidFill>
                <a:latin typeface="Arial"/>
              </a:rPr>
              <a:t>batch 32</a:t>
            </a:r>
          </a:p>
        </p:txBody>
      </p:sp>
      <p:sp>
        <p:nvSpPr>
          <p:cNvPr id="16" name="Run note"/>
          <p:cNvSpPr txBox="1"/>
          <p:nvPr/>
        </p:nvSpPr>
        <p:spPr>
          <a:xfrm>
            <a:off x="13350240" y="6400800"/>
            <a:ext cx="4023360" cy="640080"/>
          </a:xfrm>
          <a:prstGeom prst="rect">
            <a:avLst/>
          </a:prstGeom>
          <a:noFill/>
        </p:spPr>
        <p:txBody>
          <a:bodyPr wrap="square" anchor="t" lIns="45720" rIns="45720" tIns="27432" bIns="27432">
            <a:spAutoFit/>
          </a:bodyPr>
          <a:lstStyle/>
          <a:p>
            <a:pPr algn="r"/>
            <a:r>
              <a:rPr sz="2000" b="0" i="0">
                <a:solidFill>
                  <a:srgbClr val="1F1F1F"/>
                </a:solidFill>
                <a:latin typeface="Arial"/>
              </a:rPr>
              <a:t>best mAP50 0.263</a:t>
            </a:r>
          </a:p>
        </p:txBody>
      </p:sp>
      <p:sp>
        <p:nvSpPr>
          <p:cNvPr id="17" name="Rounded Rectangle 16"/>
          <p:cNvSpPr/>
          <p:nvPr/>
        </p:nvSpPr>
        <p:spPr>
          <a:xfrm>
            <a:off x="10058400" y="7589520"/>
            <a:ext cx="7498079" cy="1325880"/>
          </a:xfrm>
          <a:prstGeom prst="roundRect">
            <a:avLst>
              <a:gd name="adj" fmla="val 10000"/>
            </a:avLst>
          </a:prstGeom>
          <a:solidFill>
            <a:srgbClr val="F3F3F3"/>
          </a:solid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un"/>
          <p:cNvSpPr txBox="1"/>
          <p:nvPr/>
        </p:nvSpPr>
        <p:spPr>
          <a:xfrm>
            <a:off x="10332720" y="7726680"/>
            <a:ext cx="3291840" cy="548640"/>
          </a:xfrm>
          <a:prstGeom prst="rect">
            <a:avLst/>
          </a:prstGeom>
          <a:noFill/>
        </p:spPr>
        <p:txBody>
          <a:bodyPr wrap="square" anchor="t" lIns="45720" rIns="45720" tIns="27432" bIns="27432">
            <a:spAutoFit/>
          </a:bodyPr>
          <a:lstStyle/>
          <a:p>
            <a:pPr algn="l"/>
            <a:r>
              <a:rPr sz="2600" b="0" i="0">
                <a:solidFill>
                  <a:srgbClr val="B40347"/>
                </a:solidFill>
                <a:latin typeface="Arial Black"/>
              </a:rPr>
              <a:t>Fine-tune</a:t>
            </a:r>
          </a:p>
        </p:txBody>
      </p:sp>
      <p:sp>
        <p:nvSpPr>
          <p:cNvPr id="19" name="Run batch"/>
          <p:cNvSpPr txBox="1"/>
          <p:nvPr/>
        </p:nvSpPr>
        <p:spPr>
          <a:xfrm>
            <a:off x="10332720" y="8321040"/>
            <a:ext cx="2743200" cy="411480"/>
          </a:xfrm>
          <a:prstGeom prst="rect">
            <a:avLst/>
          </a:prstGeom>
          <a:noFill/>
        </p:spPr>
        <p:txBody>
          <a:bodyPr wrap="square" anchor="t" lIns="45720" rIns="45720" tIns="27432" bIns="27432">
            <a:spAutoFit/>
          </a:bodyPr>
          <a:lstStyle/>
          <a:p>
            <a:pPr algn="l"/>
            <a:r>
              <a:rPr sz="1900" b="0" i="0">
                <a:solidFill>
                  <a:srgbClr val="666666"/>
                </a:solidFill>
                <a:latin typeface="Arial"/>
              </a:rPr>
              <a:t>batch 16</a:t>
            </a:r>
          </a:p>
        </p:txBody>
      </p:sp>
      <p:sp>
        <p:nvSpPr>
          <p:cNvPr id="20" name="Run note"/>
          <p:cNvSpPr txBox="1"/>
          <p:nvPr/>
        </p:nvSpPr>
        <p:spPr>
          <a:xfrm>
            <a:off x="13350240" y="7955280"/>
            <a:ext cx="4023360" cy="640080"/>
          </a:xfrm>
          <a:prstGeom prst="rect">
            <a:avLst/>
          </a:prstGeom>
          <a:noFill/>
        </p:spPr>
        <p:txBody>
          <a:bodyPr wrap="square" anchor="t" lIns="45720" rIns="45720" tIns="27432" bIns="27432">
            <a:spAutoFit/>
          </a:bodyPr>
          <a:lstStyle/>
          <a:p>
            <a:pPr algn="r"/>
            <a:r>
              <a:rPr sz="2000" b="0" i="0">
                <a:solidFill>
                  <a:srgbClr val="1F1F1F"/>
                </a:solidFill>
                <a:latin typeface="Arial"/>
              </a:rPr>
              <a:t>from run 3, all parts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Training Results: mAP Plateaus as Validation Loss Stays Flat</a:t>
            </a:r>
          </a:p>
        </p:txBody>
      </p:sp>
      <p:graphicFrame>
        <p:nvGraphicFramePr>
          <p:cNvPr id="4" name="Chart 3"/>
          <p:cNvGraphicFramePr>
            <a:graphicFrameLocks noGrp="1"/>
          </p:cNvGraphicFramePr>
          <p:nvPr/>
        </p:nvGraphicFramePr>
        <p:xfrm>
          <a:off x="731520" y="2743200"/>
          <a:ext cx="8229600" cy="59436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9326880" y="2743200"/>
          <a:ext cx="8229600" cy="5943600"/>
        </p:xfrm>
        <a:graphic>
          <a:graphicData uri="http://schemas.openxmlformats.org/drawingml/2006/chart">
            <c:chart xmlns:c="http://schemas.openxmlformats.org/drawingml/2006/chart" r:id="rId3"/>
          </a:graphicData>
        </a:graphic>
      </p:graphicFrame>
      <p:sp>
        <p:nvSpPr>
          <p:cNvPr id="6" name="Caption"/>
          <p:cNvSpPr txBox="1"/>
          <p:nvPr/>
        </p:nvSpPr>
        <p:spPr>
          <a:xfrm>
            <a:off x="731520" y="8823960"/>
            <a:ext cx="16824960" cy="914400"/>
          </a:xfrm>
          <a:prstGeom prst="rect">
            <a:avLst/>
          </a:prstGeom>
          <a:noFill/>
        </p:spPr>
        <p:txBody>
          <a:bodyPr wrap="square" anchor="t" lIns="45720" rIns="45720" tIns="27432" bIns="27432">
            <a:spAutoFit/>
          </a:bodyPr>
          <a:lstStyle/>
          <a:p>
            <a:pPr algn="l"/>
            <a:r>
              <a:rPr sz="2000" b="0" i="0">
                <a:solidFill>
                  <a:srgbClr val="666666"/>
                </a:solidFill>
                <a:latin typeface="Arial"/>
              </a:rPr>
              <a:t>Training loss keeps falling while validation loss stays near 2.1, a sign of over-fitting. Full run: 10 epochs, about 79 minutes on one Colab GPU.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Result Metrics: Peak 0.263 mAP50 at Epoch 7</a:t>
            </a:r>
          </a:p>
        </p:txBody>
      </p:sp>
      <p:sp>
        <p:nvSpPr>
          <p:cNvPr id="4" name="Rounded Rectangle 3"/>
          <p:cNvSpPr/>
          <p:nvPr/>
        </p:nvSpPr>
        <p:spPr>
          <a:xfrm>
            <a:off x="822960" y="2926080"/>
            <a:ext cx="3931920" cy="30175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5400" b="1" i="0">
                <a:solidFill>
                  <a:srgbClr val="B40347"/>
                </a:solidFill>
                <a:latin typeface="Arial"/>
              </a:rPr>
              <a:t>0.263</a:t>
            </a:r>
          </a:p>
          <a:p>
            <a:pPr algn="ctr"/>
            <a:r>
              <a:rPr sz="1900" b="0" i="0">
                <a:solidFill>
                  <a:srgbClr val="666666"/>
                </a:solidFill>
                <a:latin typeface="Arial"/>
              </a:rPr>
              <a:t>mAP50, best (epoch 7)</a:t>
            </a:r>
          </a:p>
        </p:txBody>
      </p:sp>
      <p:sp>
        <p:nvSpPr>
          <p:cNvPr id="5" name="Rounded Rectangle 4"/>
          <p:cNvSpPr/>
          <p:nvPr/>
        </p:nvSpPr>
        <p:spPr>
          <a:xfrm>
            <a:off x="5029200" y="2926080"/>
            <a:ext cx="3931920" cy="30175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5400" b="1" i="0">
                <a:solidFill>
                  <a:srgbClr val="2A9D8F"/>
                </a:solidFill>
                <a:latin typeface="Arial"/>
              </a:rPr>
              <a:t>0.153</a:t>
            </a:r>
          </a:p>
          <a:p>
            <a:pPr algn="ctr"/>
            <a:r>
              <a:rPr sz="1900" b="0" i="0">
                <a:solidFill>
                  <a:srgbClr val="666666"/>
                </a:solidFill>
                <a:latin typeface="Arial"/>
              </a:rPr>
              <a:t>mAP50-95, best</a:t>
            </a:r>
          </a:p>
        </p:txBody>
      </p:sp>
      <p:sp>
        <p:nvSpPr>
          <p:cNvPr id="6" name="Rounded Rectangle 5"/>
          <p:cNvSpPr/>
          <p:nvPr/>
        </p:nvSpPr>
        <p:spPr>
          <a:xfrm>
            <a:off x="822960" y="6217920"/>
            <a:ext cx="3931920" cy="30175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5400" b="1" i="0">
                <a:solidFill>
                  <a:srgbClr val="E76F51"/>
                </a:solidFill>
                <a:latin typeface="Arial"/>
              </a:rPr>
              <a:t>0.363</a:t>
            </a:r>
          </a:p>
          <a:p>
            <a:pPr algn="ctr"/>
            <a:r>
              <a:rPr sz="1900" b="0" i="0">
                <a:solidFill>
                  <a:srgbClr val="666666"/>
                </a:solidFill>
                <a:latin typeface="Arial"/>
              </a:rPr>
              <a:t>precision, final epoch</a:t>
            </a:r>
          </a:p>
        </p:txBody>
      </p:sp>
      <p:sp>
        <p:nvSpPr>
          <p:cNvPr id="7" name="Rounded Rectangle 6"/>
          <p:cNvSpPr/>
          <p:nvPr/>
        </p:nvSpPr>
        <p:spPr>
          <a:xfrm>
            <a:off x="5029200" y="6217920"/>
            <a:ext cx="3931920" cy="30175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5400" b="1" i="0">
                <a:solidFill>
                  <a:srgbClr val="3F51B5"/>
                </a:solidFill>
                <a:latin typeface="Arial"/>
              </a:rPr>
              <a:t>0.251</a:t>
            </a:r>
          </a:p>
          <a:p>
            <a:pPr algn="ctr"/>
            <a:r>
              <a:rPr sz="1900" b="0" i="0">
                <a:solidFill>
                  <a:srgbClr val="666666"/>
                </a:solidFill>
                <a:latin typeface="Arial"/>
              </a:rPr>
              <a:t>recall, final epoch</a:t>
            </a:r>
          </a:p>
        </p:txBody>
      </p:sp>
      <p:pic>
        <p:nvPicPr>
          <p:cNvPr id="8" name="Picture 7" descr="BoxPR_curve.png"/>
          <p:cNvPicPr>
            <a:picLocks noChangeAspect="1"/>
          </p:cNvPicPr>
          <p:nvPr/>
        </p:nvPicPr>
        <p:blipFill>
          <a:blip r:embed="rId2"/>
          <a:stretch>
            <a:fillRect/>
          </a:stretch>
        </p:blipFill>
        <p:spPr>
          <a:xfrm>
            <a:off x="9509760" y="2834640"/>
            <a:ext cx="8046720" cy="5364480"/>
          </a:xfrm>
          <a:prstGeom prst="rect">
            <a:avLst/>
          </a:prstGeom>
        </p:spPr>
      </p:pic>
      <p:sp>
        <p:nvSpPr>
          <p:cNvPr id="9" name="Caption"/>
          <p:cNvSpPr txBox="1"/>
          <p:nvPr/>
        </p:nvSpPr>
        <p:spPr>
          <a:xfrm>
            <a:off x="9509760" y="8183879"/>
            <a:ext cx="8046720" cy="822960"/>
          </a:xfrm>
          <a:prstGeom prst="rect">
            <a:avLst/>
          </a:prstGeom>
          <a:noFill/>
        </p:spPr>
        <p:txBody>
          <a:bodyPr wrap="square" anchor="t" lIns="45720" rIns="45720" tIns="27432" bIns="27432">
            <a:spAutoFit/>
          </a:bodyPr>
          <a:lstStyle/>
          <a:p>
            <a:pPr algn="l"/>
            <a:r>
              <a:rPr sz="1800" b="0" i="1">
                <a:solidFill>
                  <a:srgbClr val="666666"/>
                </a:solidFill>
                <a:latin typeface="Arial"/>
              </a:rPr>
              <a:t>Precision-recall curve: all classes (blue) and each class (grey).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Fine-tune on All Parts: Detector Results</a:t>
            </a:r>
          </a:p>
        </p:txBody>
      </p:sp>
      <p:graphicFrame>
        <p:nvGraphicFramePr>
          <p:cNvPr id="4" name="Chart 3"/>
          <p:cNvGraphicFramePr>
            <a:graphicFrameLocks noGrp="1"/>
          </p:cNvGraphicFramePr>
          <p:nvPr/>
        </p:nvGraphicFramePr>
        <p:xfrm>
          <a:off x="731520" y="2743200"/>
          <a:ext cx="7863840" cy="5486400"/>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9052560" y="3017520"/>
          <a:ext cx="8503920" cy="3657600"/>
        </p:xfrm>
        <a:graphic>
          <a:graphicData uri="http://schemas.openxmlformats.org/drawingml/2006/table">
            <a:tbl>
              <a:tblPr firstRow="0" bandRow="0">
                <a:tableStyleId>{5C22544A-7EE6-4342-B048-85BDC9FD1C3A}</a:tableStyleId>
              </a:tblPr>
              <a:tblGrid>
                <a:gridCol w="3017520"/>
                <a:gridCol w="1097280"/>
                <a:gridCol w="1097280"/>
                <a:gridCol w="1645920"/>
                <a:gridCol w="1645920"/>
              </a:tblGrid>
              <a:tr h="731520">
                <a:tc>
                  <a:txBody>
                    <a:bodyPr wrap="square"/>
                    <a:lstStyle/>
                    <a:p>
                      <a:r>
                        <a:rPr sz="1900" b="1" i="0">
                          <a:solidFill>
                            <a:srgbClr val="FFFFFF"/>
                          </a:solidFill>
                          <a:latin typeface="Arial"/>
                        </a:rPr>
                        <a:t/>
                      </a:r>
                    </a:p>
                  </a:txBody>
                  <a:tcPr anchor="ctr" marL="137160" marR="137160">
                    <a:solidFill>
                      <a:srgbClr val="B40347"/>
                    </a:solidFill>
                  </a:tcPr>
                </a:tc>
                <a:tc>
                  <a:txBody>
                    <a:bodyPr wrap="square"/>
                    <a:lstStyle/>
                    <a:p>
                      <a:r>
                        <a:rPr sz="1900" b="1" i="0">
                          <a:solidFill>
                            <a:srgbClr val="FFFFFF"/>
                          </a:solidFill>
                          <a:latin typeface="Arial"/>
                        </a:rPr>
                        <a:t>P</a:t>
                      </a:r>
                    </a:p>
                  </a:txBody>
                  <a:tcPr anchor="ctr" marL="137160" marR="137160">
                    <a:solidFill>
                      <a:srgbClr val="B40347"/>
                    </a:solidFill>
                  </a:tcPr>
                </a:tc>
                <a:tc>
                  <a:txBody>
                    <a:bodyPr wrap="square"/>
                    <a:lstStyle/>
                    <a:p>
                      <a:r>
                        <a:rPr sz="1900" b="1" i="0">
                          <a:solidFill>
                            <a:srgbClr val="FFFFFF"/>
                          </a:solidFill>
                          <a:latin typeface="Arial"/>
                        </a:rPr>
                        <a:t>R</a:t>
                      </a:r>
                    </a:p>
                  </a:txBody>
                  <a:tcPr anchor="ctr" marL="137160" marR="137160">
                    <a:solidFill>
                      <a:srgbClr val="B40347"/>
                    </a:solidFill>
                  </a:tcPr>
                </a:tc>
                <a:tc>
                  <a:txBody>
                    <a:bodyPr wrap="square"/>
                    <a:lstStyle/>
                    <a:p>
                      <a:r>
                        <a:rPr sz="1900" b="1" i="0">
                          <a:solidFill>
                            <a:srgbClr val="FFFFFF"/>
                          </a:solidFill>
                          <a:latin typeface="Arial"/>
                        </a:rPr>
                        <a:t>mAP50</a:t>
                      </a:r>
                    </a:p>
                  </a:txBody>
                  <a:tcPr anchor="ctr" marL="137160" marR="137160">
                    <a:solidFill>
                      <a:srgbClr val="B40347"/>
                    </a:solidFill>
                  </a:tcPr>
                </a:tc>
                <a:tc>
                  <a:txBody>
                    <a:bodyPr wrap="square"/>
                    <a:lstStyle/>
                    <a:p>
                      <a:r>
                        <a:rPr sz="1900" b="1" i="0">
                          <a:solidFill>
                            <a:srgbClr val="FFFFFF"/>
                          </a:solidFill>
                          <a:latin typeface="Arial"/>
                        </a:rPr>
                        <a:t>mAP50-95</a:t>
                      </a:r>
                    </a:p>
                  </a:txBody>
                  <a:tcPr anchor="ctr" marL="137160" marR="137160">
                    <a:solidFill>
                      <a:srgbClr val="B40347"/>
                    </a:solidFill>
                  </a:tcPr>
                </a:tc>
              </a:tr>
              <a:tr h="731520">
                <a:tc>
                  <a:txBody>
                    <a:bodyPr wrap="square"/>
                    <a:lstStyle/>
                    <a:p>
                      <a:r>
                        <a:rPr sz="1900" b="1" i="0">
                          <a:solidFill>
                            <a:srgbClr val="1F1F1F"/>
                          </a:solidFill>
                          <a:latin typeface="Arial"/>
                        </a:rPr>
                        <a:t>Baseline</a:t>
                      </a:r>
                    </a:p>
                  </a:txBody>
                  <a:tcPr anchor="ctr" marL="137160" marR="137160">
                    <a:solidFill>
                      <a:srgbClr val="F3F3F3"/>
                    </a:solidFill>
                  </a:tcPr>
                </a:tc>
                <a:tc>
                  <a:txBody>
                    <a:bodyPr wrap="square"/>
                    <a:lstStyle/>
                    <a:p>
                      <a:r>
                        <a:rPr sz="1900" b="0" i="0">
                          <a:solidFill>
                            <a:srgbClr val="1F1F1F"/>
                          </a:solidFill>
                          <a:latin typeface="Arial"/>
                        </a:rPr>
                        <a:t>0.381</a:t>
                      </a:r>
                    </a:p>
                  </a:txBody>
                  <a:tcPr anchor="ctr" marL="137160" marR="137160">
                    <a:solidFill>
                      <a:srgbClr val="F3F3F3"/>
                    </a:solidFill>
                  </a:tcPr>
                </a:tc>
                <a:tc>
                  <a:txBody>
                    <a:bodyPr wrap="square"/>
                    <a:lstStyle/>
                    <a:p>
                      <a:r>
                        <a:rPr sz="1900" b="0" i="0">
                          <a:solidFill>
                            <a:srgbClr val="1F1F1F"/>
                          </a:solidFill>
                          <a:latin typeface="Arial"/>
                        </a:rPr>
                        <a:t>0.285</a:t>
                      </a:r>
                    </a:p>
                  </a:txBody>
                  <a:tcPr anchor="ctr" marL="137160" marR="137160">
                    <a:solidFill>
                      <a:srgbClr val="F3F3F3"/>
                    </a:solidFill>
                  </a:tcPr>
                </a:tc>
                <a:tc>
                  <a:txBody>
                    <a:bodyPr wrap="square"/>
                    <a:lstStyle/>
                    <a:p>
                      <a:r>
                        <a:rPr sz="1900" b="0" i="0">
                          <a:solidFill>
                            <a:srgbClr val="1F1F1F"/>
                          </a:solidFill>
                          <a:latin typeface="Arial"/>
                        </a:rPr>
                        <a:t>0.2635</a:t>
                      </a:r>
                    </a:p>
                  </a:txBody>
                  <a:tcPr anchor="ctr" marL="137160" marR="137160">
                    <a:solidFill>
                      <a:srgbClr val="F3F3F3"/>
                    </a:solidFill>
                  </a:tcPr>
                </a:tc>
                <a:tc>
                  <a:txBody>
                    <a:bodyPr wrap="square"/>
                    <a:lstStyle/>
                    <a:p>
                      <a:r>
                        <a:rPr sz="1900" b="0" i="0">
                          <a:solidFill>
                            <a:srgbClr val="1F1F1F"/>
                          </a:solidFill>
                          <a:latin typeface="Arial"/>
                        </a:rPr>
                        <a:t>0.1526</a:t>
                      </a:r>
                    </a:p>
                  </a:txBody>
                  <a:tcPr anchor="ctr" marL="137160" marR="137160">
                    <a:solidFill>
                      <a:srgbClr val="F3F3F3"/>
                    </a:solidFill>
                  </a:tcPr>
                </a:tc>
              </a:tr>
              <a:tr h="731520">
                <a:tc>
                  <a:txBody>
                    <a:bodyPr wrap="square"/>
                    <a:lstStyle/>
                    <a:p>
                      <a:r>
                        <a:rPr sz="1900" b="1" i="0">
                          <a:solidFill>
                            <a:srgbClr val="1F1F1F"/>
                          </a:solidFill>
                          <a:latin typeface="Arial"/>
                        </a:rPr>
                        <a:t>Epoch 1</a:t>
                      </a:r>
                    </a:p>
                  </a:txBody>
                  <a:tcPr anchor="ctr" marL="137160" marR="137160">
                    <a:solidFill>
                      <a:srgbClr val="FFFFFF"/>
                    </a:solidFill>
                  </a:tcPr>
                </a:tc>
                <a:tc>
                  <a:txBody>
                    <a:bodyPr wrap="square"/>
                    <a:lstStyle/>
                    <a:p>
                      <a:r>
                        <a:rPr sz="1900" b="0" i="0">
                          <a:solidFill>
                            <a:srgbClr val="1F1F1F"/>
                          </a:solidFill>
                          <a:latin typeface="Arial"/>
                        </a:rPr>
                        <a:t>0.410</a:t>
                      </a:r>
                    </a:p>
                  </a:txBody>
                  <a:tcPr anchor="ctr" marL="137160" marR="137160">
                    <a:solidFill>
                      <a:srgbClr val="FFFFFF"/>
                    </a:solidFill>
                  </a:tcPr>
                </a:tc>
                <a:tc>
                  <a:txBody>
                    <a:bodyPr wrap="square"/>
                    <a:lstStyle/>
                    <a:p>
                      <a:r>
                        <a:rPr sz="1900" b="0" i="0">
                          <a:solidFill>
                            <a:srgbClr val="1F1F1F"/>
                          </a:solidFill>
                          <a:latin typeface="Arial"/>
                        </a:rPr>
                        <a:t>0.235</a:t>
                      </a:r>
                    </a:p>
                  </a:txBody>
                  <a:tcPr anchor="ctr" marL="137160" marR="137160">
                    <a:solidFill>
                      <a:srgbClr val="FFFFFF"/>
                    </a:solidFill>
                  </a:tcPr>
                </a:tc>
                <a:tc>
                  <a:txBody>
                    <a:bodyPr wrap="square"/>
                    <a:lstStyle/>
                    <a:p>
                      <a:r>
                        <a:rPr sz="1900" b="0" i="0">
                          <a:solidFill>
                            <a:srgbClr val="1F1F1F"/>
                          </a:solidFill>
                          <a:latin typeface="Arial"/>
                        </a:rPr>
                        <a:t>0.2492</a:t>
                      </a:r>
                    </a:p>
                  </a:txBody>
                  <a:tcPr anchor="ctr" marL="137160" marR="137160">
                    <a:solidFill>
                      <a:srgbClr val="FFFFFF"/>
                    </a:solidFill>
                  </a:tcPr>
                </a:tc>
                <a:tc>
                  <a:txBody>
                    <a:bodyPr wrap="square"/>
                    <a:lstStyle/>
                    <a:p>
                      <a:r>
                        <a:rPr sz="1900" b="0" i="0">
                          <a:solidFill>
                            <a:srgbClr val="1F1F1F"/>
                          </a:solidFill>
                          <a:latin typeface="Arial"/>
                        </a:rPr>
                        <a:t>0.1471</a:t>
                      </a:r>
                    </a:p>
                  </a:txBody>
                  <a:tcPr anchor="ctr" marL="137160" marR="137160">
                    <a:solidFill>
                      <a:srgbClr val="FFFFFF"/>
                    </a:solidFill>
                  </a:tcPr>
                </a:tc>
              </a:tr>
              <a:tr h="731520">
                <a:tc>
                  <a:txBody>
                    <a:bodyPr wrap="square"/>
                    <a:lstStyle/>
                    <a:p>
                      <a:r>
                        <a:rPr sz="1900" b="1" i="0">
                          <a:solidFill>
                            <a:srgbClr val="1F1F1F"/>
                          </a:solidFill>
                          <a:latin typeface="Arial"/>
                        </a:rPr>
                        <a:t>Epoch 2</a:t>
                      </a:r>
                    </a:p>
                  </a:txBody>
                  <a:tcPr anchor="ctr" marL="137160" marR="137160">
                    <a:solidFill>
                      <a:srgbClr val="F3F3F3"/>
                    </a:solidFill>
                  </a:tcPr>
                </a:tc>
                <a:tc>
                  <a:txBody>
                    <a:bodyPr wrap="square"/>
                    <a:lstStyle/>
                    <a:p>
                      <a:r>
                        <a:rPr sz="1900" b="0" i="0">
                          <a:solidFill>
                            <a:srgbClr val="1F1F1F"/>
                          </a:solidFill>
                          <a:latin typeface="Arial"/>
                        </a:rPr>
                        <a:t>0.407</a:t>
                      </a:r>
                    </a:p>
                  </a:txBody>
                  <a:tcPr anchor="ctr" marL="137160" marR="137160">
                    <a:solidFill>
                      <a:srgbClr val="F3F3F3"/>
                    </a:solidFill>
                  </a:tcPr>
                </a:tc>
                <a:tc>
                  <a:txBody>
                    <a:bodyPr wrap="square"/>
                    <a:lstStyle/>
                    <a:p>
                      <a:r>
                        <a:rPr sz="1900" b="0" i="0">
                          <a:solidFill>
                            <a:srgbClr val="1F1F1F"/>
                          </a:solidFill>
                          <a:latin typeface="Arial"/>
                        </a:rPr>
                        <a:t>0.272</a:t>
                      </a:r>
                    </a:p>
                  </a:txBody>
                  <a:tcPr anchor="ctr" marL="137160" marR="137160">
                    <a:solidFill>
                      <a:srgbClr val="F3F3F3"/>
                    </a:solidFill>
                  </a:tcPr>
                </a:tc>
                <a:tc>
                  <a:txBody>
                    <a:bodyPr wrap="square"/>
                    <a:lstStyle/>
                    <a:p>
                      <a:r>
                        <a:rPr sz="1900" b="0" i="0">
                          <a:solidFill>
                            <a:srgbClr val="1F1F1F"/>
                          </a:solidFill>
                          <a:latin typeface="Arial"/>
                        </a:rPr>
                        <a:t>0.2556</a:t>
                      </a:r>
                    </a:p>
                  </a:txBody>
                  <a:tcPr anchor="ctr" marL="137160" marR="137160">
                    <a:solidFill>
                      <a:srgbClr val="F3F3F3"/>
                    </a:solidFill>
                  </a:tcPr>
                </a:tc>
                <a:tc>
                  <a:txBody>
                    <a:bodyPr wrap="square"/>
                    <a:lstStyle/>
                    <a:p>
                      <a:r>
                        <a:rPr sz="1900" b="0" i="0">
                          <a:solidFill>
                            <a:srgbClr val="1F1F1F"/>
                          </a:solidFill>
                          <a:latin typeface="Arial"/>
                        </a:rPr>
                        <a:t>0.1508</a:t>
                      </a:r>
                    </a:p>
                  </a:txBody>
                  <a:tcPr anchor="ctr" marL="137160" marR="137160">
                    <a:solidFill>
                      <a:srgbClr val="F3F3F3"/>
                    </a:solidFill>
                  </a:tcPr>
                </a:tc>
              </a:tr>
              <a:tr h="731520">
                <a:tc>
                  <a:txBody>
                    <a:bodyPr wrap="square"/>
                    <a:lstStyle/>
                    <a:p>
                      <a:r>
                        <a:rPr sz="1900" b="1" i="0">
                          <a:solidFill>
                            <a:srgbClr val="1F1F1F"/>
                          </a:solidFill>
                          <a:latin typeface="Arial"/>
                        </a:rPr>
                        <a:t>Epoch 3</a:t>
                      </a:r>
                    </a:p>
                  </a:txBody>
                  <a:tcPr anchor="ctr" marL="137160" marR="137160">
                    <a:solidFill>
                      <a:srgbClr val="FFFFFF"/>
                    </a:solidFill>
                  </a:tcPr>
                </a:tc>
                <a:tc>
                  <a:txBody>
                    <a:bodyPr wrap="square"/>
                    <a:lstStyle/>
                    <a:p>
                      <a:r>
                        <a:rPr sz="1900" b="0" i="0">
                          <a:solidFill>
                            <a:srgbClr val="1F1F1F"/>
                          </a:solidFill>
                          <a:latin typeface="Arial"/>
                        </a:rPr>
                        <a:t>0.331</a:t>
                      </a:r>
                    </a:p>
                  </a:txBody>
                  <a:tcPr anchor="ctr" marL="137160" marR="137160">
                    <a:solidFill>
                      <a:srgbClr val="FFFFFF"/>
                    </a:solidFill>
                  </a:tcPr>
                </a:tc>
                <a:tc>
                  <a:txBody>
                    <a:bodyPr wrap="square"/>
                    <a:lstStyle/>
                    <a:p>
                      <a:r>
                        <a:rPr sz="1900" b="0" i="0">
                          <a:solidFill>
                            <a:srgbClr val="1F1F1F"/>
                          </a:solidFill>
                          <a:latin typeface="Arial"/>
                        </a:rPr>
                        <a:t>0.303</a:t>
                      </a:r>
                    </a:p>
                  </a:txBody>
                  <a:tcPr anchor="ctr" marL="137160" marR="137160">
                    <a:solidFill>
                      <a:srgbClr val="FFFFFF"/>
                    </a:solidFill>
                  </a:tcPr>
                </a:tc>
                <a:tc>
                  <a:txBody>
                    <a:bodyPr wrap="square"/>
                    <a:lstStyle/>
                    <a:p>
                      <a:r>
                        <a:rPr sz="1900" b="0" i="0">
                          <a:solidFill>
                            <a:srgbClr val="1F1F1F"/>
                          </a:solidFill>
                          <a:latin typeface="Arial"/>
                        </a:rPr>
                        <a:t>0.2602</a:t>
                      </a:r>
                    </a:p>
                  </a:txBody>
                  <a:tcPr anchor="ctr" marL="137160" marR="137160">
                    <a:solidFill>
                      <a:srgbClr val="FFFFFF"/>
                    </a:solidFill>
                  </a:tcPr>
                </a:tc>
                <a:tc>
                  <a:txBody>
                    <a:bodyPr wrap="square"/>
                    <a:lstStyle/>
                    <a:p>
                      <a:r>
                        <a:rPr sz="1900" b="0" i="0">
                          <a:solidFill>
                            <a:srgbClr val="1F1F1F"/>
                          </a:solidFill>
                          <a:latin typeface="Arial"/>
                        </a:rPr>
                        <a:t>0.1548</a:t>
                      </a:r>
                    </a:p>
                  </a:txBody>
                  <a:tcPr anchor="ctr" marL="137160" marR="137160">
                    <a:solidFill>
                      <a:srgbClr val="FFFFFF"/>
                    </a:solidFill>
                  </a:tcPr>
                </a:tc>
              </a:tr>
            </a:tbl>
          </a:graphicData>
        </a:graphic>
      </p:graphicFrame>
      <p:sp>
        <p:nvSpPr>
          <p:cNvPr id="6" name="Caption"/>
          <p:cNvSpPr txBox="1"/>
          <p:nvPr/>
        </p:nvSpPr>
        <p:spPr>
          <a:xfrm>
            <a:off x="9052560" y="6858000"/>
            <a:ext cx="8503920" cy="2194560"/>
          </a:xfrm>
          <a:prstGeom prst="rect">
            <a:avLst/>
          </a:prstGeom>
          <a:noFill/>
        </p:spPr>
        <p:txBody>
          <a:bodyPr wrap="square" anchor="t" lIns="45720" rIns="45720" tIns="27432" bIns="27432">
            <a:spAutoFit/>
          </a:bodyPr>
          <a:lstStyle/>
          <a:p>
            <a:pPr algn="l"/>
            <a:r>
              <a:rPr sz="1900" b="0" i="0">
                <a:solidFill>
                  <a:srgbClr val="1F1F1F"/>
                </a:solidFill>
                <a:latin typeface="Arial"/>
              </a:rPr>
              <a:t>27,311 new frames did not raise mAP50 (0.2635 to 0.2602). Recall rose, precision fell, and mAP50-95 is slightly higher. Validation classification loss improved from about 2.1 to 1.96. Each epoch took about 76 minutes on an M3 Pro.</a:t>
            </a:r>
          </a:p>
        </p:txBody>
      </p:sp>
      <p:sp>
        <p:nvSpPr>
          <p:cNvPr id="7" name="Caption"/>
          <p:cNvSpPr txBox="1"/>
          <p:nvPr/>
        </p:nvSpPr>
        <p:spPr>
          <a:xfrm>
            <a:off x="731520" y="8412480"/>
            <a:ext cx="7863840" cy="731520"/>
          </a:xfrm>
          <a:prstGeom prst="rect">
            <a:avLst/>
          </a:prstGeom>
          <a:noFill/>
        </p:spPr>
        <p:txBody>
          <a:bodyPr wrap="square" anchor="t" lIns="45720" rIns="45720" tIns="27432" bIns="27432">
            <a:spAutoFit/>
          </a:bodyPr>
          <a:lstStyle/>
          <a:p>
            <a:pPr algn="l"/>
            <a:r>
              <a:rPr sz="1600" b="0" i="1">
                <a:solidFill>
                  <a:srgbClr val="666666"/>
                </a:solidFill>
                <a:latin typeface="Arial"/>
              </a:rPr>
              <a:t>Baseline = Colab run 3, scored on the same 3,594 validation images.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Fine-tune Training Graphs</a:t>
            </a:r>
          </a:p>
        </p:txBody>
      </p:sp>
      <p:pic>
        <p:nvPicPr>
          <p:cNvPr id="4" name="Picture 3" descr="finetune_results.png"/>
          <p:cNvPicPr>
            <a:picLocks noChangeAspect="1"/>
          </p:cNvPicPr>
          <p:nvPr/>
        </p:nvPicPr>
        <p:blipFill>
          <a:blip r:embed="rId2"/>
          <a:stretch>
            <a:fillRect/>
          </a:stretch>
        </p:blipFill>
        <p:spPr>
          <a:xfrm>
            <a:off x="731520" y="2926080"/>
            <a:ext cx="10424160" cy="5212080"/>
          </a:xfrm>
          <a:prstGeom prst="rect">
            <a:avLst/>
          </a:prstGeom>
        </p:spPr>
      </p:pic>
      <p:sp>
        <p:nvSpPr>
          <p:cNvPr id="5" name="Caption"/>
          <p:cNvSpPr txBox="1"/>
          <p:nvPr/>
        </p:nvSpPr>
        <p:spPr>
          <a:xfrm>
            <a:off x="731520" y="8183879"/>
            <a:ext cx="10424160" cy="822960"/>
          </a:xfrm>
          <a:prstGeom prst="rect">
            <a:avLst/>
          </a:prstGeom>
          <a:noFill/>
        </p:spPr>
        <p:txBody>
          <a:bodyPr wrap="square" anchor="t" lIns="45720" rIns="45720" tIns="27432" bIns="27432">
            <a:spAutoFit/>
          </a:bodyPr>
          <a:lstStyle/>
          <a:p>
            <a:pPr algn="l"/>
            <a:r>
              <a:rPr sz="1800" b="0" i="1">
                <a:solidFill>
                  <a:srgbClr val="666666"/>
                </a:solidFill>
                <a:latin typeface="Arial"/>
              </a:rPr>
              <a:t>Losses, precision, recall and mAP over the 3 fine-tune epochs.</a:t>
            </a:r>
          </a:p>
        </p:txBody>
      </p:sp>
      <p:pic>
        <p:nvPicPr>
          <p:cNvPr id="6" name="Picture 5" descr="finetune_confusion_crop.png"/>
          <p:cNvPicPr>
            <a:picLocks noChangeAspect="1"/>
          </p:cNvPicPr>
          <p:nvPr/>
        </p:nvPicPr>
        <p:blipFill>
          <a:blip r:embed="rId3"/>
          <a:stretch>
            <a:fillRect/>
          </a:stretch>
        </p:blipFill>
        <p:spPr>
          <a:xfrm>
            <a:off x="11521440" y="2743200"/>
            <a:ext cx="6013938" cy="5212080"/>
          </a:xfrm>
          <a:prstGeom prst="rect">
            <a:avLst/>
          </a:prstGeom>
        </p:spPr>
      </p:pic>
      <p:sp>
        <p:nvSpPr>
          <p:cNvPr id="7" name="Caption"/>
          <p:cNvSpPr txBox="1"/>
          <p:nvPr/>
        </p:nvSpPr>
        <p:spPr>
          <a:xfrm>
            <a:off x="11521440" y="8092440"/>
            <a:ext cx="6035040" cy="731520"/>
          </a:xfrm>
          <a:prstGeom prst="rect">
            <a:avLst/>
          </a:prstGeom>
          <a:noFill/>
        </p:spPr>
        <p:txBody>
          <a:bodyPr wrap="square" anchor="t" lIns="45720" rIns="45720" tIns="27432" bIns="27432">
            <a:spAutoFit/>
          </a:bodyPr>
          <a:lstStyle/>
          <a:p>
            <a:pPr algn="l"/>
            <a:r>
              <a:rPr sz="1800" b="0" i="1">
                <a:solidFill>
                  <a:srgbClr val="666666"/>
                </a:solidFill>
                <a:latin typeface="Arial"/>
              </a:rPr>
              <a:t>Confusion matrix after fine-tuning.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Error Analysis: Strong on Adults, Thin on Other Classes</a:t>
            </a:r>
          </a:p>
        </p:txBody>
      </p:sp>
      <p:pic>
        <p:nvPicPr>
          <p:cNvPr id="4" name="Picture 3" descr="confusion_matrix_crop.png"/>
          <p:cNvPicPr>
            <a:picLocks noChangeAspect="1"/>
          </p:cNvPicPr>
          <p:nvPr/>
        </p:nvPicPr>
        <p:blipFill>
          <a:blip r:embed="rId2"/>
          <a:stretch>
            <a:fillRect/>
          </a:stretch>
        </p:blipFill>
        <p:spPr>
          <a:xfrm>
            <a:off x="1097280" y="2743200"/>
            <a:ext cx="6646985" cy="5760720"/>
          </a:xfrm>
          <a:prstGeom prst="rect">
            <a:avLst/>
          </a:prstGeom>
        </p:spPr>
      </p:pic>
      <p:sp>
        <p:nvSpPr>
          <p:cNvPr id="5" name="Caption"/>
          <p:cNvSpPr txBox="1"/>
          <p:nvPr/>
        </p:nvSpPr>
        <p:spPr>
          <a:xfrm>
            <a:off x="914400" y="8595360"/>
            <a:ext cx="7315200" cy="822960"/>
          </a:xfrm>
          <a:prstGeom prst="rect">
            <a:avLst/>
          </a:prstGeom>
          <a:noFill/>
        </p:spPr>
        <p:txBody>
          <a:bodyPr wrap="square" anchor="t" lIns="45720" rIns="45720" tIns="27432" bIns="27432">
            <a:spAutoFit/>
          </a:bodyPr>
          <a:lstStyle/>
          <a:p>
            <a:pPr algn="l"/>
            <a:r>
              <a:rPr sz="1800" b="0" i="1">
                <a:solidFill>
                  <a:srgbClr val="666666"/>
                </a:solidFill>
                <a:latin typeface="Arial"/>
              </a:rPr>
              <a:t>Confusion matrix: a dark adult cell, faint scatter elsewhere.</a:t>
            </a:r>
          </a:p>
        </p:txBody>
      </p:sp>
      <p:pic>
        <p:nvPicPr>
          <p:cNvPr id="6" name="Picture 5" descr="val_batch0_pred.jpg"/>
          <p:cNvPicPr>
            <a:picLocks noChangeAspect="1"/>
          </p:cNvPicPr>
          <p:nvPr/>
        </p:nvPicPr>
        <p:blipFill>
          <a:blip r:embed="rId3"/>
          <a:stretch>
            <a:fillRect/>
          </a:stretch>
        </p:blipFill>
        <p:spPr>
          <a:xfrm>
            <a:off x="8595360" y="2926080"/>
            <a:ext cx="8961120" cy="5133975"/>
          </a:xfrm>
          <a:prstGeom prst="rect">
            <a:avLst/>
          </a:prstGeom>
        </p:spPr>
      </p:pic>
      <p:sp>
        <p:nvSpPr>
          <p:cNvPr id="7" name="Caption"/>
          <p:cNvSpPr txBox="1"/>
          <p:nvPr/>
        </p:nvSpPr>
        <p:spPr>
          <a:xfrm>
            <a:off x="8595360" y="8138160"/>
            <a:ext cx="8961120" cy="822960"/>
          </a:xfrm>
          <a:prstGeom prst="rect">
            <a:avLst/>
          </a:prstGeom>
          <a:noFill/>
        </p:spPr>
        <p:txBody>
          <a:bodyPr wrap="square" anchor="t" lIns="45720" rIns="45720" tIns="27432" bIns="27432">
            <a:spAutoFit/>
          </a:bodyPr>
          <a:lstStyle/>
          <a:p>
            <a:pPr algn="l"/>
            <a:r>
              <a:rPr sz="1800" b="0" i="1">
                <a:solidFill>
                  <a:srgbClr val="666666"/>
                </a:solidFill>
                <a:latin typeface="Arial"/>
              </a:rPr>
              <a:t>Validation predictions: adult and baby are found, with confidence 0.3 to 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Training Graphs from the Run</a:t>
            </a:r>
          </a:p>
        </p:txBody>
      </p:sp>
      <p:pic>
        <p:nvPicPr>
          <p:cNvPr id="4" name="Picture 3" descr="results.png"/>
          <p:cNvPicPr>
            <a:picLocks noChangeAspect="1"/>
          </p:cNvPicPr>
          <p:nvPr/>
        </p:nvPicPr>
        <p:blipFill>
          <a:blip r:embed="rId2"/>
          <a:stretch>
            <a:fillRect/>
          </a:stretch>
        </p:blipFill>
        <p:spPr>
          <a:xfrm>
            <a:off x="731520" y="2926080"/>
            <a:ext cx="10424160" cy="5212080"/>
          </a:xfrm>
          <a:prstGeom prst="rect">
            <a:avLst/>
          </a:prstGeom>
        </p:spPr>
      </p:pic>
      <p:sp>
        <p:nvSpPr>
          <p:cNvPr id="5" name="Caption"/>
          <p:cNvSpPr txBox="1"/>
          <p:nvPr/>
        </p:nvSpPr>
        <p:spPr>
          <a:xfrm>
            <a:off x="731520" y="8183879"/>
            <a:ext cx="10424160" cy="822960"/>
          </a:xfrm>
          <a:prstGeom prst="rect">
            <a:avLst/>
          </a:prstGeom>
          <a:noFill/>
        </p:spPr>
        <p:txBody>
          <a:bodyPr wrap="square" anchor="t" lIns="45720" rIns="45720" tIns="27432" bIns="27432">
            <a:spAutoFit/>
          </a:bodyPr>
          <a:lstStyle/>
          <a:p>
            <a:pPr algn="l"/>
            <a:r>
              <a:rPr sz="1800" b="0" i="1">
                <a:solidFill>
                  <a:srgbClr val="666666"/>
                </a:solidFill>
                <a:latin typeface="Arial"/>
              </a:rPr>
              <a:t>Losses, precision, recall and mAP over the 10 epochs.</a:t>
            </a:r>
          </a:p>
        </p:txBody>
      </p:sp>
      <p:pic>
        <p:nvPicPr>
          <p:cNvPr id="6" name="Picture 5" descr="BoxF1_curve.png"/>
          <p:cNvPicPr>
            <a:picLocks noChangeAspect="1"/>
          </p:cNvPicPr>
          <p:nvPr/>
        </p:nvPicPr>
        <p:blipFill>
          <a:blip r:embed="rId3"/>
          <a:stretch>
            <a:fillRect/>
          </a:stretch>
        </p:blipFill>
        <p:spPr>
          <a:xfrm>
            <a:off x="11521440" y="2926080"/>
            <a:ext cx="6035040" cy="4023360"/>
          </a:xfrm>
          <a:prstGeom prst="rect">
            <a:avLst/>
          </a:prstGeom>
        </p:spPr>
      </p:pic>
      <p:sp>
        <p:nvSpPr>
          <p:cNvPr id="7" name="Caption"/>
          <p:cNvSpPr txBox="1"/>
          <p:nvPr/>
        </p:nvSpPr>
        <p:spPr>
          <a:xfrm>
            <a:off x="11521440" y="7498079"/>
            <a:ext cx="6035040" cy="822960"/>
          </a:xfrm>
          <a:prstGeom prst="rect">
            <a:avLst/>
          </a:prstGeom>
          <a:noFill/>
        </p:spPr>
        <p:txBody>
          <a:bodyPr wrap="square" anchor="t" lIns="45720" rIns="45720" tIns="27432" bIns="27432">
            <a:spAutoFit/>
          </a:bodyPr>
          <a:lstStyle/>
          <a:p>
            <a:pPr algn="l"/>
            <a:r>
              <a:rPr sz="1800" b="0" i="1">
                <a:solidFill>
                  <a:srgbClr val="666666"/>
                </a:solidFill>
                <a:latin typeface="Arial"/>
              </a:rPr>
              <a:t>F1 versus confidence threshold.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Tracks Turn Per-Frame Boxes into a Temporal Graph</a:t>
            </a:r>
          </a:p>
        </p:txBody>
      </p:sp>
      <p:sp>
        <p:nvSpPr>
          <p:cNvPr id="4" name="Frame label"/>
          <p:cNvSpPr txBox="1"/>
          <p:nvPr/>
        </p:nvSpPr>
        <p:spPr>
          <a:xfrm>
            <a:off x="1737360" y="2743200"/>
            <a:ext cx="2743200" cy="457200"/>
          </a:xfrm>
          <a:prstGeom prst="rect">
            <a:avLst/>
          </a:prstGeom>
          <a:noFill/>
        </p:spPr>
        <p:txBody>
          <a:bodyPr wrap="square" anchor="t" lIns="45720" rIns="45720" tIns="27432" bIns="27432">
            <a:spAutoFit/>
          </a:bodyPr>
          <a:lstStyle/>
          <a:p>
            <a:pPr algn="ctr"/>
            <a:r>
              <a:rPr sz="2000" b="1" i="0">
                <a:solidFill>
                  <a:srgbClr val="666666"/>
                </a:solidFill>
                <a:latin typeface="Arial"/>
              </a:rPr>
              <a:t>frame t</a:t>
            </a:r>
          </a:p>
        </p:txBody>
      </p:sp>
      <p:sp>
        <p:nvSpPr>
          <p:cNvPr id="5" name="Frame label"/>
          <p:cNvSpPr txBox="1"/>
          <p:nvPr/>
        </p:nvSpPr>
        <p:spPr>
          <a:xfrm>
            <a:off x="7406640" y="2743200"/>
            <a:ext cx="2743200" cy="457200"/>
          </a:xfrm>
          <a:prstGeom prst="rect">
            <a:avLst/>
          </a:prstGeom>
          <a:noFill/>
        </p:spPr>
        <p:txBody>
          <a:bodyPr wrap="square" anchor="t" lIns="45720" rIns="45720" tIns="27432" bIns="27432">
            <a:spAutoFit/>
          </a:bodyPr>
          <a:lstStyle/>
          <a:p>
            <a:pPr algn="ctr"/>
            <a:r>
              <a:rPr sz="2000" b="1" i="0">
                <a:solidFill>
                  <a:srgbClr val="666666"/>
                </a:solidFill>
                <a:latin typeface="Arial"/>
              </a:rPr>
              <a:t>frame t+1</a:t>
            </a:r>
          </a:p>
        </p:txBody>
      </p:sp>
      <p:sp>
        <p:nvSpPr>
          <p:cNvPr id="6" name="Frame label"/>
          <p:cNvSpPr txBox="1"/>
          <p:nvPr/>
        </p:nvSpPr>
        <p:spPr>
          <a:xfrm>
            <a:off x="13075920" y="2743200"/>
            <a:ext cx="2743200" cy="457200"/>
          </a:xfrm>
          <a:prstGeom prst="rect">
            <a:avLst/>
          </a:prstGeom>
          <a:noFill/>
        </p:spPr>
        <p:txBody>
          <a:bodyPr wrap="square" anchor="t" lIns="45720" rIns="45720" tIns="27432" bIns="27432">
            <a:spAutoFit/>
          </a:bodyPr>
          <a:lstStyle/>
          <a:p>
            <a:pPr algn="ctr"/>
            <a:r>
              <a:rPr sz="2000" b="1" i="0">
                <a:solidFill>
                  <a:srgbClr val="666666"/>
                </a:solidFill>
                <a:latin typeface="Arial"/>
              </a:rPr>
              <a:t>frame t+2</a:t>
            </a:r>
          </a:p>
        </p:txBody>
      </p:sp>
      <p:cxnSp>
        <p:nvCxnSpPr>
          <p:cNvPr id="7" name="Connector 6"/>
          <p:cNvCxnSpPr/>
          <p:nvPr/>
        </p:nvCxnSpPr>
        <p:spPr>
          <a:xfrm>
            <a:off x="3794760" y="3931920"/>
            <a:ext cx="4297680" cy="0"/>
          </a:xfrm>
          <a:prstGeom prst="line">
            <a:avLst/>
          </a:prstGeom>
          <a:ln w="28575">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464040" y="3931920"/>
            <a:ext cx="4297680" cy="0"/>
          </a:xfrm>
          <a:prstGeom prst="line">
            <a:avLst/>
          </a:prstGeom>
          <a:ln w="28575">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794760" y="6126480"/>
            <a:ext cx="4297680" cy="0"/>
          </a:xfrm>
          <a:prstGeom prst="line">
            <a:avLst/>
          </a:prstGeom>
          <a:ln w="28575">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464040" y="6126480"/>
            <a:ext cx="4297680" cy="0"/>
          </a:xfrm>
          <a:prstGeom prst="line">
            <a:avLst/>
          </a:prstGeom>
          <a:ln w="28575">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794760" y="8321040"/>
            <a:ext cx="4297680" cy="0"/>
          </a:xfrm>
          <a:prstGeom prst="line">
            <a:avLst/>
          </a:prstGeom>
          <a:ln w="28575">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64040" y="8321040"/>
            <a:ext cx="4297680" cy="0"/>
          </a:xfrm>
          <a:prstGeom prst="line">
            <a:avLst/>
          </a:prstGeom>
          <a:ln w="28575">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108960" y="4617720"/>
            <a:ext cx="0" cy="822960"/>
          </a:xfrm>
          <a:prstGeom prst="line">
            <a:avLst/>
          </a:prstGeom>
          <a:ln w="38100">
            <a:solidFill>
              <a:srgbClr val="B40347"/>
            </a:solidFill>
          </a:ln>
        </p:spPr>
        <p:style>
          <a:lnRef idx="2">
            <a:schemeClr val="accent1"/>
          </a:lnRef>
          <a:fillRef idx="0">
            <a:schemeClr val="accent1"/>
          </a:fillRef>
          <a:effectRef idx="1">
            <a:schemeClr val="accent1"/>
          </a:effectRef>
          <a:fontRef idx="minor">
            <a:schemeClr val="tx1"/>
          </a:fontRef>
        </p:style>
      </p:cxnSp>
      <p:sp>
        <p:nvSpPr>
          <p:cNvPr id="14" name="Rel"/>
          <p:cNvSpPr txBox="1"/>
          <p:nvPr/>
        </p:nvSpPr>
        <p:spPr>
          <a:xfrm>
            <a:off x="3246120" y="4754880"/>
            <a:ext cx="1371600" cy="411480"/>
          </a:xfrm>
          <a:prstGeom prst="rect">
            <a:avLst/>
          </a:prstGeom>
          <a:noFill/>
        </p:spPr>
        <p:txBody>
          <a:bodyPr wrap="square" anchor="t" lIns="45720" rIns="45720" tIns="27432" bIns="27432">
            <a:spAutoFit/>
          </a:bodyPr>
          <a:lstStyle/>
          <a:p>
            <a:pPr algn="l"/>
            <a:r>
              <a:rPr sz="1700" b="0" i="1">
                <a:solidFill>
                  <a:srgbClr val="666666"/>
                </a:solidFill>
                <a:latin typeface="Arial"/>
              </a:rPr>
              <a:t>holds</a:t>
            </a:r>
          </a:p>
        </p:txBody>
      </p:sp>
      <p:cxnSp>
        <p:nvCxnSpPr>
          <p:cNvPr id="15" name="Connector 14"/>
          <p:cNvCxnSpPr/>
          <p:nvPr/>
        </p:nvCxnSpPr>
        <p:spPr>
          <a:xfrm>
            <a:off x="8778240" y="4617720"/>
            <a:ext cx="0" cy="822960"/>
          </a:xfrm>
          <a:prstGeom prst="line">
            <a:avLst/>
          </a:prstGeom>
          <a:ln w="38100">
            <a:solidFill>
              <a:srgbClr val="B40347"/>
            </a:solidFill>
          </a:ln>
        </p:spPr>
        <p:style>
          <a:lnRef idx="2">
            <a:schemeClr val="accent1"/>
          </a:lnRef>
          <a:fillRef idx="0">
            <a:schemeClr val="accent1"/>
          </a:fillRef>
          <a:effectRef idx="1">
            <a:schemeClr val="accent1"/>
          </a:effectRef>
          <a:fontRef idx="minor">
            <a:schemeClr val="tx1"/>
          </a:fontRef>
        </p:style>
      </p:cxnSp>
      <p:sp>
        <p:nvSpPr>
          <p:cNvPr id="16" name="Rel"/>
          <p:cNvSpPr txBox="1"/>
          <p:nvPr/>
        </p:nvSpPr>
        <p:spPr>
          <a:xfrm>
            <a:off x="8915400" y="4754880"/>
            <a:ext cx="1371600" cy="411480"/>
          </a:xfrm>
          <a:prstGeom prst="rect">
            <a:avLst/>
          </a:prstGeom>
          <a:noFill/>
        </p:spPr>
        <p:txBody>
          <a:bodyPr wrap="square" anchor="t" lIns="45720" rIns="45720" tIns="27432" bIns="27432">
            <a:spAutoFit/>
          </a:bodyPr>
          <a:lstStyle/>
          <a:p>
            <a:pPr algn="l"/>
            <a:r>
              <a:rPr sz="1700" b="0" i="1">
                <a:solidFill>
                  <a:srgbClr val="666666"/>
                </a:solidFill>
                <a:latin typeface="Arial"/>
              </a:rPr>
              <a:t>holds</a:t>
            </a:r>
          </a:p>
        </p:txBody>
      </p:sp>
      <p:cxnSp>
        <p:nvCxnSpPr>
          <p:cNvPr id="17" name="Connector 16"/>
          <p:cNvCxnSpPr/>
          <p:nvPr/>
        </p:nvCxnSpPr>
        <p:spPr>
          <a:xfrm>
            <a:off x="8778240" y="6812280"/>
            <a:ext cx="0" cy="822960"/>
          </a:xfrm>
          <a:prstGeom prst="line">
            <a:avLst/>
          </a:prstGeom>
          <a:ln w="38100">
            <a:solidFill>
              <a:srgbClr val="2A9D8F"/>
            </a:solidFill>
          </a:ln>
        </p:spPr>
        <p:style>
          <a:lnRef idx="2">
            <a:schemeClr val="accent1"/>
          </a:lnRef>
          <a:fillRef idx="0">
            <a:schemeClr val="accent1"/>
          </a:fillRef>
          <a:effectRef idx="1">
            <a:schemeClr val="accent1"/>
          </a:effectRef>
          <a:fontRef idx="minor">
            <a:schemeClr val="tx1"/>
          </a:fontRef>
        </p:style>
      </p:cxnSp>
      <p:sp>
        <p:nvSpPr>
          <p:cNvPr id="18" name="Rel"/>
          <p:cNvSpPr txBox="1"/>
          <p:nvPr/>
        </p:nvSpPr>
        <p:spPr>
          <a:xfrm>
            <a:off x="8915400" y="6949440"/>
            <a:ext cx="1645920" cy="411480"/>
          </a:xfrm>
          <a:prstGeom prst="rect">
            <a:avLst/>
          </a:prstGeom>
          <a:noFill/>
        </p:spPr>
        <p:txBody>
          <a:bodyPr wrap="square" anchor="t" lIns="45720" rIns="45720" tIns="27432" bIns="27432">
            <a:spAutoFit/>
          </a:bodyPr>
          <a:lstStyle/>
          <a:p>
            <a:pPr algn="l"/>
            <a:r>
              <a:rPr sz="1700" b="0" i="1">
                <a:solidFill>
                  <a:srgbClr val="666666"/>
                </a:solidFill>
                <a:latin typeface="Arial"/>
              </a:rPr>
              <a:t>looks at</a:t>
            </a:r>
          </a:p>
        </p:txBody>
      </p:sp>
      <p:cxnSp>
        <p:nvCxnSpPr>
          <p:cNvPr id="19" name="Connector 18"/>
          <p:cNvCxnSpPr/>
          <p:nvPr/>
        </p:nvCxnSpPr>
        <p:spPr>
          <a:xfrm>
            <a:off x="14447520" y="6812280"/>
            <a:ext cx="0" cy="822960"/>
          </a:xfrm>
          <a:prstGeom prst="line">
            <a:avLst/>
          </a:prstGeom>
          <a:ln w="38100">
            <a:solidFill>
              <a:srgbClr val="2A9D8F"/>
            </a:solidFill>
          </a:ln>
        </p:spPr>
        <p:style>
          <a:lnRef idx="2">
            <a:schemeClr val="accent1"/>
          </a:lnRef>
          <a:fillRef idx="0">
            <a:schemeClr val="accent1"/>
          </a:fillRef>
          <a:effectRef idx="1">
            <a:schemeClr val="accent1"/>
          </a:effectRef>
          <a:fontRef idx="minor">
            <a:schemeClr val="tx1"/>
          </a:fontRef>
        </p:style>
      </p:cxnSp>
      <p:sp>
        <p:nvSpPr>
          <p:cNvPr id="20" name="Rel"/>
          <p:cNvSpPr txBox="1"/>
          <p:nvPr/>
        </p:nvSpPr>
        <p:spPr>
          <a:xfrm>
            <a:off x="14584680" y="6949440"/>
            <a:ext cx="1645920" cy="411480"/>
          </a:xfrm>
          <a:prstGeom prst="rect">
            <a:avLst/>
          </a:prstGeom>
          <a:noFill/>
        </p:spPr>
        <p:txBody>
          <a:bodyPr wrap="square" anchor="t" lIns="45720" rIns="45720" tIns="27432" bIns="27432">
            <a:spAutoFit/>
          </a:bodyPr>
          <a:lstStyle/>
          <a:p>
            <a:pPr algn="l"/>
            <a:r>
              <a:rPr sz="1700" b="0" i="1">
                <a:solidFill>
                  <a:srgbClr val="666666"/>
                </a:solidFill>
                <a:latin typeface="Arial"/>
              </a:rPr>
              <a:t>looks at</a:t>
            </a:r>
          </a:p>
        </p:txBody>
      </p:sp>
      <p:sp>
        <p:nvSpPr>
          <p:cNvPr id="21" name="Oval 20"/>
          <p:cNvSpPr/>
          <p:nvPr/>
        </p:nvSpPr>
        <p:spPr>
          <a:xfrm>
            <a:off x="2423160" y="3246120"/>
            <a:ext cx="1371600" cy="1371600"/>
          </a:xfrm>
          <a:prstGeom prst="ellipse">
            <a:avLst/>
          </a:prstGeom>
          <a:solidFill>
            <a:srgbClr val="FFFFFF"/>
          </a:solid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adult #1</a:t>
            </a:r>
          </a:p>
        </p:txBody>
      </p:sp>
      <p:sp>
        <p:nvSpPr>
          <p:cNvPr id="22" name="Oval 21"/>
          <p:cNvSpPr/>
          <p:nvPr/>
        </p:nvSpPr>
        <p:spPr>
          <a:xfrm>
            <a:off x="8092440" y="3246120"/>
            <a:ext cx="1371600" cy="1371600"/>
          </a:xfrm>
          <a:prstGeom prst="ellipse">
            <a:avLst/>
          </a:prstGeom>
          <a:solidFill>
            <a:srgbClr val="FFFFFF"/>
          </a:solid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adult #1</a:t>
            </a:r>
          </a:p>
        </p:txBody>
      </p:sp>
      <p:sp>
        <p:nvSpPr>
          <p:cNvPr id="23" name="Oval 22"/>
          <p:cNvSpPr/>
          <p:nvPr/>
        </p:nvSpPr>
        <p:spPr>
          <a:xfrm>
            <a:off x="13761720" y="3246120"/>
            <a:ext cx="1371600" cy="1371600"/>
          </a:xfrm>
          <a:prstGeom prst="ellipse">
            <a:avLst/>
          </a:prstGeom>
          <a:solidFill>
            <a:srgbClr val="FFFFFF"/>
          </a:solid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adult #1</a:t>
            </a:r>
          </a:p>
        </p:txBody>
      </p:sp>
      <p:sp>
        <p:nvSpPr>
          <p:cNvPr id="24" name="Oval 23"/>
          <p:cNvSpPr/>
          <p:nvPr/>
        </p:nvSpPr>
        <p:spPr>
          <a:xfrm>
            <a:off x="2423160" y="5440680"/>
            <a:ext cx="1371600" cy="1371600"/>
          </a:xfrm>
          <a:prstGeom prst="ellipse">
            <a:avLst/>
          </a:prstGeom>
          <a:solidFill>
            <a:srgbClr val="FFFFFF"/>
          </a:solidFill>
          <a:ln w="381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baby #2</a:t>
            </a:r>
          </a:p>
        </p:txBody>
      </p:sp>
      <p:sp>
        <p:nvSpPr>
          <p:cNvPr id="25" name="Oval 24"/>
          <p:cNvSpPr/>
          <p:nvPr/>
        </p:nvSpPr>
        <p:spPr>
          <a:xfrm>
            <a:off x="8092440" y="5440680"/>
            <a:ext cx="1371600" cy="1371600"/>
          </a:xfrm>
          <a:prstGeom prst="ellipse">
            <a:avLst/>
          </a:prstGeom>
          <a:solidFill>
            <a:srgbClr val="FFFFFF"/>
          </a:solidFill>
          <a:ln w="381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baby #2</a:t>
            </a:r>
          </a:p>
        </p:txBody>
      </p:sp>
      <p:sp>
        <p:nvSpPr>
          <p:cNvPr id="26" name="Oval 25"/>
          <p:cNvSpPr/>
          <p:nvPr/>
        </p:nvSpPr>
        <p:spPr>
          <a:xfrm>
            <a:off x="13761720" y="5440680"/>
            <a:ext cx="1371600" cy="1371600"/>
          </a:xfrm>
          <a:prstGeom prst="ellipse">
            <a:avLst/>
          </a:prstGeom>
          <a:solidFill>
            <a:srgbClr val="FFFFFF"/>
          </a:solidFill>
          <a:ln w="381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baby #2</a:t>
            </a:r>
          </a:p>
        </p:txBody>
      </p:sp>
      <p:sp>
        <p:nvSpPr>
          <p:cNvPr id="27" name="Oval 26"/>
          <p:cNvSpPr/>
          <p:nvPr/>
        </p:nvSpPr>
        <p:spPr>
          <a:xfrm>
            <a:off x="2423160" y="7635240"/>
            <a:ext cx="1371600" cy="1371600"/>
          </a:xfrm>
          <a:prstGeom prst="ellipse">
            <a:avLst/>
          </a:prstGeom>
          <a:solidFill>
            <a:srgbClr val="FFFFFF"/>
          </a:solidFill>
          <a:ln w="38100">
            <a:solidFill>
              <a:srgbClr val="E09F1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toy #3</a:t>
            </a:r>
          </a:p>
        </p:txBody>
      </p:sp>
      <p:sp>
        <p:nvSpPr>
          <p:cNvPr id="28" name="Oval 27"/>
          <p:cNvSpPr/>
          <p:nvPr/>
        </p:nvSpPr>
        <p:spPr>
          <a:xfrm>
            <a:off x="8092440" y="7635240"/>
            <a:ext cx="1371600" cy="1371600"/>
          </a:xfrm>
          <a:prstGeom prst="ellipse">
            <a:avLst/>
          </a:prstGeom>
          <a:solidFill>
            <a:srgbClr val="FFFFFF"/>
          </a:solidFill>
          <a:ln w="38100">
            <a:solidFill>
              <a:srgbClr val="E09F1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toy #3</a:t>
            </a:r>
          </a:p>
        </p:txBody>
      </p:sp>
      <p:sp>
        <p:nvSpPr>
          <p:cNvPr id="29" name="Oval 28"/>
          <p:cNvSpPr/>
          <p:nvPr/>
        </p:nvSpPr>
        <p:spPr>
          <a:xfrm>
            <a:off x="13761720" y="7635240"/>
            <a:ext cx="1371600" cy="1371600"/>
          </a:xfrm>
          <a:prstGeom prst="ellipse">
            <a:avLst/>
          </a:prstGeom>
          <a:solidFill>
            <a:srgbClr val="FFFFFF"/>
          </a:solidFill>
          <a:ln w="38100">
            <a:solidFill>
              <a:srgbClr val="E09F1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1F1F1F"/>
                </a:solidFill>
                <a:latin typeface="Arial"/>
              </a:rPr>
              <a:t>toy #3</a:t>
            </a:r>
          </a:p>
        </p:txBody>
      </p:sp>
      <p:sp>
        <p:nvSpPr>
          <p:cNvPr id="30" name="Caption"/>
          <p:cNvSpPr txBox="1"/>
          <p:nvPr/>
        </p:nvSpPr>
        <p:spPr>
          <a:xfrm>
            <a:off x="731520" y="9189720"/>
            <a:ext cx="16824960" cy="548640"/>
          </a:xfrm>
          <a:prstGeom prst="rect">
            <a:avLst/>
          </a:prstGeom>
          <a:noFill/>
        </p:spPr>
        <p:txBody>
          <a:bodyPr wrap="square" anchor="t" lIns="45720" rIns="45720" tIns="27432" bIns="27432">
            <a:spAutoFit/>
          </a:bodyPr>
          <a:lstStyle/>
          <a:p>
            <a:pPr algn="l"/>
            <a:r>
              <a:rPr sz="1900" b="0" i="0">
                <a:solidFill>
                  <a:srgbClr val="666666"/>
                </a:solidFill>
                <a:latin typeface="Arial"/>
              </a:rPr>
              <a:t>Solid lines: relations inside a frame.   Dashed lines: the same object linked through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Combining Old and New Training: 28 to 78 Classes</a:t>
            </a:r>
          </a:p>
        </p:txBody>
      </p:sp>
      <p:sp>
        <p:nvSpPr>
          <p:cNvPr id="4" name="Rounded Rectangle 3"/>
          <p:cNvSpPr/>
          <p:nvPr/>
        </p:nvSpPr>
        <p:spPr>
          <a:xfrm>
            <a:off x="822960" y="2926080"/>
            <a:ext cx="3657600" cy="173736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1F1F"/>
                </a:solidFill>
                <a:latin typeface="Arial"/>
              </a:rPr>
              <a:t>Old relation model</a:t>
            </a:r>
          </a:p>
          <a:p>
            <a:pPr algn="ctr"/>
            <a:r>
              <a:rPr sz="1700" b="0" i="0">
                <a:solidFill>
                  <a:srgbClr val="666666"/>
                </a:solidFill>
                <a:latin typeface="Arial"/>
              </a:rPr>
              <a:t>28 classes</a:t>
            </a:r>
          </a:p>
        </p:txBody>
      </p:sp>
      <p:cxnSp>
        <p:nvCxnSpPr>
          <p:cNvPr id="5" name="Connector 4"/>
          <p:cNvCxnSpPr/>
          <p:nvPr/>
        </p:nvCxnSpPr>
        <p:spPr>
          <a:xfrm>
            <a:off x="4480560" y="3794760"/>
            <a:ext cx="64008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120640" y="2926080"/>
            <a:ext cx="3657600" cy="173736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1F1F"/>
                </a:solidFill>
                <a:latin typeface="Arial"/>
              </a:rPr>
              <a:t>Copy weights</a:t>
            </a:r>
          </a:p>
          <a:p>
            <a:pPr algn="ctr"/>
            <a:r>
              <a:rPr sz="1700" b="0" i="0">
                <a:solidFill>
                  <a:srgbClr val="666666"/>
                </a:solidFill>
                <a:latin typeface="Arial"/>
              </a:rPr>
              <a:t>by class name</a:t>
            </a:r>
          </a:p>
        </p:txBody>
      </p:sp>
      <p:cxnSp>
        <p:nvCxnSpPr>
          <p:cNvPr id="7" name="Connector 6"/>
          <p:cNvCxnSpPr/>
          <p:nvPr/>
        </p:nvCxnSpPr>
        <p:spPr>
          <a:xfrm>
            <a:off x="8778240" y="3794760"/>
            <a:ext cx="64008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418320" y="2926080"/>
            <a:ext cx="3657600" cy="173736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1F1F"/>
                </a:solidFill>
                <a:latin typeface="Arial"/>
              </a:rPr>
              <a:t>Expanded model</a:t>
            </a:r>
          </a:p>
          <a:p>
            <a:pPr algn="ctr"/>
            <a:r>
              <a:rPr sz="1700" b="0" i="0">
                <a:solidFill>
                  <a:srgbClr val="666666"/>
                </a:solidFill>
                <a:latin typeface="Arial"/>
              </a:rPr>
              <a:t>78 classes, identical output</a:t>
            </a:r>
          </a:p>
        </p:txBody>
      </p:sp>
      <p:cxnSp>
        <p:nvCxnSpPr>
          <p:cNvPr id="9" name="Connector 8"/>
          <p:cNvCxnSpPr/>
          <p:nvPr/>
        </p:nvCxnSpPr>
        <p:spPr>
          <a:xfrm>
            <a:off x="13075920" y="3794760"/>
            <a:ext cx="640080" cy="0"/>
          </a:xfrm>
          <a:prstGeom prst="line">
            <a:avLst/>
          </a:prstGeom>
          <a:ln w="317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3716000" y="2926080"/>
            <a:ext cx="3657600" cy="1737360"/>
          </a:xfrm>
          <a:prstGeom prst="roundRect">
            <a:avLst>
              <a:gd name="adj" fmla="val 8000"/>
            </a:avLst>
          </a:prstGeom>
          <a:noFill/>
          <a:ln w="38100">
            <a:solidFill>
              <a:srgbClr val="B403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1F1F"/>
                </a:solidFill>
                <a:latin typeface="Arial"/>
              </a:rPr>
              <a:t>Fine-tune</a:t>
            </a:r>
          </a:p>
          <a:p>
            <a:pPr algn="ctr"/>
            <a:r>
              <a:rPr sz="1700" b="0" i="0">
                <a:solidFill>
                  <a:srgbClr val="666666"/>
                </a:solidFill>
                <a:latin typeface="Arial"/>
              </a:rPr>
              <a:t>old + new data</a:t>
            </a:r>
          </a:p>
        </p:txBody>
      </p:sp>
      <p:graphicFrame>
        <p:nvGraphicFramePr>
          <p:cNvPr id="11" name="Table 10"/>
          <p:cNvGraphicFramePr>
            <a:graphicFrameLocks noGrp="1"/>
          </p:cNvGraphicFramePr>
          <p:nvPr/>
        </p:nvGraphicFramePr>
        <p:xfrm>
          <a:off x="2743200" y="5212080"/>
          <a:ext cx="12801600" cy="2194560"/>
        </p:xfrm>
        <a:graphic>
          <a:graphicData uri="http://schemas.openxmlformats.org/drawingml/2006/table">
            <a:tbl>
              <a:tblPr firstRow="0" bandRow="0">
                <a:tableStyleId>{5C22544A-7EE6-4342-B048-85BDC9FD1C3A}</a:tableStyleId>
              </a:tblPr>
              <a:tblGrid>
                <a:gridCol w="5486400"/>
                <a:gridCol w="2377440"/>
                <a:gridCol w="2468880"/>
                <a:gridCol w="2468880"/>
              </a:tblGrid>
              <a:tr h="731520">
                <a:tc>
                  <a:txBody>
                    <a:bodyPr wrap="square"/>
                    <a:lstStyle/>
                    <a:p>
                      <a:r>
                        <a:rPr sz="2100" b="1" i="0">
                          <a:solidFill>
                            <a:srgbClr val="FFFFFF"/>
                          </a:solidFill>
                          <a:latin typeface="Arial"/>
                        </a:rPr>
                        <a:t/>
                      </a:r>
                    </a:p>
                  </a:txBody>
                  <a:tcPr anchor="ctr" marL="137160" marR="137160">
                    <a:solidFill>
                      <a:srgbClr val="B40347"/>
                    </a:solidFill>
                  </a:tcPr>
                </a:tc>
                <a:tc>
                  <a:txBody>
                    <a:bodyPr wrap="square"/>
                    <a:lstStyle/>
                    <a:p>
                      <a:r>
                        <a:rPr sz="2100" b="1" i="0">
                          <a:solidFill>
                            <a:srgbClr val="FFFFFF"/>
                          </a:solidFill>
                          <a:latin typeface="Arial"/>
                        </a:rPr>
                        <a:t>Old data</a:t>
                      </a:r>
                    </a:p>
                  </a:txBody>
                  <a:tcPr anchor="ctr" marL="137160" marR="137160">
                    <a:solidFill>
                      <a:srgbClr val="B40347"/>
                    </a:solidFill>
                  </a:tcPr>
                </a:tc>
                <a:tc>
                  <a:txBody>
                    <a:bodyPr wrap="square"/>
                    <a:lstStyle/>
                    <a:p>
                      <a:r>
                        <a:rPr sz="2100" b="1" i="0">
                          <a:solidFill>
                            <a:srgbClr val="FFFFFF"/>
                          </a:solidFill>
                          <a:latin typeface="Arial"/>
                        </a:rPr>
                        <a:t>New data</a:t>
                      </a:r>
                    </a:p>
                  </a:txBody>
                  <a:tcPr anchor="ctr" marL="137160" marR="137160">
                    <a:solidFill>
                      <a:srgbClr val="B40347"/>
                    </a:solidFill>
                  </a:tcPr>
                </a:tc>
                <a:tc>
                  <a:txBody>
                    <a:bodyPr wrap="square"/>
                    <a:lstStyle/>
                    <a:p>
                      <a:r>
                        <a:rPr sz="2100" b="1" i="0">
                          <a:solidFill>
                            <a:srgbClr val="FFFFFF"/>
                          </a:solidFill>
                          <a:latin typeface="Arial"/>
                        </a:rPr>
                        <a:t>Combined</a:t>
                      </a:r>
                    </a:p>
                  </a:txBody>
                  <a:tcPr anchor="ctr" marL="137160" marR="137160">
                    <a:solidFill>
                      <a:srgbClr val="B40347"/>
                    </a:solidFill>
                  </a:tcPr>
                </a:tc>
              </a:tr>
              <a:tr h="731520">
                <a:tc>
                  <a:txBody>
                    <a:bodyPr wrap="square"/>
                    <a:lstStyle/>
                    <a:p>
                      <a:r>
                        <a:rPr sz="2100" b="1" i="0">
                          <a:solidFill>
                            <a:srgbClr val="1F1F1F"/>
                          </a:solidFill>
                          <a:latin typeface="Arial"/>
                        </a:rPr>
                        <a:t>Relation training pairs</a:t>
                      </a:r>
                    </a:p>
                  </a:txBody>
                  <a:tcPr anchor="ctr" marL="137160" marR="137160">
                    <a:solidFill>
                      <a:srgbClr val="F3F3F3"/>
                    </a:solidFill>
                  </a:tcPr>
                </a:tc>
                <a:tc>
                  <a:txBody>
                    <a:bodyPr wrap="square"/>
                    <a:lstStyle/>
                    <a:p>
                      <a:r>
                        <a:rPr sz="2100" b="0" i="0">
                          <a:solidFill>
                            <a:srgbClr val="1F1F1F"/>
                          </a:solidFill>
                          <a:latin typeface="Arial"/>
                        </a:rPr>
                        <a:t>7,536</a:t>
                      </a:r>
                    </a:p>
                  </a:txBody>
                  <a:tcPr anchor="ctr" marL="137160" marR="137160">
                    <a:solidFill>
                      <a:srgbClr val="F3F3F3"/>
                    </a:solidFill>
                  </a:tcPr>
                </a:tc>
                <a:tc>
                  <a:txBody>
                    <a:bodyPr wrap="square"/>
                    <a:lstStyle/>
                    <a:p>
                      <a:r>
                        <a:rPr sz="2100" b="0" i="0">
                          <a:solidFill>
                            <a:srgbClr val="1F1F1F"/>
                          </a:solidFill>
                          <a:latin typeface="Arial"/>
                        </a:rPr>
                        <a:t>145,031</a:t>
                      </a:r>
                    </a:p>
                  </a:txBody>
                  <a:tcPr anchor="ctr" marL="137160" marR="137160">
                    <a:solidFill>
                      <a:srgbClr val="F3F3F3"/>
                    </a:solidFill>
                  </a:tcPr>
                </a:tc>
                <a:tc>
                  <a:txBody>
                    <a:bodyPr wrap="square"/>
                    <a:lstStyle/>
                    <a:p>
                      <a:r>
                        <a:rPr sz="2100" b="0" i="0">
                          <a:solidFill>
                            <a:srgbClr val="1F1F1F"/>
                          </a:solidFill>
                          <a:latin typeface="Arial"/>
                        </a:rPr>
                        <a:t>152,567</a:t>
                      </a:r>
                    </a:p>
                  </a:txBody>
                  <a:tcPr anchor="ctr" marL="137160" marR="137160">
                    <a:solidFill>
                      <a:srgbClr val="F3F3F3"/>
                    </a:solidFill>
                  </a:tcPr>
                </a:tc>
              </a:tr>
              <a:tr h="731520">
                <a:tc>
                  <a:txBody>
                    <a:bodyPr wrap="square"/>
                    <a:lstStyle/>
                    <a:p>
                      <a:r>
                        <a:rPr sz="2100" b="1" i="0">
                          <a:solidFill>
                            <a:srgbClr val="1F1F1F"/>
                          </a:solidFill>
                          <a:latin typeface="Arial"/>
                        </a:rPr>
                        <a:t>Temporal training sequences</a:t>
                      </a:r>
                    </a:p>
                  </a:txBody>
                  <a:tcPr anchor="ctr" marL="137160" marR="137160">
                    <a:solidFill>
                      <a:srgbClr val="FFFFFF"/>
                    </a:solidFill>
                  </a:tcPr>
                </a:tc>
                <a:tc>
                  <a:txBody>
                    <a:bodyPr wrap="square"/>
                    <a:lstStyle/>
                    <a:p>
                      <a:r>
                        <a:rPr sz="2100" b="0" i="0">
                          <a:solidFill>
                            <a:srgbClr val="1F1F1F"/>
                          </a:solidFill>
                          <a:latin typeface="Arial"/>
                        </a:rPr>
                        <a:t>1,890</a:t>
                      </a:r>
                    </a:p>
                  </a:txBody>
                  <a:tcPr anchor="ctr" marL="137160" marR="137160">
                    <a:solidFill>
                      <a:srgbClr val="FFFFFF"/>
                    </a:solidFill>
                  </a:tcPr>
                </a:tc>
                <a:tc>
                  <a:txBody>
                    <a:bodyPr wrap="square"/>
                    <a:lstStyle/>
                    <a:p>
                      <a:r>
                        <a:rPr sz="2100" b="0" i="0">
                          <a:solidFill>
                            <a:srgbClr val="1F1F1F"/>
                          </a:solidFill>
                          <a:latin typeface="Arial"/>
                        </a:rPr>
                        <a:t>38,388</a:t>
                      </a:r>
                    </a:p>
                  </a:txBody>
                  <a:tcPr anchor="ctr" marL="137160" marR="137160">
                    <a:solidFill>
                      <a:srgbClr val="FFFFFF"/>
                    </a:solidFill>
                  </a:tcPr>
                </a:tc>
                <a:tc>
                  <a:txBody>
                    <a:bodyPr wrap="square"/>
                    <a:lstStyle/>
                    <a:p>
                      <a:r>
                        <a:rPr sz="2100" b="0" i="0">
                          <a:solidFill>
                            <a:srgbClr val="1F1F1F"/>
                          </a:solidFill>
                          <a:latin typeface="Arial"/>
                        </a:rPr>
                        <a:t>40,278</a:t>
                      </a:r>
                    </a:p>
                  </a:txBody>
                  <a:tcPr anchor="ctr" marL="137160" marR="137160">
                    <a:solidFill>
                      <a:srgbClr val="FFFFFF"/>
                    </a:solidFill>
                  </a:tcPr>
                </a:tc>
              </a:tr>
            </a:tbl>
          </a:graphicData>
        </a:graphic>
      </p:graphicFrame>
      <p:sp>
        <p:nvSpPr>
          <p:cNvPr id="12" name="Note"/>
          <p:cNvSpPr txBox="1"/>
          <p:nvPr/>
        </p:nvSpPr>
        <p:spPr>
          <a:xfrm>
            <a:off x="822960" y="7772400"/>
            <a:ext cx="16642080" cy="2011680"/>
          </a:xfrm>
          <a:prstGeom prst="rect">
            <a:avLst/>
          </a:prstGeom>
          <a:noFill/>
        </p:spPr>
        <p:txBody>
          <a:bodyPr wrap="square" anchor="t" lIns="45720" rIns="45720" tIns="27432" bIns="27432">
            <a:spAutoFit/>
          </a:bodyPr>
          <a:lstStyle/>
          <a:p>
            <a:pPr algn="l"/>
            <a:r>
              <a:rPr sz="2100" b="0" i="0">
                <a:solidFill>
                  <a:srgbClr val="1F1F1F"/>
                </a:solidFill>
                <a:latin typeface="Arial"/>
              </a:rPr>
              <a:t>The expanded model gave exactly the same answers as the old one on the old validation set (accuracy 0.429, loss 1.758), so no knowledge was lost. 38 new videos (every 10th) were held out of training to test on unseen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Relation and Temporal Models: Before and After Fine-tuning</a:t>
            </a:r>
          </a:p>
        </p:txBody>
      </p:sp>
      <p:graphicFrame>
        <p:nvGraphicFramePr>
          <p:cNvPr id="4" name="Table 3"/>
          <p:cNvGraphicFramePr>
            <a:graphicFrameLocks noGrp="1"/>
          </p:cNvGraphicFramePr>
          <p:nvPr/>
        </p:nvGraphicFramePr>
        <p:xfrm>
          <a:off x="914400" y="2743200"/>
          <a:ext cx="16459200" cy="3968496"/>
        </p:xfrm>
        <a:graphic>
          <a:graphicData uri="http://schemas.openxmlformats.org/drawingml/2006/table">
            <a:tbl>
              <a:tblPr firstRow="0" bandRow="0">
                <a:tableStyleId>{5C22544A-7EE6-4342-B048-85BDC9FD1C3A}</a:tableStyleId>
              </a:tblPr>
              <a:tblGrid>
                <a:gridCol w="3840480"/>
                <a:gridCol w="3108960"/>
                <a:gridCol w="3108960"/>
                <a:gridCol w="3200400"/>
                <a:gridCol w="3200400"/>
              </a:tblGrid>
              <a:tr h="566928">
                <a:tc>
                  <a:txBody>
                    <a:bodyPr wrap="square"/>
                    <a:lstStyle/>
                    <a:p>
                      <a:r>
                        <a:rPr sz="2000" b="1" i="0">
                          <a:solidFill>
                            <a:srgbClr val="FFFFFF"/>
                          </a:solidFill>
                          <a:latin typeface="Arial"/>
                        </a:rPr>
                        <a:t>Model</a:t>
                      </a:r>
                    </a:p>
                  </a:txBody>
                  <a:tcPr anchor="ctr" marL="137160" marR="137160">
                    <a:solidFill>
                      <a:srgbClr val="B40347"/>
                    </a:solidFill>
                  </a:tcPr>
                </a:tc>
                <a:tc>
                  <a:txBody>
                    <a:bodyPr wrap="square"/>
                    <a:lstStyle/>
                    <a:p>
                      <a:r>
                        <a:rPr sz="2000" b="1" i="0">
                          <a:solidFill>
                            <a:srgbClr val="FFFFFF"/>
                          </a:solidFill>
                          <a:latin typeface="Arial"/>
                        </a:rPr>
                        <a:t>Test set</a:t>
                      </a:r>
                    </a:p>
                  </a:txBody>
                  <a:tcPr anchor="ctr" marL="137160" marR="137160">
                    <a:solidFill>
                      <a:srgbClr val="B40347"/>
                    </a:solidFill>
                  </a:tcPr>
                </a:tc>
                <a:tc>
                  <a:txBody>
                    <a:bodyPr wrap="square"/>
                    <a:lstStyle/>
                    <a:p>
                      <a:r>
                        <a:rPr sz="2000" b="1" i="0">
                          <a:solidFill>
                            <a:srgbClr val="FFFFFF"/>
                          </a:solidFill>
                          <a:latin typeface="Arial"/>
                        </a:rPr>
                        <a:t>Accuracy</a:t>
                      </a:r>
                    </a:p>
                  </a:txBody>
                  <a:tcPr anchor="ctr" marL="137160" marR="137160">
                    <a:solidFill>
                      <a:srgbClr val="B40347"/>
                    </a:solidFill>
                  </a:tcPr>
                </a:tc>
                <a:tc>
                  <a:txBody>
                    <a:bodyPr wrap="square"/>
                    <a:lstStyle/>
                    <a:p>
                      <a:r>
                        <a:rPr sz="2000" b="1" i="0">
                          <a:solidFill>
                            <a:srgbClr val="FFFFFF"/>
                          </a:solidFill>
                          <a:latin typeface="Arial"/>
                        </a:rPr>
                        <a:t>Macro-F1</a:t>
                      </a:r>
                    </a:p>
                  </a:txBody>
                  <a:tcPr anchor="ctr" marL="137160" marR="137160">
                    <a:solidFill>
                      <a:srgbClr val="B40347"/>
                    </a:solidFill>
                  </a:tcPr>
                </a:tc>
                <a:tc>
                  <a:txBody>
                    <a:bodyPr wrap="square"/>
                    <a:lstStyle/>
                    <a:p>
                      <a:r>
                        <a:rPr sz="2000" b="1" i="0">
                          <a:solidFill>
                            <a:srgbClr val="FFFFFF"/>
                          </a:solidFill>
                          <a:latin typeface="Arial"/>
                        </a:rPr>
                        <a:t>Loss</a:t>
                      </a:r>
                    </a:p>
                  </a:txBody>
                  <a:tcPr anchor="ctr" marL="137160" marR="137160">
                    <a:solidFill>
                      <a:srgbClr val="B40347"/>
                    </a:solidFill>
                  </a:tcPr>
                </a:tc>
              </a:tr>
              <a:tr h="566928">
                <a:tc>
                  <a:txBody>
                    <a:bodyPr wrap="square"/>
                    <a:lstStyle/>
                    <a:p>
                      <a:r>
                        <a:rPr sz="2000" b="1" i="0">
                          <a:solidFill>
                            <a:srgbClr val="1F1F1F"/>
                          </a:solidFill>
                          <a:latin typeface="Arial"/>
                        </a:rPr>
                        <a:t>Relation</a:t>
                      </a:r>
                    </a:p>
                  </a:txBody>
                  <a:tcPr anchor="ctr" marL="137160" marR="137160">
                    <a:solidFill>
                      <a:srgbClr val="F3F3F3"/>
                    </a:solidFill>
                  </a:tcPr>
                </a:tc>
                <a:tc>
                  <a:txBody>
                    <a:bodyPr wrap="square"/>
                    <a:lstStyle/>
                    <a:p>
                      <a:r>
                        <a:rPr sz="2000" b="0" i="0">
                          <a:solidFill>
                            <a:srgbClr val="1F1F1F"/>
                          </a:solidFill>
                          <a:latin typeface="Arial"/>
                        </a:rPr>
                        <a:t>old val</a:t>
                      </a:r>
                    </a:p>
                  </a:txBody>
                  <a:tcPr anchor="ctr" marL="137160" marR="137160">
                    <a:solidFill>
                      <a:srgbClr val="F3F3F3"/>
                    </a:solidFill>
                  </a:tcPr>
                </a:tc>
                <a:tc>
                  <a:txBody>
                    <a:bodyPr wrap="square"/>
                    <a:lstStyle/>
                    <a:p>
                      <a:r>
                        <a:rPr sz="2000" b="0" i="0">
                          <a:solidFill>
                            <a:srgbClr val="1F1F1F"/>
                          </a:solidFill>
                          <a:latin typeface="Arial"/>
                        </a:rPr>
                        <a:t>0.429 -&gt; 0.529</a:t>
                      </a:r>
                    </a:p>
                  </a:txBody>
                  <a:tcPr anchor="ctr" marL="137160" marR="137160">
                    <a:solidFill>
                      <a:srgbClr val="F3F3F3"/>
                    </a:solidFill>
                  </a:tcPr>
                </a:tc>
                <a:tc>
                  <a:txBody>
                    <a:bodyPr wrap="square"/>
                    <a:lstStyle/>
                    <a:p>
                      <a:r>
                        <a:rPr sz="2000" b="0" i="0">
                          <a:solidFill>
                            <a:srgbClr val="1F1F1F"/>
                          </a:solidFill>
                          <a:latin typeface="Arial"/>
                        </a:rPr>
                        <a:t>0.068 -&gt; 0.077</a:t>
                      </a:r>
                    </a:p>
                  </a:txBody>
                  <a:tcPr anchor="ctr" marL="137160" marR="137160">
                    <a:solidFill>
                      <a:srgbClr val="F3F3F3"/>
                    </a:solidFill>
                  </a:tcPr>
                </a:tc>
                <a:tc>
                  <a:txBody>
                    <a:bodyPr wrap="square"/>
                    <a:lstStyle/>
                    <a:p>
                      <a:r>
                        <a:rPr sz="2000" b="0" i="0">
                          <a:solidFill>
                            <a:srgbClr val="1F1F1F"/>
                          </a:solidFill>
                          <a:latin typeface="Arial"/>
                        </a:rPr>
                        <a:t>1.758 -&gt; 1.490</a:t>
                      </a:r>
                    </a:p>
                  </a:txBody>
                  <a:tcPr anchor="ctr" marL="137160" marR="137160">
                    <a:solidFill>
                      <a:srgbClr val="F3F3F3"/>
                    </a:solidFill>
                  </a:tcPr>
                </a:tc>
              </a:tr>
              <a:tr h="566928">
                <a:tc>
                  <a:txBody>
                    <a:bodyPr wrap="square"/>
                    <a:lstStyle/>
                    <a:p>
                      <a:r>
                        <a:rPr sz="2000" b="1" i="0">
                          <a:solidFill>
                            <a:srgbClr val="1F1F1F"/>
                          </a:solidFill>
                          <a:latin typeface="Arial"/>
                        </a:rPr>
                        <a:t>Relation</a:t>
                      </a:r>
                    </a:p>
                  </a:txBody>
                  <a:tcPr anchor="ctr" marL="137160" marR="137160">
                    <a:solidFill>
                      <a:srgbClr val="FFFFFF"/>
                    </a:solidFill>
                  </a:tcPr>
                </a:tc>
                <a:tc>
                  <a:txBody>
                    <a:bodyPr wrap="square"/>
                    <a:lstStyle/>
                    <a:p>
                      <a:r>
                        <a:rPr sz="2000" b="0" i="0">
                          <a:solidFill>
                            <a:srgbClr val="1F1F1F"/>
                          </a:solidFill>
                          <a:latin typeface="Arial"/>
                        </a:rPr>
                        <a:t>new videos</a:t>
                      </a:r>
                    </a:p>
                  </a:txBody>
                  <a:tcPr anchor="ctr" marL="137160" marR="137160">
                    <a:solidFill>
                      <a:srgbClr val="FFFFFF"/>
                    </a:solidFill>
                  </a:tcPr>
                </a:tc>
                <a:tc>
                  <a:txBody>
                    <a:bodyPr wrap="square"/>
                    <a:lstStyle/>
                    <a:p>
                      <a:r>
                        <a:rPr sz="2000" b="0" i="0">
                          <a:solidFill>
                            <a:srgbClr val="1F1F1F"/>
                          </a:solidFill>
                          <a:latin typeface="Arial"/>
                        </a:rPr>
                        <a:t>0.303 -&gt; 0.407</a:t>
                      </a:r>
                    </a:p>
                  </a:txBody>
                  <a:tcPr anchor="ctr" marL="137160" marR="137160">
                    <a:solidFill>
                      <a:srgbClr val="FFFFFF"/>
                    </a:solidFill>
                  </a:tcPr>
                </a:tc>
                <a:tc>
                  <a:txBody>
                    <a:bodyPr wrap="square"/>
                    <a:lstStyle/>
                    <a:p>
                      <a:r>
                        <a:rPr sz="2000" b="0" i="0">
                          <a:solidFill>
                            <a:srgbClr val="1F1F1F"/>
                          </a:solidFill>
                          <a:latin typeface="Arial"/>
                        </a:rPr>
                        <a:t>0.098 -&gt; 0.124</a:t>
                      </a:r>
                    </a:p>
                  </a:txBody>
                  <a:tcPr anchor="ctr" marL="137160" marR="137160">
                    <a:solidFill>
                      <a:srgbClr val="FFFFFF"/>
                    </a:solidFill>
                  </a:tcPr>
                </a:tc>
                <a:tc>
                  <a:txBody>
                    <a:bodyPr wrap="square"/>
                    <a:lstStyle/>
                    <a:p>
                      <a:r>
                        <a:rPr sz="2000" b="0" i="0">
                          <a:solidFill>
                            <a:srgbClr val="1F1F1F"/>
                          </a:solidFill>
                          <a:latin typeface="Arial"/>
                        </a:rPr>
                        <a:t>2.264 -&gt; 1.781</a:t>
                      </a:r>
                    </a:p>
                  </a:txBody>
                  <a:tcPr anchor="ctr" marL="137160" marR="137160">
                    <a:solidFill>
                      <a:srgbClr val="FFFFFF"/>
                    </a:solidFill>
                  </a:tcPr>
                </a:tc>
              </a:tr>
              <a:tr h="566928">
                <a:tc>
                  <a:txBody>
                    <a:bodyPr wrap="square"/>
                    <a:lstStyle/>
                    <a:p>
                      <a:r>
                        <a:rPr sz="2000" b="1" i="0">
                          <a:solidFill>
                            <a:srgbClr val="1F1F1F"/>
                          </a:solidFill>
                          <a:latin typeface="Arial"/>
                        </a:rPr>
                        <a:t>Temporal LSTM</a:t>
                      </a:r>
                    </a:p>
                  </a:txBody>
                  <a:tcPr anchor="ctr" marL="137160" marR="137160">
                    <a:solidFill>
                      <a:srgbClr val="F3F3F3"/>
                    </a:solidFill>
                  </a:tcPr>
                </a:tc>
                <a:tc>
                  <a:txBody>
                    <a:bodyPr wrap="square"/>
                    <a:lstStyle/>
                    <a:p>
                      <a:r>
                        <a:rPr sz="2000" b="0" i="0">
                          <a:solidFill>
                            <a:srgbClr val="1F1F1F"/>
                          </a:solidFill>
                          <a:latin typeface="Arial"/>
                        </a:rPr>
                        <a:t>old val</a:t>
                      </a:r>
                    </a:p>
                  </a:txBody>
                  <a:tcPr anchor="ctr" marL="137160" marR="137160">
                    <a:solidFill>
                      <a:srgbClr val="F3F3F3"/>
                    </a:solidFill>
                  </a:tcPr>
                </a:tc>
                <a:tc>
                  <a:txBody>
                    <a:bodyPr wrap="square"/>
                    <a:lstStyle/>
                    <a:p>
                      <a:r>
                        <a:rPr sz="2000" b="0" i="0">
                          <a:solidFill>
                            <a:srgbClr val="1F1F1F"/>
                          </a:solidFill>
                          <a:latin typeface="Arial"/>
                        </a:rPr>
                        <a:t>0.645 -&gt; 0.586</a:t>
                      </a:r>
                    </a:p>
                  </a:txBody>
                  <a:tcPr anchor="ctr" marL="137160" marR="137160">
                    <a:solidFill>
                      <a:srgbClr val="F3F3F3"/>
                    </a:solidFill>
                  </a:tcPr>
                </a:tc>
                <a:tc>
                  <a:txBody>
                    <a:bodyPr wrap="square"/>
                    <a:lstStyle/>
                    <a:p>
                      <a:r>
                        <a:rPr sz="2000" b="0" i="0">
                          <a:solidFill>
                            <a:srgbClr val="1F1F1F"/>
                          </a:solidFill>
                          <a:latin typeface="Arial"/>
                        </a:rPr>
                        <a:t>0.072 -&gt; 0.099</a:t>
                      </a:r>
                    </a:p>
                  </a:txBody>
                  <a:tcPr anchor="ctr" marL="137160" marR="137160">
                    <a:solidFill>
                      <a:srgbClr val="F3F3F3"/>
                    </a:solidFill>
                  </a:tcPr>
                </a:tc>
                <a:tc>
                  <a:txBody>
                    <a:bodyPr wrap="square"/>
                    <a:lstStyle/>
                    <a:p>
                      <a:r>
                        <a:rPr sz="2000" b="0" i="0">
                          <a:solidFill>
                            <a:srgbClr val="1F1F1F"/>
                          </a:solidFill>
                          <a:latin typeface="Arial"/>
                        </a:rPr>
                        <a:t>1.317 -&gt; 1.375</a:t>
                      </a:r>
                    </a:p>
                  </a:txBody>
                  <a:tcPr anchor="ctr" marL="137160" marR="137160">
                    <a:solidFill>
                      <a:srgbClr val="F3F3F3"/>
                    </a:solidFill>
                  </a:tcPr>
                </a:tc>
              </a:tr>
              <a:tr h="566928">
                <a:tc>
                  <a:txBody>
                    <a:bodyPr wrap="square"/>
                    <a:lstStyle/>
                    <a:p>
                      <a:r>
                        <a:rPr sz="2000" b="1" i="0">
                          <a:solidFill>
                            <a:srgbClr val="1F1F1F"/>
                          </a:solidFill>
                          <a:latin typeface="Arial"/>
                        </a:rPr>
                        <a:t>Temporal LSTM</a:t>
                      </a:r>
                    </a:p>
                  </a:txBody>
                  <a:tcPr anchor="ctr" marL="137160" marR="137160">
                    <a:solidFill>
                      <a:srgbClr val="FFFFFF"/>
                    </a:solidFill>
                  </a:tcPr>
                </a:tc>
                <a:tc>
                  <a:txBody>
                    <a:bodyPr wrap="square"/>
                    <a:lstStyle/>
                    <a:p>
                      <a:r>
                        <a:rPr sz="2000" b="0" i="0">
                          <a:solidFill>
                            <a:srgbClr val="1F1F1F"/>
                          </a:solidFill>
                          <a:latin typeface="Arial"/>
                        </a:rPr>
                        <a:t>new videos</a:t>
                      </a:r>
                    </a:p>
                  </a:txBody>
                  <a:tcPr anchor="ctr" marL="137160" marR="137160">
                    <a:solidFill>
                      <a:srgbClr val="FFFFFF"/>
                    </a:solidFill>
                  </a:tcPr>
                </a:tc>
                <a:tc>
                  <a:txBody>
                    <a:bodyPr wrap="square"/>
                    <a:lstStyle/>
                    <a:p>
                      <a:r>
                        <a:rPr sz="2000" b="0" i="0">
                          <a:solidFill>
                            <a:srgbClr val="1F1F1F"/>
                          </a:solidFill>
                          <a:latin typeface="Arial"/>
                        </a:rPr>
                        <a:t>0.278 -&gt; 0.372</a:t>
                      </a:r>
                    </a:p>
                  </a:txBody>
                  <a:tcPr anchor="ctr" marL="137160" marR="137160">
                    <a:solidFill>
                      <a:srgbClr val="FFFFFF"/>
                    </a:solidFill>
                  </a:tcPr>
                </a:tc>
                <a:tc>
                  <a:txBody>
                    <a:bodyPr wrap="square"/>
                    <a:lstStyle/>
                    <a:p>
                      <a:r>
                        <a:rPr sz="2000" b="0" i="0">
                          <a:solidFill>
                            <a:srgbClr val="1F1F1F"/>
                          </a:solidFill>
                          <a:latin typeface="Arial"/>
                        </a:rPr>
                        <a:t>0.026 -&gt; 0.074</a:t>
                      </a:r>
                    </a:p>
                  </a:txBody>
                  <a:tcPr anchor="ctr" marL="137160" marR="137160">
                    <a:solidFill>
                      <a:srgbClr val="FFFFFF"/>
                    </a:solidFill>
                  </a:tcPr>
                </a:tc>
                <a:tc>
                  <a:txBody>
                    <a:bodyPr wrap="square"/>
                    <a:lstStyle/>
                    <a:p>
                      <a:r>
                        <a:rPr sz="2000" b="0" i="0">
                          <a:solidFill>
                            <a:srgbClr val="1F1F1F"/>
                          </a:solidFill>
                          <a:latin typeface="Arial"/>
                        </a:rPr>
                        <a:t>2.100 -&gt; 1.891</a:t>
                      </a:r>
                    </a:p>
                  </a:txBody>
                  <a:tcPr anchor="ctr" marL="137160" marR="137160">
                    <a:solidFill>
                      <a:srgbClr val="FFFFFF"/>
                    </a:solidFill>
                  </a:tcPr>
                </a:tc>
              </a:tr>
              <a:tr h="566928">
                <a:tc>
                  <a:txBody>
                    <a:bodyPr wrap="square"/>
                    <a:lstStyle/>
                    <a:p>
                      <a:r>
                        <a:rPr sz="2000" b="1" i="0">
                          <a:solidFill>
                            <a:srgbClr val="1F1F1F"/>
                          </a:solidFill>
                          <a:latin typeface="Arial"/>
                        </a:rPr>
                        <a:t>Temporal GRU</a:t>
                      </a:r>
                    </a:p>
                  </a:txBody>
                  <a:tcPr anchor="ctr" marL="137160" marR="137160">
                    <a:solidFill>
                      <a:srgbClr val="F3F3F3"/>
                    </a:solidFill>
                  </a:tcPr>
                </a:tc>
                <a:tc>
                  <a:txBody>
                    <a:bodyPr wrap="square"/>
                    <a:lstStyle/>
                    <a:p>
                      <a:r>
                        <a:rPr sz="2000" b="0" i="0">
                          <a:solidFill>
                            <a:srgbClr val="1F1F1F"/>
                          </a:solidFill>
                          <a:latin typeface="Arial"/>
                        </a:rPr>
                        <a:t>old val</a:t>
                      </a:r>
                    </a:p>
                  </a:txBody>
                  <a:tcPr anchor="ctr" marL="137160" marR="137160">
                    <a:solidFill>
                      <a:srgbClr val="F3F3F3"/>
                    </a:solidFill>
                  </a:tcPr>
                </a:tc>
                <a:tc>
                  <a:txBody>
                    <a:bodyPr wrap="square"/>
                    <a:lstStyle/>
                    <a:p>
                      <a:r>
                        <a:rPr sz="2000" b="0" i="0">
                          <a:solidFill>
                            <a:srgbClr val="1F1F1F"/>
                          </a:solidFill>
                          <a:latin typeface="Arial"/>
                        </a:rPr>
                        <a:t>0.576 -&gt; 0.628</a:t>
                      </a:r>
                    </a:p>
                  </a:txBody>
                  <a:tcPr anchor="ctr" marL="137160" marR="137160">
                    <a:solidFill>
                      <a:srgbClr val="F3F3F3"/>
                    </a:solidFill>
                  </a:tcPr>
                </a:tc>
                <a:tc>
                  <a:txBody>
                    <a:bodyPr wrap="square"/>
                    <a:lstStyle/>
                    <a:p>
                      <a:r>
                        <a:rPr sz="2000" b="0" i="0">
                          <a:solidFill>
                            <a:srgbClr val="1F1F1F"/>
                          </a:solidFill>
                          <a:latin typeface="Arial"/>
                        </a:rPr>
                        <a:t>0.075 -&gt; 0.113</a:t>
                      </a:r>
                    </a:p>
                  </a:txBody>
                  <a:tcPr anchor="ctr" marL="137160" marR="137160">
                    <a:solidFill>
                      <a:srgbClr val="F3F3F3"/>
                    </a:solidFill>
                  </a:tcPr>
                </a:tc>
                <a:tc>
                  <a:txBody>
                    <a:bodyPr wrap="square"/>
                    <a:lstStyle/>
                    <a:p>
                      <a:r>
                        <a:rPr sz="2000" b="0" i="0">
                          <a:solidFill>
                            <a:srgbClr val="1F1F1F"/>
                          </a:solidFill>
                          <a:latin typeface="Arial"/>
                        </a:rPr>
                        <a:t>1.510 -&gt; 1.372</a:t>
                      </a:r>
                    </a:p>
                  </a:txBody>
                  <a:tcPr anchor="ctr" marL="137160" marR="137160">
                    <a:solidFill>
                      <a:srgbClr val="F3F3F3"/>
                    </a:solidFill>
                  </a:tcPr>
                </a:tc>
              </a:tr>
              <a:tr h="566928">
                <a:tc>
                  <a:txBody>
                    <a:bodyPr wrap="square"/>
                    <a:lstStyle/>
                    <a:p>
                      <a:r>
                        <a:rPr sz="2000" b="1" i="0">
                          <a:solidFill>
                            <a:srgbClr val="1F1F1F"/>
                          </a:solidFill>
                          <a:latin typeface="Arial"/>
                        </a:rPr>
                        <a:t>Temporal GRU</a:t>
                      </a:r>
                    </a:p>
                  </a:txBody>
                  <a:tcPr anchor="ctr" marL="137160" marR="137160">
                    <a:solidFill>
                      <a:srgbClr val="FFFFFF"/>
                    </a:solidFill>
                  </a:tcPr>
                </a:tc>
                <a:tc>
                  <a:txBody>
                    <a:bodyPr wrap="square"/>
                    <a:lstStyle/>
                    <a:p>
                      <a:r>
                        <a:rPr sz="2000" b="0" i="0">
                          <a:solidFill>
                            <a:srgbClr val="1F1F1F"/>
                          </a:solidFill>
                          <a:latin typeface="Arial"/>
                        </a:rPr>
                        <a:t>new videos</a:t>
                      </a:r>
                    </a:p>
                  </a:txBody>
                  <a:tcPr anchor="ctr" marL="137160" marR="137160">
                    <a:solidFill>
                      <a:srgbClr val="FFFFFF"/>
                    </a:solidFill>
                  </a:tcPr>
                </a:tc>
                <a:tc>
                  <a:txBody>
                    <a:bodyPr wrap="square"/>
                    <a:lstStyle/>
                    <a:p>
                      <a:r>
                        <a:rPr sz="2000" b="0" i="0">
                          <a:solidFill>
                            <a:srgbClr val="1F1F1F"/>
                          </a:solidFill>
                          <a:latin typeface="Arial"/>
                        </a:rPr>
                        <a:t>0.281 -&gt; 0.390</a:t>
                      </a:r>
                    </a:p>
                  </a:txBody>
                  <a:tcPr anchor="ctr" marL="137160" marR="137160">
                    <a:solidFill>
                      <a:srgbClr val="FFFFFF"/>
                    </a:solidFill>
                  </a:tcPr>
                </a:tc>
                <a:tc>
                  <a:txBody>
                    <a:bodyPr wrap="square"/>
                    <a:lstStyle/>
                    <a:p>
                      <a:r>
                        <a:rPr sz="2000" b="0" i="0">
                          <a:solidFill>
                            <a:srgbClr val="1F1F1F"/>
                          </a:solidFill>
                          <a:latin typeface="Arial"/>
                        </a:rPr>
                        <a:t>0.032 -&gt; 0.063</a:t>
                      </a:r>
                    </a:p>
                  </a:txBody>
                  <a:tcPr anchor="ctr" marL="137160" marR="137160">
                    <a:solidFill>
                      <a:srgbClr val="FFFFFF"/>
                    </a:solidFill>
                  </a:tcPr>
                </a:tc>
                <a:tc>
                  <a:txBody>
                    <a:bodyPr wrap="square"/>
                    <a:lstStyle/>
                    <a:p>
                      <a:r>
                        <a:rPr sz="2000" b="0" i="0">
                          <a:solidFill>
                            <a:srgbClr val="1F1F1F"/>
                          </a:solidFill>
                          <a:latin typeface="Arial"/>
                        </a:rPr>
                        <a:t>2.284 -&gt; 1.809</a:t>
                      </a:r>
                    </a:p>
                  </a:txBody>
                  <a:tcPr anchor="ctr" marL="137160" marR="137160">
                    <a:solidFill>
                      <a:srgbClr val="FFFFFF"/>
                    </a:solidFill>
                  </a:tcPr>
                </a:tc>
              </a:tr>
            </a:tbl>
          </a:graphicData>
        </a:graphic>
      </p:graphicFrame>
      <p:sp>
        <p:nvSpPr>
          <p:cNvPr id="5" name="Bullets"/>
          <p:cNvSpPr txBox="1"/>
          <p:nvPr/>
        </p:nvSpPr>
        <p:spPr>
          <a:xfrm>
            <a:off x="914400" y="6858000"/>
            <a:ext cx="16459200" cy="2926080"/>
          </a:xfrm>
          <a:prstGeom prst="rect">
            <a:avLst/>
          </a:prstGeom>
          <a:noFill/>
        </p:spPr>
        <p:txBody>
          <a:bodyPr wrap="square" lIns="45720" rIns="45720">
            <a:spAutoFit/>
          </a:bodyPr>
          <a:lstStyle/>
          <a:p>
            <a:pPr marL="347472" indent="-347472">
              <a:spcAft>
                <a:spcPts val="600"/>
              </a:spcAft>
              <a:buClr>
                <a:srgbClr val="B40347"/>
              </a:buClr>
              <a:buChar char="•"/>
            </a:pPr>
            <a:r>
              <a:rPr sz="1900" b="0" i="0">
                <a:solidFill>
                  <a:srgbClr val="1F1F1F"/>
                </a:solidFill>
                <a:latin typeface="Arial"/>
              </a:rPr>
              <a:t>Every model improves on the unseen new videos; the old models had never seen most of the 78 classes.</a:t>
            </a:r>
          </a:p>
          <a:p>
            <a:pPr marL="347472" indent="-347472">
              <a:spcAft>
                <a:spcPts val="600"/>
              </a:spcAft>
              <a:buClr>
                <a:srgbClr val="B40347"/>
              </a:buClr>
              <a:buChar char="•"/>
            </a:pPr>
            <a:r>
              <a:rPr sz="1900" b="0" i="0">
                <a:solidFill>
                  <a:srgbClr val="1F1F1F"/>
                </a:solidFill>
                <a:latin typeface="Arial"/>
              </a:rPr>
              <a:t>The LSTM is slightly worse on the old validation set (accuracy 0.645 to 0.586); the GRU improves on both.</a:t>
            </a:r>
          </a:p>
          <a:p>
            <a:pPr marL="347472" indent="-347472">
              <a:spcAft>
                <a:spcPts val="600"/>
              </a:spcAft>
              <a:buClr>
                <a:srgbClr val="B40347"/>
              </a:buClr>
              <a:buChar char="•"/>
            </a:pPr>
            <a:r>
              <a:rPr sz="1900" b="0" i="0">
                <a:solidFill>
                  <a:srgbClr val="1F1F1F"/>
                </a:solidFill>
                <a:latin typeface="Arial"/>
              </a:rPr>
              <a:t>Scores are still low: macro-F1 is at most 0.13, because background pairs dominate the data.</a:t>
            </a:r>
          </a:p>
          <a:p>
            <a:pPr marL="347472" indent="-347472">
              <a:spcAft>
                <a:spcPts val="600"/>
              </a:spcAft>
              <a:buClr>
                <a:srgbClr val="B40347"/>
              </a:buClr>
              <a:buChar char="•"/>
            </a:pPr>
            <a:r>
              <a:rPr sz="1900" b="0" i="0">
                <a:solidFill>
                  <a:srgbClr val="1F1F1F"/>
                </a:solidFill>
                <a:latin typeface="Arial"/>
              </a:rPr>
              <a:t>Validation loss is best after 1 to 3 epochs, then rises (over-fitting), so early stopping chose the checkpoints.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Why Two Predicates Dominated the Graphs</a:t>
            </a:r>
          </a:p>
        </p:txBody>
      </p:sp>
      <p:graphicFrame>
        <p:nvGraphicFramePr>
          <p:cNvPr id="4" name="Chart 3"/>
          <p:cNvGraphicFramePr>
            <a:graphicFrameLocks noGrp="1"/>
          </p:cNvGraphicFramePr>
          <p:nvPr/>
        </p:nvGraphicFramePr>
        <p:xfrm>
          <a:off x="731520" y="2743200"/>
          <a:ext cx="8595360" cy="6583680"/>
        </p:xfrm>
        <a:graphic>
          <a:graphicData uri="http://schemas.openxmlformats.org/drawingml/2006/chart">
            <c:chart xmlns:c="http://schemas.openxmlformats.org/drawingml/2006/chart" r:id="rId2"/>
          </a:graphicData>
        </a:graphic>
      </p:graphicFrame>
      <p:sp>
        <p:nvSpPr>
          <p:cNvPr id="5" name="Bullets"/>
          <p:cNvSpPr txBox="1"/>
          <p:nvPr/>
        </p:nvSpPr>
        <p:spPr>
          <a:xfrm>
            <a:off x="9692640" y="2834640"/>
            <a:ext cx="7863840" cy="6766560"/>
          </a:xfrm>
          <a:prstGeom prst="rect">
            <a:avLst/>
          </a:prstGeom>
          <a:noFill/>
        </p:spPr>
        <p:txBody>
          <a:bodyPr wrap="square" lIns="45720" rIns="45720">
            <a:spAutoFit/>
          </a:bodyPr>
          <a:lstStyle/>
          <a:p>
            <a:pPr marL="347472" indent="-347472">
              <a:spcAft>
                <a:spcPts val="1200"/>
              </a:spcAft>
              <a:buClr>
                <a:srgbClr val="B40347"/>
              </a:buClr>
              <a:buChar char="•"/>
            </a:pPr>
            <a:r>
              <a:rPr sz="2100" b="1" i="0">
                <a:solidFill>
                  <a:srgbClr val="1F1F1F"/>
                </a:solidFill>
                <a:latin typeface="Arial"/>
              </a:rPr>
              <a:t>Data: </a:t>
            </a:r>
            <a:r>
              <a:rPr sz="2100" b="0" i="0">
                <a:solidFill>
                  <a:srgbClr val="1F1F1F"/>
                </a:solidFill>
                <a:latin typeface="Arial"/>
              </a:rPr>
              <a:t>next_to and in_front_of are 72% of all positive labels; the rarest predicates have fewer than 30 samples.</a:t>
            </a:r>
          </a:p>
          <a:p>
            <a:pPr marL="347472" indent="-347472">
              <a:spcAft>
                <a:spcPts val="1200"/>
              </a:spcAft>
              <a:buClr>
                <a:srgbClr val="B40347"/>
              </a:buClr>
              <a:buChar char="•"/>
            </a:pPr>
            <a:r>
              <a:rPr sz="2100" b="1" i="0">
                <a:solidFill>
                  <a:srgbClr val="1F1F1F"/>
                </a:solidFill>
                <a:latin typeface="Arial"/>
              </a:rPr>
              <a:t>Loss: </a:t>
            </a:r>
            <a:r>
              <a:rPr sz="2100" b="0" i="0">
                <a:solidFill>
                  <a:srgbClr val="1F1F1F"/>
                </a:solidFill>
                <a:latin typeface="Arial"/>
              </a:rPr>
              <a:t>v1 used an unweighted loss, so guessing the common classes pays off.</a:t>
            </a:r>
          </a:p>
          <a:p>
            <a:pPr marL="347472" indent="-347472">
              <a:spcAft>
                <a:spcPts val="1200"/>
              </a:spcAft>
              <a:buClr>
                <a:srgbClr val="B40347"/>
              </a:buClr>
              <a:buChar char="•"/>
            </a:pPr>
            <a:r>
              <a:rPr sz="2100" b="1" i="0">
                <a:solidFill>
                  <a:srgbClr val="1F1F1F"/>
                </a:solidFill>
                <a:latin typeface="Arial"/>
              </a:rPr>
              <a:t>Checkpoints: </a:t>
            </a:r>
            <a:r>
              <a:rPr sz="2100" b="0" i="0">
                <a:solidFill>
                  <a:srgbClr val="1F1F1F"/>
                </a:solidFill>
                <a:latin typeface="Arial"/>
              </a:rPr>
              <a:t>v1 was chosen by validation loss, but macro-F1 on new videos was still rising (0.124 to 0.156 by epoch 5).</a:t>
            </a:r>
          </a:p>
          <a:p>
            <a:pPr marL="347472" indent="-347472">
              <a:spcAft>
                <a:spcPts val="1200"/>
              </a:spcAft>
              <a:buClr>
                <a:srgbClr val="B40347"/>
              </a:buClr>
              <a:buChar char="•"/>
            </a:pPr>
            <a:r>
              <a:rPr sz="2100" b="1" i="0">
                <a:solidFill>
                  <a:srgbClr val="1F1F1F"/>
                </a:solidFill>
                <a:latin typeface="Arial"/>
              </a:rPr>
              <a:t>Result: </a:t>
            </a:r>
            <a:r>
              <a:rPr sz="2100" b="0" i="0">
                <a:solidFill>
                  <a:srgbClr val="1F1F1F"/>
                </a:solidFill>
                <a:latin typeface="Arial"/>
              </a:rPr>
              <a:t>v1 predicted only 11 of 32 predicates (the GRU only 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The Fix: Class-balanced Loss, Checkpoints by Macro-F1</a:t>
            </a:r>
          </a:p>
        </p:txBody>
      </p:sp>
      <p:graphicFrame>
        <p:nvGraphicFramePr>
          <p:cNvPr id="4" name="Table 3"/>
          <p:cNvGraphicFramePr>
            <a:graphicFrameLocks noGrp="1"/>
          </p:cNvGraphicFramePr>
          <p:nvPr/>
        </p:nvGraphicFramePr>
        <p:xfrm>
          <a:off x="914400" y="2743200"/>
          <a:ext cx="16459200" cy="3968496"/>
        </p:xfrm>
        <a:graphic>
          <a:graphicData uri="http://schemas.openxmlformats.org/drawingml/2006/table">
            <a:tbl>
              <a:tblPr firstRow="0" bandRow="0">
                <a:tableStyleId>{5C22544A-7EE6-4342-B048-85BDC9FD1C3A}</a:tableStyleId>
              </a:tblPr>
              <a:tblGrid>
                <a:gridCol w="3291840"/>
                <a:gridCol w="2560320"/>
                <a:gridCol w="3108960"/>
                <a:gridCol w="2926080"/>
                <a:gridCol w="2468880"/>
                <a:gridCol w="2103120"/>
              </a:tblGrid>
              <a:tr h="566928">
                <a:tc>
                  <a:txBody>
                    <a:bodyPr wrap="square"/>
                    <a:lstStyle/>
                    <a:p>
                      <a:r>
                        <a:rPr sz="1900" b="1" i="0">
                          <a:solidFill>
                            <a:srgbClr val="FFFFFF"/>
                          </a:solidFill>
                          <a:latin typeface="Arial"/>
                        </a:rPr>
                        <a:t>Model</a:t>
                      </a:r>
                    </a:p>
                  </a:txBody>
                  <a:tcPr anchor="ctr" marL="137160" marR="137160">
                    <a:solidFill>
                      <a:srgbClr val="B40347"/>
                    </a:solidFill>
                  </a:tcPr>
                </a:tc>
                <a:tc>
                  <a:txBody>
                    <a:bodyPr wrap="square"/>
                    <a:lstStyle/>
                    <a:p>
                      <a:r>
                        <a:rPr sz="1900" b="1" i="0">
                          <a:solidFill>
                            <a:srgbClr val="FFFFFF"/>
                          </a:solidFill>
                          <a:latin typeface="Arial"/>
                        </a:rPr>
                        <a:t>Test set</a:t>
                      </a:r>
                    </a:p>
                  </a:txBody>
                  <a:tcPr anchor="ctr" marL="137160" marR="137160">
                    <a:solidFill>
                      <a:srgbClr val="B40347"/>
                    </a:solidFill>
                  </a:tcPr>
                </a:tc>
                <a:tc>
                  <a:txBody>
                    <a:bodyPr wrap="square"/>
                    <a:lstStyle/>
                    <a:p>
                      <a:r>
                        <a:rPr sz="1900" b="1" i="0">
                          <a:solidFill>
                            <a:srgbClr val="FFFFFF"/>
                          </a:solidFill>
                          <a:latin typeface="Arial"/>
                        </a:rPr>
                        <a:t>Macro-F1</a:t>
                      </a:r>
                    </a:p>
                  </a:txBody>
                  <a:tcPr anchor="ctr" marL="137160" marR="137160">
                    <a:solidFill>
                      <a:srgbClr val="B40347"/>
                    </a:solidFill>
                  </a:tcPr>
                </a:tc>
                <a:tc>
                  <a:txBody>
                    <a:bodyPr wrap="square"/>
                    <a:lstStyle/>
                    <a:p>
                      <a:r>
                        <a:rPr sz="1900" b="1" i="0">
                          <a:solidFill>
                            <a:srgbClr val="FFFFFF"/>
                          </a:solidFill>
                          <a:latin typeface="Arial"/>
                        </a:rPr>
                        <a:t>Accuracy</a:t>
                      </a:r>
                    </a:p>
                  </a:txBody>
                  <a:tcPr anchor="ctr" marL="137160" marR="137160">
                    <a:solidFill>
                      <a:srgbClr val="B40347"/>
                    </a:solidFill>
                  </a:tcPr>
                </a:tc>
                <a:tc>
                  <a:txBody>
                    <a:bodyPr wrap="square"/>
                    <a:lstStyle/>
                    <a:p>
                      <a:r>
                        <a:rPr sz="1900" b="1" i="0">
                          <a:solidFill>
                            <a:srgbClr val="FFFFFF"/>
                          </a:solidFill>
                          <a:latin typeface="Arial"/>
                        </a:rPr>
                        <a:t>Predicates used</a:t>
                      </a:r>
                    </a:p>
                  </a:txBody>
                  <a:tcPr anchor="ctr" marL="137160" marR="137160">
                    <a:solidFill>
                      <a:srgbClr val="B40347"/>
                    </a:solidFill>
                  </a:tcPr>
                </a:tc>
                <a:tc>
                  <a:txBody>
                    <a:bodyPr wrap="square"/>
                    <a:lstStyle/>
                    <a:p>
                      <a:r>
                        <a:rPr sz="1900" b="1" i="0">
                          <a:solidFill>
                            <a:srgbClr val="FFFFFF"/>
                          </a:solidFill>
                          <a:latin typeface="Arial"/>
                        </a:rPr>
                        <a:t>Top-2 share</a:t>
                      </a:r>
                    </a:p>
                  </a:txBody>
                  <a:tcPr anchor="ctr" marL="137160" marR="137160">
                    <a:solidFill>
                      <a:srgbClr val="B40347"/>
                    </a:solidFill>
                  </a:tcPr>
                </a:tc>
              </a:tr>
              <a:tr h="566928">
                <a:tc>
                  <a:txBody>
                    <a:bodyPr wrap="square"/>
                    <a:lstStyle/>
                    <a:p>
                      <a:r>
                        <a:rPr sz="1900" b="1" i="0">
                          <a:solidFill>
                            <a:srgbClr val="1F1F1F"/>
                          </a:solidFill>
                          <a:latin typeface="Arial"/>
                        </a:rPr>
                        <a:t>Relation</a:t>
                      </a:r>
                    </a:p>
                  </a:txBody>
                  <a:tcPr anchor="ctr" marL="137160" marR="137160">
                    <a:solidFill>
                      <a:srgbClr val="F3F3F3"/>
                    </a:solidFill>
                  </a:tcPr>
                </a:tc>
                <a:tc>
                  <a:txBody>
                    <a:bodyPr wrap="square"/>
                    <a:lstStyle/>
                    <a:p>
                      <a:r>
                        <a:rPr sz="1900" b="0" i="0">
                          <a:solidFill>
                            <a:srgbClr val="1F1F1F"/>
                          </a:solidFill>
                          <a:latin typeface="Arial"/>
                        </a:rPr>
                        <a:t>new videos</a:t>
                      </a:r>
                    </a:p>
                  </a:txBody>
                  <a:tcPr anchor="ctr" marL="137160" marR="137160">
                    <a:solidFill>
                      <a:srgbClr val="F3F3F3"/>
                    </a:solidFill>
                  </a:tcPr>
                </a:tc>
                <a:tc>
                  <a:txBody>
                    <a:bodyPr wrap="square"/>
                    <a:lstStyle/>
                    <a:p>
                      <a:r>
                        <a:rPr sz="1900" b="0" i="0">
                          <a:solidFill>
                            <a:srgbClr val="1F1F1F"/>
                          </a:solidFill>
                          <a:latin typeface="Arial"/>
                        </a:rPr>
                        <a:t>0.124 -&gt; 0.189</a:t>
                      </a:r>
                    </a:p>
                  </a:txBody>
                  <a:tcPr anchor="ctr" marL="137160" marR="137160">
                    <a:solidFill>
                      <a:srgbClr val="F3F3F3"/>
                    </a:solidFill>
                  </a:tcPr>
                </a:tc>
                <a:tc>
                  <a:txBody>
                    <a:bodyPr wrap="square"/>
                    <a:lstStyle/>
                    <a:p>
                      <a:r>
                        <a:rPr sz="1900" b="0" i="0">
                          <a:solidFill>
                            <a:srgbClr val="1F1F1F"/>
                          </a:solidFill>
                          <a:latin typeface="Arial"/>
                        </a:rPr>
                        <a:t>0.407 -&gt; 0.406</a:t>
                      </a:r>
                    </a:p>
                  </a:txBody>
                  <a:tcPr anchor="ctr" marL="137160" marR="137160">
                    <a:solidFill>
                      <a:srgbClr val="F3F3F3"/>
                    </a:solidFill>
                  </a:tcPr>
                </a:tc>
                <a:tc>
                  <a:txBody>
                    <a:bodyPr wrap="square"/>
                    <a:lstStyle/>
                    <a:p>
                      <a:r>
                        <a:rPr sz="1900" b="0" i="0">
                          <a:solidFill>
                            <a:srgbClr val="1F1F1F"/>
                          </a:solidFill>
                          <a:latin typeface="Arial"/>
                        </a:rPr>
                        <a:t>11 -&gt; 23</a:t>
                      </a:r>
                    </a:p>
                  </a:txBody>
                  <a:tcPr anchor="ctr" marL="137160" marR="137160">
                    <a:solidFill>
                      <a:srgbClr val="F3F3F3"/>
                    </a:solidFill>
                  </a:tcPr>
                </a:tc>
                <a:tc>
                  <a:txBody>
                    <a:bodyPr wrap="square"/>
                    <a:lstStyle/>
                    <a:p>
                      <a:r>
                        <a:rPr sz="1900" b="0" i="0">
                          <a:solidFill>
                            <a:srgbClr val="1F1F1F"/>
                          </a:solidFill>
                          <a:latin typeface="Arial"/>
                        </a:rPr>
                        <a:t>74% -&gt; 58%</a:t>
                      </a:r>
                    </a:p>
                  </a:txBody>
                  <a:tcPr anchor="ctr" marL="137160" marR="137160">
                    <a:solidFill>
                      <a:srgbClr val="F3F3F3"/>
                    </a:solidFill>
                  </a:tcPr>
                </a:tc>
              </a:tr>
              <a:tr h="566928">
                <a:tc>
                  <a:txBody>
                    <a:bodyPr wrap="square"/>
                    <a:lstStyle/>
                    <a:p>
                      <a:r>
                        <a:rPr sz="1900" b="1" i="0">
                          <a:solidFill>
                            <a:srgbClr val="1F1F1F"/>
                          </a:solidFill>
                          <a:latin typeface="Arial"/>
                        </a:rPr>
                        <a:t>Relation</a:t>
                      </a:r>
                    </a:p>
                  </a:txBody>
                  <a:tcPr anchor="ctr" marL="137160" marR="137160">
                    <a:solidFill>
                      <a:srgbClr val="FFFFFF"/>
                    </a:solidFill>
                  </a:tcPr>
                </a:tc>
                <a:tc>
                  <a:txBody>
                    <a:bodyPr wrap="square"/>
                    <a:lstStyle/>
                    <a:p>
                      <a:r>
                        <a:rPr sz="1900" b="0" i="0">
                          <a:solidFill>
                            <a:srgbClr val="1F1F1F"/>
                          </a:solidFill>
                          <a:latin typeface="Arial"/>
                        </a:rPr>
                        <a:t>old val</a:t>
                      </a:r>
                    </a:p>
                  </a:txBody>
                  <a:tcPr anchor="ctr" marL="137160" marR="137160">
                    <a:solidFill>
                      <a:srgbClr val="FFFFFF"/>
                    </a:solidFill>
                  </a:tcPr>
                </a:tc>
                <a:tc>
                  <a:txBody>
                    <a:bodyPr wrap="square"/>
                    <a:lstStyle/>
                    <a:p>
                      <a:r>
                        <a:rPr sz="1900" b="0" i="0">
                          <a:solidFill>
                            <a:srgbClr val="1F1F1F"/>
                          </a:solidFill>
                          <a:latin typeface="Arial"/>
                        </a:rPr>
                        <a:t>0.084 -&gt; 0.064</a:t>
                      </a:r>
                    </a:p>
                  </a:txBody>
                  <a:tcPr anchor="ctr" marL="137160" marR="137160">
                    <a:solidFill>
                      <a:srgbClr val="FFFFFF"/>
                    </a:solidFill>
                  </a:tcPr>
                </a:tc>
                <a:tc>
                  <a:txBody>
                    <a:bodyPr wrap="square"/>
                    <a:lstStyle/>
                    <a:p>
                      <a:r>
                        <a:rPr sz="1900" b="0" i="0">
                          <a:solidFill>
                            <a:srgbClr val="1F1F1F"/>
                          </a:solidFill>
                          <a:latin typeface="Arial"/>
                        </a:rPr>
                        <a:t>0.529 -&gt; 0.314</a:t>
                      </a:r>
                    </a:p>
                  </a:txBody>
                  <a:tcPr anchor="ctr" marL="137160" marR="137160">
                    <a:solidFill>
                      <a:srgbClr val="FFFFFF"/>
                    </a:solidFill>
                  </a:tcPr>
                </a:tc>
                <a:tc>
                  <a:txBody>
                    <a:bodyPr wrap="square"/>
                    <a:lstStyle/>
                    <a:p>
                      <a:r>
                        <a:rPr sz="1900" b="0" i="0">
                          <a:solidFill>
                            <a:srgbClr val="1F1F1F"/>
                          </a:solidFill>
                          <a:latin typeface="Arial"/>
                        </a:rPr>
                        <a:t>8 -&gt; 14</a:t>
                      </a:r>
                    </a:p>
                  </a:txBody>
                  <a:tcPr anchor="ctr" marL="137160" marR="137160">
                    <a:solidFill>
                      <a:srgbClr val="FFFFFF"/>
                    </a:solidFill>
                  </a:tcPr>
                </a:tc>
                <a:tc>
                  <a:txBody>
                    <a:bodyPr wrap="square"/>
                    <a:lstStyle/>
                    <a:p>
                      <a:r>
                        <a:rPr sz="1900" b="0" i="0">
                          <a:solidFill>
                            <a:srgbClr val="1F1F1F"/>
                          </a:solidFill>
                          <a:latin typeface="Arial"/>
                        </a:rPr>
                        <a:t>73% -&gt; 53%</a:t>
                      </a:r>
                    </a:p>
                  </a:txBody>
                  <a:tcPr anchor="ctr" marL="137160" marR="137160">
                    <a:solidFill>
                      <a:srgbClr val="FFFFFF"/>
                    </a:solidFill>
                  </a:tcPr>
                </a:tc>
              </a:tr>
              <a:tr h="566928">
                <a:tc>
                  <a:txBody>
                    <a:bodyPr wrap="square"/>
                    <a:lstStyle/>
                    <a:p>
                      <a:r>
                        <a:rPr sz="1900" b="1" i="0">
                          <a:solidFill>
                            <a:srgbClr val="1F1F1F"/>
                          </a:solidFill>
                          <a:latin typeface="Arial"/>
                        </a:rPr>
                        <a:t>Temporal LSTM</a:t>
                      </a:r>
                    </a:p>
                  </a:txBody>
                  <a:tcPr anchor="ctr" marL="137160" marR="137160">
                    <a:solidFill>
                      <a:srgbClr val="F3F3F3"/>
                    </a:solidFill>
                  </a:tcPr>
                </a:tc>
                <a:tc>
                  <a:txBody>
                    <a:bodyPr wrap="square"/>
                    <a:lstStyle/>
                    <a:p>
                      <a:r>
                        <a:rPr sz="1900" b="0" i="0">
                          <a:solidFill>
                            <a:srgbClr val="1F1F1F"/>
                          </a:solidFill>
                          <a:latin typeface="Arial"/>
                        </a:rPr>
                        <a:t>new videos</a:t>
                      </a:r>
                    </a:p>
                  </a:txBody>
                  <a:tcPr anchor="ctr" marL="137160" marR="137160">
                    <a:solidFill>
                      <a:srgbClr val="F3F3F3"/>
                    </a:solidFill>
                  </a:tcPr>
                </a:tc>
                <a:tc>
                  <a:txBody>
                    <a:bodyPr wrap="square"/>
                    <a:lstStyle/>
                    <a:p>
                      <a:r>
                        <a:rPr sz="1900" b="0" i="0">
                          <a:solidFill>
                            <a:srgbClr val="1F1F1F"/>
                          </a:solidFill>
                          <a:latin typeface="Arial"/>
                        </a:rPr>
                        <a:t>0.074 -&gt; 0.145</a:t>
                      </a:r>
                    </a:p>
                  </a:txBody>
                  <a:tcPr anchor="ctr" marL="137160" marR="137160">
                    <a:solidFill>
                      <a:srgbClr val="F3F3F3"/>
                    </a:solidFill>
                  </a:tcPr>
                </a:tc>
                <a:tc>
                  <a:txBody>
                    <a:bodyPr wrap="square"/>
                    <a:lstStyle/>
                    <a:p>
                      <a:r>
                        <a:rPr sz="1900" b="0" i="0">
                          <a:solidFill>
                            <a:srgbClr val="1F1F1F"/>
                          </a:solidFill>
                          <a:latin typeface="Arial"/>
                        </a:rPr>
                        <a:t>0.372 -&gt; 0.339</a:t>
                      </a:r>
                    </a:p>
                  </a:txBody>
                  <a:tcPr anchor="ctr" marL="137160" marR="137160">
                    <a:solidFill>
                      <a:srgbClr val="F3F3F3"/>
                    </a:solidFill>
                  </a:tcPr>
                </a:tc>
                <a:tc>
                  <a:txBody>
                    <a:bodyPr wrap="square"/>
                    <a:lstStyle/>
                    <a:p>
                      <a:r>
                        <a:rPr sz="1900" b="0" i="0">
                          <a:solidFill>
                            <a:srgbClr val="1F1F1F"/>
                          </a:solidFill>
                          <a:latin typeface="Arial"/>
                        </a:rPr>
                        <a:t>8 -&gt; 17</a:t>
                      </a:r>
                    </a:p>
                  </a:txBody>
                  <a:tcPr anchor="ctr" marL="137160" marR="137160">
                    <a:solidFill>
                      <a:srgbClr val="F3F3F3"/>
                    </a:solidFill>
                  </a:tcPr>
                </a:tc>
                <a:tc>
                  <a:txBody>
                    <a:bodyPr wrap="square"/>
                    <a:lstStyle/>
                    <a:p>
                      <a:r>
                        <a:rPr sz="1900" b="0" i="0">
                          <a:solidFill>
                            <a:srgbClr val="1F1F1F"/>
                          </a:solidFill>
                          <a:latin typeface="Arial"/>
                        </a:rPr>
                        <a:t>95% -&gt; 54%</a:t>
                      </a:r>
                    </a:p>
                  </a:txBody>
                  <a:tcPr anchor="ctr" marL="137160" marR="137160">
                    <a:solidFill>
                      <a:srgbClr val="F3F3F3"/>
                    </a:solidFill>
                  </a:tcPr>
                </a:tc>
              </a:tr>
              <a:tr h="566928">
                <a:tc>
                  <a:txBody>
                    <a:bodyPr wrap="square"/>
                    <a:lstStyle/>
                    <a:p>
                      <a:r>
                        <a:rPr sz="1900" b="1" i="0">
                          <a:solidFill>
                            <a:srgbClr val="1F1F1F"/>
                          </a:solidFill>
                          <a:latin typeface="Arial"/>
                        </a:rPr>
                        <a:t>Temporal LSTM</a:t>
                      </a:r>
                    </a:p>
                  </a:txBody>
                  <a:tcPr anchor="ctr" marL="137160" marR="137160">
                    <a:solidFill>
                      <a:srgbClr val="FFFFFF"/>
                    </a:solidFill>
                  </a:tcPr>
                </a:tc>
                <a:tc>
                  <a:txBody>
                    <a:bodyPr wrap="square"/>
                    <a:lstStyle/>
                    <a:p>
                      <a:r>
                        <a:rPr sz="1900" b="0" i="0">
                          <a:solidFill>
                            <a:srgbClr val="1F1F1F"/>
                          </a:solidFill>
                          <a:latin typeface="Arial"/>
                        </a:rPr>
                        <a:t>old val</a:t>
                      </a:r>
                    </a:p>
                  </a:txBody>
                  <a:tcPr anchor="ctr" marL="137160" marR="137160">
                    <a:solidFill>
                      <a:srgbClr val="FFFFFF"/>
                    </a:solidFill>
                  </a:tcPr>
                </a:tc>
                <a:tc>
                  <a:txBody>
                    <a:bodyPr wrap="square"/>
                    <a:lstStyle/>
                    <a:p>
                      <a:r>
                        <a:rPr sz="1900" b="0" i="0">
                          <a:solidFill>
                            <a:srgbClr val="1F1F1F"/>
                          </a:solidFill>
                          <a:latin typeface="Arial"/>
                        </a:rPr>
                        <a:t>0.099 -&gt; 0.059</a:t>
                      </a:r>
                    </a:p>
                  </a:txBody>
                  <a:tcPr anchor="ctr" marL="137160" marR="137160">
                    <a:solidFill>
                      <a:srgbClr val="FFFFFF"/>
                    </a:solidFill>
                  </a:tcPr>
                </a:tc>
                <a:tc>
                  <a:txBody>
                    <a:bodyPr wrap="square"/>
                    <a:lstStyle/>
                    <a:p>
                      <a:r>
                        <a:rPr sz="1900" b="0" i="0">
                          <a:solidFill>
                            <a:srgbClr val="1F1F1F"/>
                          </a:solidFill>
                          <a:latin typeface="Arial"/>
                        </a:rPr>
                        <a:t>0.586 -&gt; 0.322</a:t>
                      </a:r>
                    </a:p>
                  </a:txBody>
                  <a:tcPr anchor="ctr" marL="137160" marR="137160">
                    <a:solidFill>
                      <a:srgbClr val="FFFFFF"/>
                    </a:solidFill>
                  </a:tcPr>
                </a:tc>
                <a:tc>
                  <a:txBody>
                    <a:bodyPr wrap="square"/>
                    <a:lstStyle/>
                    <a:p>
                      <a:r>
                        <a:rPr sz="1900" b="0" i="0">
                          <a:solidFill>
                            <a:srgbClr val="1F1F1F"/>
                          </a:solidFill>
                          <a:latin typeface="Arial"/>
                        </a:rPr>
                        <a:t>4 -&gt; 10</a:t>
                      </a:r>
                    </a:p>
                  </a:txBody>
                  <a:tcPr anchor="ctr" marL="137160" marR="137160">
                    <a:solidFill>
                      <a:srgbClr val="FFFFFF"/>
                    </a:solidFill>
                  </a:tcPr>
                </a:tc>
                <a:tc>
                  <a:txBody>
                    <a:bodyPr wrap="square"/>
                    <a:lstStyle/>
                    <a:p>
                      <a:r>
                        <a:rPr sz="1900" b="0" i="0">
                          <a:solidFill>
                            <a:srgbClr val="1F1F1F"/>
                          </a:solidFill>
                          <a:latin typeface="Arial"/>
                        </a:rPr>
                        <a:t>92% -&gt; 47%</a:t>
                      </a:r>
                    </a:p>
                  </a:txBody>
                  <a:tcPr anchor="ctr" marL="137160" marR="137160">
                    <a:solidFill>
                      <a:srgbClr val="FFFFFF"/>
                    </a:solidFill>
                  </a:tcPr>
                </a:tc>
              </a:tr>
              <a:tr h="566928">
                <a:tc>
                  <a:txBody>
                    <a:bodyPr wrap="square"/>
                    <a:lstStyle/>
                    <a:p>
                      <a:r>
                        <a:rPr sz="1900" b="1" i="0">
                          <a:solidFill>
                            <a:srgbClr val="1F1F1F"/>
                          </a:solidFill>
                          <a:latin typeface="Arial"/>
                        </a:rPr>
                        <a:t>Temporal GRU</a:t>
                      </a:r>
                    </a:p>
                  </a:txBody>
                  <a:tcPr anchor="ctr" marL="137160" marR="137160">
                    <a:solidFill>
                      <a:srgbClr val="F3F3F3"/>
                    </a:solidFill>
                  </a:tcPr>
                </a:tc>
                <a:tc>
                  <a:txBody>
                    <a:bodyPr wrap="square"/>
                    <a:lstStyle/>
                    <a:p>
                      <a:r>
                        <a:rPr sz="1900" b="0" i="0">
                          <a:solidFill>
                            <a:srgbClr val="1F1F1F"/>
                          </a:solidFill>
                          <a:latin typeface="Arial"/>
                        </a:rPr>
                        <a:t>new videos</a:t>
                      </a:r>
                    </a:p>
                  </a:txBody>
                  <a:tcPr anchor="ctr" marL="137160" marR="137160">
                    <a:solidFill>
                      <a:srgbClr val="F3F3F3"/>
                    </a:solidFill>
                  </a:tcPr>
                </a:tc>
                <a:tc>
                  <a:txBody>
                    <a:bodyPr wrap="square"/>
                    <a:lstStyle/>
                    <a:p>
                      <a:r>
                        <a:rPr sz="1900" b="0" i="0">
                          <a:solidFill>
                            <a:srgbClr val="1F1F1F"/>
                          </a:solidFill>
                          <a:latin typeface="Arial"/>
                        </a:rPr>
                        <a:t>0.063 -&gt; 0.172</a:t>
                      </a:r>
                    </a:p>
                  </a:txBody>
                  <a:tcPr anchor="ctr" marL="137160" marR="137160">
                    <a:solidFill>
                      <a:srgbClr val="F3F3F3"/>
                    </a:solidFill>
                  </a:tcPr>
                </a:tc>
                <a:tc>
                  <a:txBody>
                    <a:bodyPr wrap="square"/>
                    <a:lstStyle/>
                    <a:p>
                      <a:r>
                        <a:rPr sz="1900" b="0" i="0">
                          <a:solidFill>
                            <a:srgbClr val="1F1F1F"/>
                          </a:solidFill>
                          <a:latin typeface="Arial"/>
                        </a:rPr>
                        <a:t>0.390 -&gt; 0.333</a:t>
                      </a:r>
                    </a:p>
                  </a:txBody>
                  <a:tcPr anchor="ctr" marL="137160" marR="137160">
                    <a:solidFill>
                      <a:srgbClr val="F3F3F3"/>
                    </a:solidFill>
                  </a:tcPr>
                </a:tc>
                <a:tc>
                  <a:txBody>
                    <a:bodyPr wrap="square"/>
                    <a:lstStyle/>
                    <a:p>
                      <a:r>
                        <a:rPr sz="1900" b="0" i="0">
                          <a:solidFill>
                            <a:srgbClr val="1F1F1F"/>
                          </a:solidFill>
                          <a:latin typeface="Arial"/>
                        </a:rPr>
                        <a:t>4 -&gt; 22</a:t>
                      </a:r>
                    </a:p>
                  </a:txBody>
                  <a:tcPr anchor="ctr" marL="137160" marR="137160">
                    <a:solidFill>
                      <a:srgbClr val="F3F3F3"/>
                    </a:solidFill>
                  </a:tcPr>
                </a:tc>
                <a:tc>
                  <a:txBody>
                    <a:bodyPr wrap="square"/>
                    <a:lstStyle/>
                    <a:p>
                      <a:r>
                        <a:rPr sz="1900" b="0" i="0">
                          <a:solidFill>
                            <a:srgbClr val="1F1F1F"/>
                          </a:solidFill>
                          <a:latin typeface="Arial"/>
                        </a:rPr>
                        <a:t>99% -&gt; 45%</a:t>
                      </a:r>
                    </a:p>
                  </a:txBody>
                  <a:tcPr anchor="ctr" marL="137160" marR="137160">
                    <a:solidFill>
                      <a:srgbClr val="F3F3F3"/>
                    </a:solidFill>
                  </a:tcPr>
                </a:tc>
              </a:tr>
              <a:tr h="566928">
                <a:tc>
                  <a:txBody>
                    <a:bodyPr wrap="square"/>
                    <a:lstStyle/>
                    <a:p>
                      <a:r>
                        <a:rPr sz="1900" b="1" i="0">
                          <a:solidFill>
                            <a:srgbClr val="1F1F1F"/>
                          </a:solidFill>
                          <a:latin typeface="Arial"/>
                        </a:rPr>
                        <a:t>Temporal GRU</a:t>
                      </a:r>
                    </a:p>
                  </a:txBody>
                  <a:tcPr anchor="ctr" marL="137160" marR="137160">
                    <a:solidFill>
                      <a:srgbClr val="FFFFFF"/>
                    </a:solidFill>
                  </a:tcPr>
                </a:tc>
                <a:tc>
                  <a:txBody>
                    <a:bodyPr wrap="square"/>
                    <a:lstStyle/>
                    <a:p>
                      <a:r>
                        <a:rPr sz="1900" b="0" i="0">
                          <a:solidFill>
                            <a:srgbClr val="1F1F1F"/>
                          </a:solidFill>
                          <a:latin typeface="Arial"/>
                        </a:rPr>
                        <a:t>old val</a:t>
                      </a:r>
                    </a:p>
                  </a:txBody>
                  <a:tcPr anchor="ctr" marL="137160" marR="137160">
                    <a:solidFill>
                      <a:srgbClr val="FFFFFF"/>
                    </a:solidFill>
                  </a:tcPr>
                </a:tc>
                <a:tc>
                  <a:txBody>
                    <a:bodyPr wrap="square"/>
                    <a:lstStyle/>
                    <a:p>
                      <a:r>
                        <a:rPr sz="1900" b="0" i="0">
                          <a:solidFill>
                            <a:srgbClr val="1F1F1F"/>
                          </a:solidFill>
                          <a:latin typeface="Arial"/>
                        </a:rPr>
                        <a:t>0.113 -&gt; 0.130</a:t>
                      </a:r>
                    </a:p>
                  </a:txBody>
                  <a:tcPr anchor="ctr" marL="137160" marR="137160">
                    <a:solidFill>
                      <a:srgbClr val="FFFFFF"/>
                    </a:solidFill>
                  </a:tcPr>
                </a:tc>
                <a:tc>
                  <a:txBody>
                    <a:bodyPr wrap="square"/>
                    <a:lstStyle/>
                    <a:p>
                      <a:r>
                        <a:rPr sz="1900" b="0" i="0">
                          <a:solidFill>
                            <a:srgbClr val="1F1F1F"/>
                          </a:solidFill>
                          <a:latin typeface="Arial"/>
                        </a:rPr>
                        <a:t>0.628 -&gt; 0.396</a:t>
                      </a:r>
                    </a:p>
                  </a:txBody>
                  <a:tcPr anchor="ctr" marL="137160" marR="137160">
                    <a:solidFill>
                      <a:srgbClr val="FFFFFF"/>
                    </a:solidFill>
                  </a:tcPr>
                </a:tc>
                <a:tc>
                  <a:txBody>
                    <a:bodyPr wrap="square"/>
                    <a:lstStyle/>
                    <a:p>
                      <a:r>
                        <a:rPr sz="1900" b="0" i="0">
                          <a:solidFill>
                            <a:srgbClr val="1F1F1F"/>
                          </a:solidFill>
                          <a:latin typeface="Arial"/>
                        </a:rPr>
                        <a:t>3 -&gt; 13</a:t>
                      </a:r>
                    </a:p>
                  </a:txBody>
                  <a:tcPr anchor="ctr" marL="137160" marR="137160">
                    <a:solidFill>
                      <a:srgbClr val="FFFFFF"/>
                    </a:solidFill>
                  </a:tcPr>
                </a:tc>
                <a:tc>
                  <a:txBody>
                    <a:bodyPr wrap="square"/>
                    <a:lstStyle/>
                    <a:p>
                      <a:r>
                        <a:rPr sz="1900" b="0" i="0">
                          <a:solidFill>
                            <a:srgbClr val="1F1F1F"/>
                          </a:solidFill>
                          <a:latin typeface="Arial"/>
                        </a:rPr>
                        <a:t>100% -&gt; 49%</a:t>
                      </a:r>
                    </a:p>
                  </a:txBody>
                  <a:tcPr anchor="ctr" marL="137160" marR="137160">
                    <a:solidFill>
                      <a:srgbClr val="FFFFFF"/>
                    </a:solidFill>
                  </a:tcPr>
                </a:tc>
              </a:tr>
            </a:tbl>
          </a:graphicData>
        </a:graphic>
      </p:graphicFrame>
      <p:sp>
        <p:nvSpPr>
          <p:cNvPr id="5" name="Bullets"/>
          <p:cNvSpPr txBox="1"/>
          <p:nvPr/>
        </p:nvSpPr>
        <p:spPr>
          <a:xfrm>
            <a:off x="914400" y="7223760"/>
            <a:ext cx="16459200" cy="2743200"/>
          </a:xfrm>
          <a:prstGeom prst="rect">
            <a:avLst/>
          </a:prstGeom>
          <a:noFill/>
        </p:spPr>
        <p:txBody>
          <a:bodyPr wrap="square" lIns="45720" rIns="45720">
            <a:spAutoFit/>
          </a:bodyPr>
          <a:lstStyle/>
          <a:p>
            <a:pPr marL="347472" indent="-347472">
              <a:spcAft>
                <a:spcPts val="600"/>
              </a:spcAft>
              <a:buClr>
                <a:srgbClr val="B40347"/>
              </a:buClr>
              <a:buChar char="•"/>
            </a:pPr>
            <a:r>
              <a:rPr sz="1800" b="0" i="0">
                <a:solidFill>
                  <a:srgbClr val="1F1F1F"/>
                </a:solidFill>
                <a:latin typeface="Arial"/>
              </a:rPr>
              <a:t>v2 = v1 retrained with loss weights proportional to 1/sqrt(frequency), capped at 12x, with the checkpoint chosen by macro-F1. Top-2 share = share of non-background predictions that are next_to or in_front_of.</a:t>
            </a:r>
          </a:p>
          <a:p>
            <a:pPr marL="347472" indent="-347472">
              <a:spcAft>
                <a:spcPts val="600"/>
              </a:spcAft>
              <a:buClr>
                <a:srgbClr val="B40347"/>
              </a:buClr>
              <a:buChar char="•"/>
            </a:pPr>
            <a:r>
              <a:rPr sz="1800" b="0" i="0">
                <a:solidFill>
                  <a:srgbClr val="1F1F1F"/>
                </a:solidFill>
                <a:latin typeface="Arial"/>
              </a:rPr>
              <a:t>On new videos every model gains macro-F1 and uses far more predicates; the GRU's top-2 share falls from 99% to 45%.</a:t>
            </a:r>
          </a:p>
          <a:p>
            <a:pPr marL="347472" indent="-347472">
              <a:spcAft>
                <a:spcPts val="600"/>
              </a:spcAft>
              <a:buClr>
                <a:srgbClr val="B40347"/>
              </a:buClr>
              <a:buChar char="•"/>
            </a:pPr>
            <a:r>
              <a:rPr sz="1800" b="0" i="0">
                <a:solidFill>
                  <a:srgbClr val="1F1F1F"/>
                </a:solidFill>
                <a:latin typeface="Arial"/>
              </a:rPr>
              <a:t>Cost: accuracy drops. On the small old validation set the result is mixed: relation worse, LSTM worse, GRU better.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Dynamic Scene Graphs After the Fix (1/2)</a:t>
            </a:r>
          </a:p>
        </p:txBody>
      </p:sp>
      <p:pic>
        <p:nvPicPr>
          <p:cNvPr id="4" name="Picture 3" descr="v2_graph_1_trim.png"/>
          <p:cNvPicPr>
            <a:picLocks noChangeAspect="1"/>
          </p:cNvPicPr>
          <p:nvPr/>
        </p:nvPicPr>
        <p:blipFill>
          <a:blip r:embed="rId2"/>
          <a:stretch>
            <a:fillRect/>
          </a:stretch>
        </p:blipFill>
        <p:spPr>
          <a:xfrm>
            <a:off x="2542275" y="2057400"/>
            <a:ext cx="13203450" cy="3520440"/>
          </a:xfrm>
          <a:prstGeom prst="rect">
            <a:avLst/>
          </a:prstGeom>
        </p:spPr>
      </p:pic>
      <p:pic>
        <p:nvPicPr>
          <p:cNvPr id="5" name="Picture 4" descr="v2_graph_2_trim.png"/>
          <p:cNvPicPr>
            <a:picLocks noChangeAspect="1"/>
          </p:cNvPicPr>
          <p:nvPr/>
        </p:nvPicPr>
        <p:blipFill>
          <a:blip r:embed="rId3"/>
          <a:stretch>
            <a:fillRect/>
          </a:stretch>
        </p:blipFill>
        <p:spPr>
          <a:xfrm>
            <a:off x="2958388" y="5806440"/>
            <a:ext cx="12371224" cy="3520440"/>
          </a:xfrm>
          <a:prstGeom prst="rect">
            <a:avLst/>
          </a:prstGeom>
        </p:spPr>
      </p:pic>
      <p:sp>
        <p:nvSpPr>
          <p:cNvPr id="6" name="Caption"/>
          <p:cNvSpPr txBox="1"/>
          <p:nvPr/>
        </p:nvSpPr>
        <p:spPr>
          <a:xfrm>
            <a:off x="2057400" y="9418320"/>
            <a:ext cx="14173200" cy="457200"/>
          </a:xfrm>
          <a:prstGeom prst="rect">
            <a:avLst/>
          </a:prstGeom>
          <a:noFill/>
        </p:spPr>
        <p:txBody>
          <a:bodyPr wrap="square" anchor="t" lIns="45720" rIns="45720" tIns="27432" bIns="27432">
            <a:spAutoFit/>
          </a:bodyPr>
          <a:lstStyle/>
          <a:p>
            <a:pPr algn="ctr"/>
            <a:r>
              <a:rPr sz="1600" b="0" i="1">
                <a:solidFill>
                  <a:srgbClr val="666666"/>
                </a:solidFill>
                <a:latin typeface="Arial"/>
              </a:rPr>
              <a:t>Held-out new videos. Examples were picked for predicate variety, not at random.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Dynamic Scene Graphs After the Fix (2/2)</a:t>
            </a:r>
          </a:p>
        </p:txBody>
      </p:sp>
      <p:pic>
        <p:nvPicPr>
          <p:cNvPr id="4" name="Picture 3" descr="v2_graph_3_trim.png"/>
          <p:cNvPicPr>
            <a:picLocks noChangeAspect="1"/>
          </p:cNvPicPr>
          <p:nvPr/>
        </p:nvPicPr>
        <p:blipFill>
          <a:blip r:embed="rId2"/>
          <a:stretch>
            <a:fillRect/>
          </a:stretch>
        </p:blipFill>
        <p:spPr>
          <a:xfrm>
            <a:off x="3377150" y="2057400"/>
            <a:ext cx="11533700" cy="3520440"/>
          </a:xfrm>
          <a:prstGeom prst="rect">
            <a:avLst/>
          </a:prstGeom>
        </p:spPr>
      </p:pic>
      <p:pic>
        <p:nvPicPr>
          <p:cNvPr id="5" name="Picture 4" descr="v2_graph_4_trim.png"/>
          <p:cNvPicPr>
            <a:picLocks noChangeAspect="1"/>
          </p:cNvPicPr>
          <p:nvPr/>
        </p:nvPicPr>
        <p:blipFill>
          <a:blip r:embed="rId3"/>
          <a:stretch>
            <a:fillRect/>
          </a:stretch>
        </p:blipFill>
        <p:spPr>
          <a:xfrm>
            <a:off x="2958388" y="5806440"/>
            <a:ext cx="12371224" cy="3520440"/>
          </a:xfrm>
          <a:prstGeom prst="rect">
            <a:avLst/>
          </a:prstGeom>
        </p:spPr>
      </p:pic>
      <p:sp>
        <p:nvSpPr>
          <p:cNvPr id="6" name="Caption"/>
          <p:cNvSpPr txBox="1"/>
          <p:nvPr/>
        </p:nvSpPr>
        <p:spPr>
          <a:xfrm>
            <a:off x="2057400" y="9418320"/>
            <a:ext cx="14173200" cy="457200"/>
          </a:xfrm>
          <a:prstGeom prst="rect">
            <a:avLst/>
          </a:prstGeom>
          <a:noFill/>
        </p:spPr>
        <p:txBody>
          <a:bodyPr wrap="square" anchor="t" lIns="45720" rIns="45720" tIns="27432" bIns="27432">
            <a:spAutoFit/>
          </a:bodyPr>
          <a:lstStyle/>
          <a:p>
            <a:pPr algn="ctr"/>
            <a:r>
              <a:rPr sz="1600" b="0" i="1">
                <a:solidFill>
                  <a:srgbClr val="666666"/>
                </a:solidFill>
                <a:latin typeface="Arial"/>
              </a:rPr>
              <a:t>Some relations are plausible (watch, hold, towards), others are wrong: scores remain low.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Qualitative Results: Frames and Predicted Graphs</a:t>
            </a:r>
          </a:p>
        </p:txBody>
      </p:sp>
      <p:pic>
        <p:nvPicPr>
          <p:cNvPr id="4" name="Picture 3" descr="qual_q1.png"/>
          <p:cNvPicPr>
            <a:picLocks noChangeAspect="1"/>
          </p:cNvPicPr>
          <p:nvPr/>
        </p:nvPicPr>
        <p:blipFill>
          <a:blip r:embed="rId2"/>
          <a:stretch>
            <a:fillRect/>
          </a:stretch>
        </p:blipFill>
        <p:spPr>
          <a:xfrm>
            <a:off x="1828800" y="2743200"/>
            <a:ext cx="7040880" cy="3759114"/>
          </a:xfrm>
          <a:prstGeom prst="rect">
            <a:avLst/>
          </a:prstGeom>
        </p:spPr>
      </p:pic>
      <p:pic>
        <p:nvPicPr>
          <p:cNvPr id="5" name="Picture 4" descr="qual_q5.png"/>
          <p:cNvPicPr>
            <a:picLocks noChangeAspect="1"/>
          </p:cNvPicPr>
          <p:nvPr/>
        </p:nvPicPr>
        <p:blipFill>
          <a:blip r:embed="rId3"/>
          <a:stretch>
            <a:fillRect/>
          </a:stretch>
        </p:blipFill>
        <p:spPr>
          <a:xfrm>
            <a:off x="9235440" y="2743200"/>
            <a:ext cx="7040880" cy="3580108"/>
          </a:xfrm>
          <a:prstGeom prst="rect">
            <a:avLst/>
          </a:prstGeom>
        </p:spPr>
      </p:pic>
      <p:pic>
        <p:nvPicPr>
          <p:cNvPr id="6" name="Picture 5" descr="qual_q6.png"/>
          <p:cNvPicPr>
            <a:picLocks noChangeAspect="1"/>
          </p:cNvPicPr>
          <p:nvPr/>
        </p:nvPicPr>
        <p:blipFill>
          <a:blip r:embed="rId4"/>
          <a:stretch>
            <a:fillRect/>
          </a:stretch>
        </p:blipFill>
        <p:spPr>
          <a:xfrm>
            <a:off x="1828800" y="6355080"/>
            <a:ext cx="7040880" cy="3616890"/>
          </a:xfrm>
          <a:prstGeom prst="rect">
            <a:avLst/>
          </a:prstGeom>
        </p:spPr>
      </p:pic>
      <p:pic>
        <p:nvPicPr>
          <p:cNvPr id="7" name="Picture 6" descr="qual_q10.png"/>
          <p:cNvPicPr>
            <a:picLocks noChangeAspect="1"/>
          </p:cNvPicPr>
          <p:nvPr/>
        </p:nvPicPr>
        <p:blipFill>
          <a:blip r:embed="rId5"/>
          <a:stretch>
            <a:fillRect/>
          </a:stretch>
        </p:blipFill>
        <p:spPr>
          <a:xfrm>
            <a:off x="9235440" y="6355080"/>
            <a:ext cx="7040880" cy="3375764"/>
          </a:xfrm>
          <a:prstGeom prst="rect">
            <a:avLst/>
          </a:prstGeom>
        </p:spPr>
      </p:pic>
      <p:sp>
        <p:nvSpPr>
          <p:cNvPr id="8" name="Caption"/>
          <p:cNvSpPr txBox="1"/>
          <p:nvPr/>
        </p:nvSpPr>
        <p:spPr>
          <a:xfrm>
            <a:off x="1828800" y="9509760"/>
            <a:ext cx="14630400" cy="457200"/>
          </a:xfrm>
          <a:prstGeom prst="rect">
            <a:avLst/>
          </a:prstGeom>
          <a:noFill/>
        </p:spPr>
        <p:txBody>
          <a:bodyPr wrap="square" anchor="t" lIns="45720" rIns="45720" tIns="27432" bIns="27432">
            <a:spAutoFit/>
          </a:bodyPr>
          <a:lstStyle/>
          <a:p>
            <a:pPr algn="l"/>
            <a:r>
              <a:rPr sz="1700" b="0" i="1">
                <a:solidFill>
                  <a:srgbClr val="666666"/>
                </a:solidFill>
                <a:latin typeface="Arial"/>
              </a:rPr>
              <a:t>Left of each panel: tracked, labelled objects. Right: predicted scene graph with relation labels.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731520" y="1965960"/>
            <a:ext cx="16824960" cy="685800"/>
          </a:xfrm>
          <a:prstGeom prst="rect">
            <a:avLst/>
          </a:prstGeom>
          <a:noFill/>
        </p:spPr>
        <p:txBody>
          <a:bodyPr wrap="square" anchor="t" lIns="45720" rIns="45720" tIns="27432" bIns="27432">
            <a:spAutoFit/>
          </a:bodyPr>
          <a:lstStyle/>
          <a:p>
            <a:pPr algn="l"/>
            <a:r>
              <a:rPr sz="3000" b="0" i="0">
                <a:solidFill>
                  <a:srgbClr val="B40347"/>
                </a:solidFill>
                <a:latin typeface="Arial Black"/>
              </a:rPr>
              <a:t>Review 3: VidOR Training Progress</a:t>
            </a:r>
          </a:p>
        </p:txBody>
      </p:sp>
      <p:sp>
        <p:nvSpPr>
          <p:cNvPr id="4" name="Rounded Rectangle 3"/>
          <p:cNvSpPr/>
          <p:nvPr/>
        </p:nvSpPr>
        <p:spPr>
          <a:xfrm>
            <a:off x="1371600" y="2743200"/>
            <a:ext cx="1737360" cy="868680"/>
          </a:xfrm>
          <a:prstGeom prst="roundRect">
            <a:avLst>
              <a:gd name="adj" fmla="val 15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i="0">
                <a:solidFill>
                  <a:srgbClr val="FFFFFF"/>
                </a:solidFill>
                <a:latin typeface="Arial"/>
              </a:rPr>
              <a:t>1</a:t>
            </a:r>
          </a:p>
        </p:txBody>
      </p:sp>
      <p:sp>
        <p:nvSpPr>
          <p:cNvPr id="5" name="Rounded Rectangle 4"/>
          <p:cNvSpPr/>
          <p:nvPr/>
        </p:nvSpPr>
        <p:spPr>
          <a:xfrm>
            <a:off x="3383280" y="2743200"/>
            <a:ext cx="1737360" cy="868680"/>
          </a:xfrm>
          <a:prstGeom prst="roundRect">
            <a:avLst>
              <a:gd name="adj" fmla="val 15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i="0">
                <a:solidFill>
                  <a:srgbClr val="FFFFFF"/>
                </a:solidFill>
                <a:latin typeface="Arial"/>
              </a:rPr>
              <a:t>2</a:t>
            </a:r>
          </a:p>
        </p:txBody>
      </p:sp>
      <p:sp>
        <p:nvSpPr>
          <p:cNvPr id="6" name="Rounded Rectangle 5"/>
          <p:cNvSpPr/>
          <p:nvPr/>
        </p:nvSpPr>
        <p:spPr>
          <a:xfrm>
            <a:off x="5394960" y="2743200"/>
            <a:ext cx="1737360" cy="868680"/>
          </a:xfrm>
          <a:prstGeom prst="roundRect">
            <a:avLst>
              <a:gd name="adj" fmla="val 15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i="0">
                <a:solidFill>
                  <a:srgbClr val="FFFFFF"/>
                </a:solidFill>
                <a:latin typeface="Arial"/>
              </a:rPr>
              <a:t>3</a:t>
            </a:r>
          </a:p>
        </p:txBody>
      </p:sp>
      <p:sp>
        <p:nvSpPr>
          <p:cNvPr id="7" name="Rounded Rectangle 6"/>
          <p:cNvSpPr/>
          <p:nvPr/>
        </p:nvSpPr>
        <p:spPr>
          <a:xfrm>
            <a:off x="7406640" y="2743200"/>
            <a:ext cx="1737360" cy="868680"/>
          </a:xfrm>
          <a:prstGeom prst="roundRect">
            <a:avLst>
              <a:gd name="adj" fmla="val 15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i="0">
                <a:solidFill>
                  <a:srgbClr val="FFFFFF"/>
                </a:solidFill>
                <a:latin typeface="Arial"/>
              </a:rPr>
              <a:t>4</a:t>
            </a:r>
          </a:p>
        </p:txBody>
      </p:sp>
      <p:sp>
        <p:nvSpPr>
          <p:cNvPr id="8" name="Rounded Rectangle 7"/>
          <p:cNvSpPr/>
          <p:nvPr/>
        </p:nvSpPr>
        <p:spPr>
          <a:xfrm>
            <a:off x="9418320" y="2743200"/>
            <a:ext cx="1737360" cy="868680"/>
          </a:xfrm>
          <a:prstGeom prst="roundRect">
            <a:avLst>
              <a:gd name="adj" fmla="val 15000"/>
            </a:avLst>
          </a:prstGeom>
          <a:solidFill>
            <a:srgbClr val="B40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i="0">
                <a:solidFill>
                  <a:srgbClr val="FFFFFF"/>
                </a:solidFill>
                <a:latin typeface="Arial"/>
              </a:rPr>
              <a:t>5</a:t>
            </a:r>
          </a:p>
        </p:txBody>
      </p:sp>
      <p:sp>
        <p:nvSpPr>
          <p:cNvPr id="9" name="Rounded Rectangle 8"/>
          <p:cNvSpPr/>
          <p:nvPr/>
        </p:nvSpPr>
        <p:spPr>
          <a:xfrm>
            <a:off x="11430000" y="2743200"/>
            <a:ext cx="1737360" cy="868680"/>
          </a:xfrm>
          <a:prstGeom prst="roundRect">
            <a:avLst>
              <a:gd name="adj" fmla="val 15000"/>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i="0">
                <a:solidFill>
                  <a:srgbClr val="FFFFFF"/>
                </a:solidFill>
                <a:latin typeface="Arial"/>
              </a:rPr>
              <a:t>6</a:t>
            </a:r>
          </a:p>
        </p:txBody>
      </p:sp>
      <p:sp>
        <p:nvSpPr>
          <p:cNvPr id="10" name="Rounded Rectangle 9"/>
          <p:cNvSpPr/>
          <p:nvPr/>
        </p:nvSpPr>
        <p:spPr>
          <a:xfrm>
            <a:off x="13441680" y="2743200"/>
            <a:ext cx="1737360" cy="868680"/>
          </a:xfrm>
          <a:prstGeom prst="roundRect">
            <a:avLst>
              <a:gd name="adj" fmla="val 15000"/>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i="0">
                <a:solidFill>
                  <a:srgbClr val="FFFFFF"/>
                </a:solidFill>
                <a:latin typeface="Arial"/>
              </a:rPr>
              <a:t>7</a:t>
            </a:r>
          </a:p>
        </p:txBody>
      </p:sp>
      <p:sp>
        <p:nvSpPr>
          <p:cNvPr id="11" name="Rounded Rectangle 10"/>
          <p:cNvSpPr/>
          <p:nvPr/>
        </p:nvSpPr>
        <p:spPr>
          <a:xfrm>
            <a:off x="15453360" y="2743200"/>
            <a:ext cx="1737360" cy="868680"/>
          </a:xfrm>
          <a:prstGeom prst="roundRect">
            <a:avLst>
              <a:gd name="adj" fmla="val 15000"/>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i="0">
                <a:solidFill>
                  <a:srgbClr val="FFFFFF"/>
                </a:solidFill>
                <a:latin typeface="Arial"/>
              </a:rPr>
              <a:t>8</a:t>
            </a:r>
          </a:p>
        </p:txBody>
      </p:sp>
      <p:sp>
        <p:nvSpPr>
          <p:cNvPr id="12" name="Legend"/>
          <p:cNvSpPr txBox="1"/>
          <p:nvPr/>
        </p:nvSpPr>
        <p:spPr>
          <a:xfrm>
            <a:off x="1371600" y="3703320"/>
            <a:ext cx="8686800" cy="457200"/>
          </a:xfrm>
          <a:prstGeom prst="rect">
            <a:avLst/>
          </a:prstGeom>
          <a:noFill/>
        </p:spPr>
        <p:txBody>
          <a:bodyPr wrap="square" anchor="t" lIns="45720" rIns="45720" tIns="27432" bIns="27432">
            <a:spAutoFit/>
          </a:bodyPr>
          <a:lstStyle/>
          <a:p>
            <a:pPr algn="l"/>
            <a:r>
              <a:rPr sz="1900" b="1" i="0">
                <a:solidFill>
                  <a:srgbClr val="B40347"/>
                </a:solidFill>
                <a:latin typeface="Arial"/>
              </a:rPr>
              <a:t>Parts 1-5 trained earlier</a:t>
            </a:r>
          </a:p>
        </p:txBody>
      </p:sp>
      <p:sp>
        <p:nvSpPr>
          <p:cNvPr id="13" name="Legend"/>
          <p:cNvSpPr txBox="1"/>
          <p:nvPr/>
        </p:nvSpPr>
        <p:spPr>
          <a:xfrm>
            <a:off x="9144000" y="3703320"/>
            <a:ext cx="7955279" cy="457200"/>
          </a:xfrm>
          <a:prstGeom prst="rect">
            <a:avLst/>
          </a:prstGeom>
          <a:noFill/>
        </p:spPr>
        <p:txBody>
          <a:bodyPr wrap="square" anchor="t" lIns="45720" rIns="45720" tIns="27432" bIns="27432">
            <a:spAutoFit/>
          </a:bodyPr>
          <a:lstStyle/>
          <a:p>
            <a:pPr algn="r"/>
            <a:r>
              <a:rPr sz="1900" b="1" i="0">
                <a:solidFill>
                  <a:srgbClr val="666666"/>
                </a:solidFill>
                <a:latin typeface="Arial"/>
              </a:rPr>
              <a:t>Parts 6-8 added now</a:t>
            </a:r>
          </a:p>
        </p:txBody>
      </p:sp>
      <p:graphicFrame>
        <p:nvGraphicFramePr>
          <p:cNvPr id="14" name="Table 13"/>
          <p:cNvGraphicFramePr>
            <a:graphicFrameLocks noGrp="1"/>
          </p:cNvGraphicFramePr>
          <p:nvPr/>
        </p:nvGraphicFramePr>
        <p:xfrm>
          <a:off x="1371600" y="4480560"/>
          <a:ext cx="15544800" cy="3566160"/>
        </p:xfrm>
        <a:graphic>
          <a:graphicData uri="http://schemas.openxmlformats.org/drawingml/2006/table">
            <a:tbl>
              <a:tblPr firstRow="0" bandRow="0">
                <a:tableStyleId>{5C22544A-7EE6-4342-B048-85BDC9FD1C3A}</a:tableStyleId>
              </a:tblPr>
              <a:tblGrid>
                <a:gridCol w="6400800"/>
                <a:gridCol w="4572000"/>
                <a:gridCol w="4572000"/>
              </a:tblGrid>
              <a:tr h="713232">
                <a:tc>
                  <a:txBody>
                    <a:bodyPr wrap="square"/>
                    <a:lstStyle/>
                    <a:p>
                      <a:r>
                        <a:rPr sz="2100" b="1" i="0">
                          <a:solidFill>
                            <a:srgbClr val="FFFFFF"/>
                          </a:solidFill>
                          <a:latin typeface="Arial"/>
                        </a:rPr>
                        <a:t>Stage</a:t>
                      </a:r>
                    </a:p>
                  </a:txBody>
                  <a:tcPr anchor="ctr" marL="137160" marR="137160">
                    <a:solidFill>
                      <a:srgbClr val="B40347"/>
                    </a:solidFill>
                  </a:tcPr>
                </a:tc>
                <a:tc>
                  <a:txBody>
                    <a:bodyPr wrap="square"/>
                    <a:lstStyle/>
                    <a:p>
                      <a:r>
                        <a:rPr sz="2100" b="1" i="0">
                          <a:solidFill>
                            <a:srgbClr val="FFFFFF"/>
                          </a:solidFill>
                          <a:latin typeface="Arial"/>
                        </a:rPr>
                        <a:t>Before (parts 1-5)</a:t>
                      </a:r>
                    </a:p>
                  </a:txBody>
                  <a:tcPr anchor="ctr" marL="137160" marR="137160">
                    <a:solidFill>
                      <a:srgbClr val="B40347"/>
                    </a:solidFill>
                  </a:tcPr>
                </a:tc>
                <a:tc>
                  <a:txBody>
                    <a:bodyPr wrap="square"/>
                    <a:lstStyle/>
                    <a:p>
                      <a:r>
                        <a:rPr sz="2100" b="1" i="0">
                          <a:solidFill>
                            <a:srgbClr val="FFFFFF"/>
                          </a:solidFill>
                          <a:latin typeface="Arial"/>
                        </a:rPr>
                        <a:t>After (parts 6-8 added)</a:t>
                      </a:r>
                    </a:p>
                  </a:txBody>
                  <a:tcPr anchor="ctr" marL="137160" marR="137160">
                    <a:solidFill>
                      <a:srgbClr val="B40347"/>
                    </a:solidFill>
                  </a:tcPr>
                </a:tc>
              </a:tr>
              <a:tr h="713232">
                <a:tc>
                  <a:txBody>
                    <a:bodyPr wrap="square"/>
                    <a:lstStyle/>
                    <a:p>
                      <a:r>
                        <a:rPr sz="2100" b="1" i="0">
                          <a:solidFill>
                            <a:srgbClr val="1F1F1F"/>
                          </a:solidFill>
                          <a:latin typeface="Arial"/>
                        </a:rPr>
                        <a:t>Detector mAP50 / mAP50-95</a:t>
                      </a:r>
                    </a:p>
                  </a:txBody>
                  <a:tcPr anchor="ctr" marL="137160" marR="137160">
                    <a:solidFill>
                      <a:srgbClr val="F3F3F3"/>
                    </a:solidFill>
                  </a:tcPr>
                </a:tc>
                <a:tc>
                  <a:txBody>
                    <a:bodyPr wrap="square"/>
                    <a:lstStyle/>
                    <a:p>
                      <a:r>
                        <a:rPr sz="2100" b="0" i="0">
                          <a:solidFill>
                            <a:srgbClr val="1F1F1F"/>
                          </a:solidFill>
                          <a:latin typeface="Arial"/>
                        </a:rPr>
                        <a:t>0.2635 / 0.1526</a:t>
                      </a:r>
                    </a:p>
                  </a:txBody>
                  <a:tcPr anchor="ctr" marL="137160" marR="137160">
                    <a:solidFill>
                      <a:srgbClr val="F3F3F3"/>
                    </a:solidFill>
                  </a:tcPr>
                </a:tc>
                <a:tc>
                  <a:txBody>
                    <a:bodyPr wrap="square"/>
                    <a:lstStyle/>
                    <a:p>
                      <a:r>
                        <a:rPr sz="2100" b="0" i="0">
                          <a:solidFill>
                            <a:srgbClr val="1F1F1F"/>
                          </a:solidFill>
                          <a:latin typeface="Arial"/>
                        </a:rPr>
                        <a:t>0.2602 / 0.1548</a:t>
                      </a:r>
                    </a:p>
                  </a:txBody>
                  <a:tcPr anchor="ctr" marL="137160" marR="137160">
                    <a:solidFill>
                      <a:srgbClr val="F3F3F3"/>
                    </a:solidFill>
                  </a:tcPr>
                </a:tc>
              </a:tr>
              <a:tr h="713232">
                <a:tc>
                  <a:txBody>
                    <a:bodyPr wrap="square"/>
                    <a:lstStyle/>
                    <a:p>
                      <a:r>
                        <a:rPr sz="2100" b="1" i="0">
                          <a:solidFill>
                            <a:srgbClr val="1F1F1F"/>
                          </a:solidFill>
                          <a:latin typeface="Arial"/>
                        </a:rPr>
                        <a:t>Detector recall</a:t>
                      </a:r>
                    </a:p>
                  </a:txBody>
                  <a:tcPr anchor="ctr" marL="137160" marR="137160">
                    <a:solidFill>
                      <a:srgbClr val="FFFFFF"/>
                    </a:solidFill>
                  </a:tcPr>
                </a:tc>
                <a:tc>
                  <a:txBody>
                    <a:bodyPr wrap="square"/>
                    <a:lstStyle/>
                    <a:p>
                      <a:r>
                        <a:rPr sz="2100" b="0" i="0">
                          <a:solidFill>
                            <a:srgbClr val="1F1F1F"/>
                          </a:solidFill>
                          <a:latin typeface="Arial"/>
                        </a:rPr>
                        <a:t>0.285</a:t>
                      </a:r>
                    </a:p>
                  </a:txBody>
                  <a:tcPr anchor="ctr" marL="137160" marR="137160">
                    <a:solidFill>
                      <a:srgbClr val="FFFFFF"/>
                    </a:solidFill>
                  </a:tcPr>
                </a:tc>
                <a:tc>
                  <a:txBody>
                    <a:bodyPr wrap="square"/>
                    <a:lstStyle/>
                    <a:p>
                      <a:r>
                        <a:rPr sz="2100" b="0" i="0">
                          <a:solidFill>
                            <a:srgbClr val="1F1F1F"/>
                          </a:solidFill>
                          <a:latin typeface="Arial"/>
                        </a:rPr>
                        <a:t>0.303</a:t>
                      </a:r>
                    </a:p>
                  </a:txBody>
                  <a:tcPr anchor="ctr" marL="137160" marR="137160">
                    <a:solidFill>
                      <a:srgbClr val="FFFFFF"/>
                    </a:solidFill>
                  </a:tcPr>
                </a:tc>
              </a:tr>
              <a:tr h="713232">
                <a:tc>
                  <a:txBody>
                    <a:bodyPr wrap="square"/>
                    <a:lstStyle/>
                    <a:p>
                      <a:r>
                        <a:rPr sz="2100" b="1" i="0">
                          <a:solidFill>
                            <a:srgbClr val="1F1F1F"/>
                          </a:solidFill>
                          <a:latin typeface="Arial"/>
                        </a:rPr>
                        <a:t>Relation, new videos (acc / macro-F1)</a:t>
                      </a:r>
                    </a:p>
                  </a:txBody>
                  <a:tcPr anchor="ctr" marL="137160" marR="137160">
                    <a:solidFill>
                      <a:srgbClr val="F3F3F3"/>
                    </a:solidFill>
                  </a:tcPr>
                </a:tc>
                <a:tc>
                  <a:txBody>
                    <a:bodyPr wrap="square"/>
                    <a:lstStyle/>
                    <a:p>
                      <a:r>
                        <a:rPr sz="2100" b="0" i="0">
                          <a:solidFill>
                            <a:srgbClr val="1F1F1F"/>
                          </a:solidFill>
                          <a:latin typeface="Arial"/>
                        </a:rPr>
                        <a:t>0.303 / 0.098</a:t>
                      </a:r>
                    </a:p>
                  </a:txBody>
                  <a:tcPr anchor="ctr" marL="137160" marR="137160">
                    <a:solidFill>
                      <a:srgbClr val="F3F3F3"/>
                    </a:solidFill>
                  </a:tcPr>
                </a:tc>
                <a:tc>
                  <a:txBody>
                    <a:bodyPr wrap="square"/>
                    <a:lstStyle/>
                    <a:p>
                      <a:r>
                        <a:rPr sz="2100" b="0" i="0">
                          <a:solidFill>
                            <a:srgbClr val="1F1F1F"/>
                          </a:solidFill>
                          <a:latin typeface="Arial"/>
                        </a:rPr>
                        <a:t>0.408 / 0.124</a:t>
                      </a:r>
                    </a:p>
                  </a:txBody>
                  <a:tcPr anchor="ctr" marL="137160" marR="137160">
                    <a:solidFill>
                      <a:srgbClr val="F3F3F3"/>
                    </a:solidFill>
                  </a:tcPr>
                </a:tc>
              </a:tr>
              <a:tr h="713232">
                <a:tc>
                  <a:txBody>
                    <a:bodyPr wrap="square"/>
                    <a:lstStyle/>
                    <a:p>
                      <a:r>
                        <a:rPr sz="2100" b="1" i="0">
                          <a:solidFill>
                            <a:srgbClr val="1F1F1F"/>
                          </a:solidFill>
                          <a:latin typeface="Arial"/>
                        </a:rPr>
                        <a:t>Temporal GRU, new videos (acc / macro-F1)</a:t>
                      </a:r>
                    </a:p>
                  </a:txBody>
                  <a:tcPr anchor="ctr" marL="137160" marR="137160">
                    <a:solidFill>
                      <a:srgbClr val="FFFFFF"/>
                    </a:solidFill>
                  </a:tcPr>
                </a:tc>
                <a:tc>
                  <a:txBody>
                    <a:bodyPr wrap="square"/>
                    <a:lstStyle/>
                    <a:p>
                      <a:r>
                        <a:rPr sz="2100" b="0" i="0">
                          <a:solidFill>
                            <a:srgbClr val="1F1F1F"/>
                          </a:solidFill>
                          <a:latin typeface="Arial"/>
                        </a:rPr>
                        <a:t>0.281 / 0.032</a:t>
                      </a:r>
                    </a:p>
                  </a:txBody>
                  <a:tcPr anchor="ctr" marL="137160" marR="137160">
                    <a:solidFill>
                      <a:srgbClr val="FFFFFF"/>
                    </a:solidFill>
                  </a:tcPr>
                </a:tc>
                <a:tc>
                  <a:txBody>
                    <a:bodyPr wrap="square"/>
                    <a:lstStyle/>
                    <a:p>
                      <a:r>
                        <a:rPr sz="2100" b="0" i="0">
                          <a:solidFill>
                            <a:srgbClr val="1F1F1F"/>
                          </a:solidFill>
                          <a:latin typeface="Arial"/>
                        </a:rPr>
                        <a:t>0.390 / 0.063</a:t>
                      </a:r>
                    </a:p>
                  </a:txBody>
                  <a:tcPr anchor="ctr" marL="137160" marR="137160">
                    <a:solidFill>
                      <a:srgbClr val="FFFFFF"/>
                    </a:solidFill>
                  </a:tcPr>
                </a:tc>
              </a:tr>
            </a:tbl>
          </a:graphicData>
        </a:graphic>
      </p:graphicFrame>
      <p:sp>
        <p:nvSpPr>
          <p:cNvPr id="15" name="Summary"/>
          <p:cNvSpPr txBox="1"/>
          <p:nvPr/>
        </p:nvSpPr>
        <p:spPr>
          <a:xfrm>
            <a:off x="1371600" y="8229600"/>
            <a:ext cx="15544800" cy="1463040"/>
          </a:xfrm>
          <a:prstGeom prst="rect">
            <a:avLst/>
          </a:prstGeom>
          <a:noFill/>
        </p:spPr>
        <p:txBody>
          <a:bodyPr wrap="square" anchor="t" lIns="45720" rIns="45720" tIns="27432" bIns="27432">
            <a:spAutoFit/>
          </a:bodyPr>
          <a:lstStyle/>
          <a:p>
            <a:pPr algn="l"/>
            <a:r>
              <a:rPr sz="2100" b="1" i="0">
                <a:solidFill>
                  <a:srgbClr val="1F1F1F"/>
                </a:solidFill>
                <a:latin typeface="Arial"/>
              </a:rPr>
              <a:t>Honest summary: more data did not raise detector mAP50. The relation and temporal models improved on unseen new videos, but scores remain low.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23CSE373 - Computer Vision</a:t>
            </a:r>
          </a:p>
        </p:txBody>
      </p:sp>
      <p:sp>
        <p:nvSpPr>
          <p:cNvPr id="3" name="Heading"/>
          <p:cNvSpPr txBox="1"/>
          <p:nvPr/>
        </p:nvSpPr>
        <p:spPr>
          <a:xfrm>
            <a:off x="822960" y="2103120"/>
            <a:ext cx="7863840" cy="640080"/>
          </a:xfrm>
          <a:prstGeom prst="rect">
            <a:avLst/>
          </a:prstGeom>
          <a:noFill/>
        </p:spPr>
        <p:txBody>
          <a:bodyPr wrap="square" anchor="t" lIns="45720" rIns="45720" tIns="27432" bIns="27432">
            <a:spAutoFit/>
          </a:bodyPr>
          <a:lstStyle/>
          <a:p>
            <a:pPr algn="l"/>
            <a:r>
              <a:rPr sz="3000" b="0" i="0">
                <a:solidFill>
                  <a:srgbClr val="B40347"/>
                </a:solidFill>
                <a:latin typeface="Arial Black"/>
              </a:rPr>
              <a:t>Challenges Faced</a:t>
            </a:r>
          </a:p>
        </p:txBody>
      </p:sp>
      <p:sp>
        <p:nvSpPr>
          <p:cNvPr id="4" name="Bullets"/>
          <p:cNvSpPr txBox="1"/>
          <p:nvPr/>
        </p:nvSpPr>
        <p:spPr>
          <a:xfrm>
            <a:off x="822960" y="2926080"/>
            <a:ext cx="7863840" cy="6400800"/>
          </a:xfrm>
          <a:prstGeom prst="rect">
            <a:avLst/>
          </a:prstGeom>
          <a:noFill/>
        </p:spPr>
        <p:txBody>
          <a:bodyPr wrap="square" lIns="45720" rIns="45720">
            <a:spAutoFit/>
          </a:bodyPr>
          <a:lstStyle/>
          <a:p>
            <a:pPr marL="347472" indent="-347472">
              <a:spcAft>
                <a:spcPts val="1400"/>
              </a:spcAft>
              <a:buClr>
                <a:srgbClr val="B40347"/>
              </a:buClr>
              <a:buChar char="•"/>
            </a:pPr>
            <a:r>
              <a:rPr sz="2200" b="1" i="0">
                <a:solidFill>
                  <a:srgbClr val="1F1F1F"/>
                </a:solidFill>
                <a:latin typeface="Arial"/>
              </a:rPr>
              <a:t>Compute: </a:t>
            </a:r>
            <a:r>
              <a:rPr sz="2200" b="0" i="0">
                <a:solidFill>
                  <a:srgbClr val="1F1F1F"/>
                </a:solidFill>
                <a:latin typeface="Arial"/>
              </a:rPr>
              <a:t>limited GPU access, so the final fine-tune ran on a Mac (about 4 hours for 3 epochs).</a:t>
            </a:r>
          </a:p>
          <a:p>
            <a:pPr marL="347472" indent="-347472">
              <a:spcAft>
                <a:spcPts val="1400"/>
              </a:spcAft>
              <a:buClr>
                <a:srgbClr val="B40347"/>
              </a:buClr>
              <a:buChar char="•"/>
            </a:pPr>
            <a:r>
              <a:rPr sz="2200" b="1" i="0">
                <a:solidFill>
                  <a:srgbClr val="1F1F1F"/>
                </a:solidFill>
                <a:latin typeface="Arial"/>
              </a:rPr>
              <a:t>Class mismatch: </a:t>
            </a:r>
            <a:r>
              <a:rPr sz="2200" b="0" i="0">
                <a:solidFill>
                  <a:srgbClr val="1F1F1F"/>
                </a:solidFill>
                <a:latin typeface="Arial"/>
              </a:rPr>
              <a:t>the pipeline had 28 classes, the detector 78. Fixed by expanding by class name.</a:t>
            </a:r>
          </a:p>
          <a:p>
            <a:pPr marL="347472" indent="-347472">
              <a:spcAft>
                <a:spcPts val="1400"/>
              </a:spcAft>
              <a:buClr>
                <a:srgbClr val="B40347"/>
              </a:buClr>
              <a:buChar char="•"/>
            </a:pPr>
            <a:r>
              <a:rPr sz="2200" b="1" i="0">
                <a:solidFill>
                  <a:srgbClr val="1F1F1F"/>
                </a:solidFill>
                <a:latin typeface="Arial"/>
              </a:rPr>
              <a:t>Over-fitting: </a:t>
            </a:r>
            <a:r>
              <a:rPr sz="2200" b="0" i="0">
                <a:solidFill>
                  <a:srgbClr val="1F1F1F"/>
                </a:solidFill>
                <a:latin typeface="Arial"/>
              </a:rPr>
              <a:t>relation and temporal validation loss rises after 1 to 3 epochs.</a:t>
            </a:r>
          </a:p>
          <a:p>
            <a:pPr marL="347472" indent="-347472">
              <a:spcAft>
                <a:spcPts val="1400"/>
              </a:spcAft>
              <a:buClr>
                <a:srgbClr val="B40347"/>
              </a:buClr>
              <a:buChar char="•"/>
            </a:pPr>
            <a:r>
              <a:rPr sz="2200" b="1" i="0">
                <a:solidFill>
                  <a:srgbClr val="1F1F1F"/>
                </a:solidFill>
                <a:latin typeface="Arial"/>
              </a:rPr>
              <a:t>Low scores: </a:t>
            </a:r>
            <a:r>
              <a:rPr sz="2200" b="0" i="0">
                <a:solidFill>
                  <a:srgbClr val="1F1F1F"/>
                </a:solidFill>
                <a:latin typeface="Arial"/>
              </a:rPr>
              <a:t>detector recall 0.30 and macro-F1 at most 0.13.</a:t>
            </a:r>
          </a:p>
        </p:txBody>
      </p:sp>
      <p:sp>
        <p:nvSpPr>
          <p:cNvPr id="5" name="Heading"/>
          <p:cNvSpPr txBox="1"/>
          <p:nvPr/>
        </p:nvSpPr>
        <p:spPr>
          <a:xfrm>
            <a:off x="9692640" y="2103120"/>
            <a:ext cx="7863840" cy="640080"/>
          </a:xfrm>
          <a:prstGeom prst="rect">
            <a:avLst/>
          </a:prstGeom>
          <a:noFill/>
        </p:spPr>
        <p:txBody>
          <a:bodyPr wrap="square" anchor="t" lIns="45720" rIns="45720" tIns="27432" bIns="27432">
            <a:spAutoFit/>
          </a:bodyPr>
          <a:lstStyle/>
          <a:p>
            <a:pPr algn="l"/>
            <a:r>
              <a:rPr sz="3000" b="0" i="0">
                <a:solidFill>
                  <a:srgbClr val="B40347"/>
                </a:solidFill>
                <a:latin typeface="Arial Black"/>
              </a:rPr>
              <a:t>Next Review</a:t>
            </a:r>
          </a:p>
        </p:txBody>
      </p:sp>
      <p:sp>
        <p:nvSpPr>
          <p:cNvPr id="6" name="Bullets"/>
          <p:cNvSpPr txBox="1"/>
          <p:nvPr/>
        </p:nvSpPr>
        <p:spPr>
          <a:xfrm>
            <a:off x="9692640" y="2926080"/>
            <a:ext cx="7863840" cy="6400800"/>
          </a:xfrm>
          <a:prstGeom prst="rect">
            <a:avLst/>
          </a:prstGeom>
          <a:noFill/>
        </p:spPr>
        <p:txBody>
          <a:bodyPr wrap="square" lIns="45720" rIns="45720">
            <a:spAutoFit/>
          </a:bodyPr>
          <a:lstStyle/>
          <a:p>
            <a:pPr marL="347472" indent="-347472">
              <a:spcAft>
                <a:spcPts val="1400"/>
              </a:spcAft>
              <a:buClr>
                <a:srgbClr val="B40347"/>
              </a:buClr>
              <a:buChar char="•"/>
            </a:pPr>
            <a:r>
              <a:rPr sz="2200" b="0" i="0">
                <a:solidFill>
                  <a:srgbClr val="1F1F1F"/>
                </a:solidFill>
                <a:latin typeface="Arial"/>
              </a:rPr>
              <a:t>Run the full pipeline end to end and evaluate it.</a:t>
            </a:r>
          </a:p>
          <a:p>
            <a:pPr marL="347472" indent="-347472">
              <a:spcAft>
                <a:spcPts val="1400"/>
              </a:spcAft>
              <a:buClr>
                <a:srgbClr val="B40347"/>
              </a:buClr>
              <a:buChar char="•"/>
            </a:pPr>
            <a:r>
              <a:rPr sz="2200" b="0" i="0">
                <a:solidFill>
                  <a:srgbClr val="1F1F1F"/>
                </a:solidFill>
                <a:latin typeface="Arial"/>
              </a:rPr>
              <a:t>Train the detector longer with a tuned learning rate.</a:t>
            </a:r>
          </a:p>
          <a:p>
            <a:pPr marL="347472" indent="-347472">
              <a:spcAft>
                <a:spcPts val="1400"/>
              </a:spcAft>
              <a:buClr>
                <a:srgbClr val="B40347"/>
              </a:buClr>
              <a:buChar char="•"/>
            </a:pPr>
            <a:r>
              <a:rPr sz="2200" b="0" i="0">
                <a:solidFill>
                  <a:srgbClr val="1F1F1F"/>
                </a:solidFill>
                <a:latin typeface="Arial"/>
              </a:rPr>
              <a:t>Use a class-weighted relation loss to lift macro-F1.</a:t>
            </a:r>
          </a:p>
          <a:p>
            <a:pPr marL="347472" indent="-347472">
              <a:spcAft>
                <a:spcPts val="1400"/>
              </a:spcAft>
              <a:buClr>
                <a:srgbClr val="B40347"/>
              </a:buClr>
              <a:buChar char="•"/>
            </a:pPr>
            <a:r>
              <a:rPr sz="2200" b="0" i="0">
                <a:solidFill>
                  <a:srgbClr val="1F1F1F"/>
                </a:solidFill>
                <a:latin typeface="Arial"/>
              </a:rPr>
              <a:t>Track and featurise every new video, not every second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1396</Words>
  <Application>Microsoft Office PowerPoint</Application>
  <PresentationFormat>Custom</PresentationFormat>
  <Paragraphs>148</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Lucida Sans Unicode</vt:lpstr>
      <vt:lpstr>Times New Roman</vt:lpstr>
      <vt:lpstr>Office Theme</vt:lpstr>
      <vt:lpstr>23CSE373 - Computer Vision</vt:lpstr>
      <vt:lpstr>23CSE373 - Computer Vision</vt:lpstr>
      <vt:lpstr>23CSE373 - Computer Vision</vt:lpstr>
      <vt:lpstr>23CSE373 - Computer Vision</vt:lpstr>
      <vt:lpstr>23CSE373 - Computer Vision</vt:lpstr>
      <vt:lpstr>23CSE373 - Computer Vision</vt:lpstr>
      <vt:lpstr>23CSE373 - Computer Vision</vt:lpstr>
      <vt:lpstr>23CSE373 - Computer Vision</vt:lpstr>
      <vt:lpstr>23CSE373 - Computer Vision</vt:lpstr>
      <vt:lpstr>23CSE373 - Computer Vision</vt:lpstr>
      <vt:lpstr>23CSE373 - Computer Vision</vt:lpstr>
      <vt:lpstr>23CSE373 - Computer Vision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23CSE373 - Computer Vision</dc:title>
  <dc:creator>Sivajiii vaila baji</dc:creator>
  <cp:keywords>DAHP6PD-EP4,BAGhOxbBATI</cp:keywords>
  <cp:lastModifiedBy>Venkata Koushal Challapalli</cp:lastModifiedBy>
  <cp:revision>6</cp:revision>
  <dcterms:created xsi:type="dcterms:W3CDTF">2026-08-03T08:37:00Z</dcterms:created>
  <dcterms:modified xsi:type="dcterms:W3CDTF">2026-10-04T18:54:41Z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2026-07-23T16:30:00Z</vt:filetime>
  </property>
  <property fmtid="{D5CDD505-2E9C-101B-9397-08002B2CF9AE}" pid="4" name="Creator">
    <vt:lpwstr>Canva</vt:lpwstr>
  </property>
  <property fmtid="{D5CDD505-2E9C-101B-9397-08002B2CF9AE}" pid="5" name="LastSaved">
    <vt:filetime>2026-08-03T16:30:00Z</vt:filetime>
  </property>
  <property fmtid="{D5CDD505-2E9C-101B-9397-08002B2CF9AE}" pid="6" name="Producer">
    <vt:lpwstr>Canva</vt:lpwstr>
  </property>
  <property fmtid="{D5CDD505-2E9C-101B-9397-08002B2CF9AE}" pid="7" name="ICV">
    <vt:lpwstr>921EEB1636F14E699C0ACDCF62A37FB0_13</vt:lpwstr>
  </property>
  <property fmtid="{D5CDD505-2E9C-101B-9397-08002B2CF9AE}" pid="8" name="KSOProductBuildVer">
    <vt:lpwstr>2057-12.2.0.23206</vt:lpwstr>
  </property>
</Properties>
</file>