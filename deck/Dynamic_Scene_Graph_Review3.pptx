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CF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E8ECF1"/>
                </a:solidFill>
                <a:latin typeface="+mn-lt"/>
              </a:rPr>
              <a:t>Mean average precision by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FFB020"/>
            </a:solidFill>
            <a:ln w="38100" cap="flat">
              <a:solidFill>
                <a:srgbClr val="FFB0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B020"/>
              </a:solidFill>
              <a:ln w="9525" cap="flat">
                <a:solidFill>
                  <a:srgbClr val="FFB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0.22684</c:v>
                </c:pt>
                <c:pt idx="1">
                  <c:v>0.25678</c:v>
                </c:pt>
                <c:pt idx="2">
                  <c:v>0.24108</c:v>
                </c:pt>
                <c:pt idx="3">
                  <c:v>0.21363</c:v>
                </c:pt>
                <c:pt idx="4">
                  <c:v>0.22603</c:v>
                </c:pt>
                <c:pt idx="5">
                  <c:v>0.25286</c:v>
                </c:pt>
                <c:pt idx="6">
                  <c:v>0.26339</c:v>
                </c:pt>
                <c:pt idx="7">
                  <c:v>0.24626</c:v>
                </c:pt>
                <c:pt idx="8">
                  <c:v>0.24764</c:v>
                </c:pt>
                <c:pt idx="9">
                  <c:v>0.2454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mAP50-95</c:v>
                </c:pt>
              </c:strCache>
            </c:strRef>
          </c:tx>
          <c:spPr>
            <a:solidFill>
              <a:srgbClr val="4FD1C5"/>
            </a:solidFill>
            <a:ln w="38100" cap="flat">
              <a:solidFill>
                <a:srgbClr val="4FD1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FD1C5"/>
              </a:solidFill>
              <a:ln w="9525" cap="flat">
                <a:solidFill>
                  <a:srgbClr val="4FD1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0.13529</c:v>
                </c:pt>
                <c:pt idx="1">
                  <c:v>0.15102</c:v>
                </c:pt>
                <c:pt idx="2">
                  <c:v>0.14345</c:v>
                </c:pt>
                <c:pt idx="3">
                  <c:v>0.12227</c:v>
                </c:pt>
                <c:pt idx="4">
                  <c:v>0.13157</c:v>
                </c:pt>
                <c:pt idx="5">
                  <c:v>0.14764</c:v>
                </c:pt>
                <c:pt idx="6">
                  <c:v>0.1526</c:v>
                </c:pt>
                <c:pt idx="7">
                  <c:v>0.14368</c:v>
                </c:pt>
                <c:pt idx="8">
                  <c:v>0.14472</c:v>
                </c:pt>
                <c:pt idx="9">
                  <c:v>0.14602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94A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A94A3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0.1"/>
        </c:scaling>
        <c:delete val="0"/>
        <c:axPos val="l"/>
        <c:majorGridlines>
          <c:spPr>
            <a:ln w="9525" cap="flat">
              <a:solidFill>
                <a:srgbClr val="2A323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A94A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8ECF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E8ECF1"/>
                </a:solidFill>
                <a:latin typeface="+mn-lt"/>
              </a:rPr>
              <a:t>Classification loss by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cls loss</c:v>
                </c:pt>
              </c:strCache>
            </c:strRef>
          </c:tx>
          <c:spPr>
            <a:solidFill>
              <a:srgbClr val="FF6B5B"/>
            </a:solidFill>
            <a:ln w="38100" cap="flat">
              <a:solidFill>
                <a:srgbClr val="FF6B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2.96703</c:v>
                </c:pt>
                <c:pt idx="1">
                  <c:v>1.78755</c:v>
                </c:pt>
                <c:pt idx="2">
                  <c:v>1.5923</c:v>
                </c:pt>
                <c:pt idx="3">
                  <c:v>1.49179</c:v>
                </c:pt>
                <c:pt idx="4">
                  <c:v>1.35952</c:v>
                </c:pt>
                <c:pt idx="5">
                  <c:v>1.272</c:v>
                </c:pt>
                <c:pt idx="6">
                  <c:v>1.20149</c:v>
                </c:pt>
                <c:pt idx="7">
                  <c:v>1.14002</c:v>
                </c:pt>
                <c:pt idx="8">
                  <c:v>1.08518</c:v>
                </c:pt>
                <c:pt idx="9">
                  <c:v>1.03725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cls loss</c:v>
                </c:pt>
              </c:strCache>
            </c:strRef>
          </c:tx>
          <c:spPr>
            <a:solidFill>
              <a:srgbClr val="8B9CFF"/>
            </a:solidFill>
            <a:ln w="38100" cap="flat">
              <a:solidFill>
                <a:srgbClr val="8B9C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B9CFF"/>
              </a:solidFill>
              <a:ln w="9525" cap="flat">
                <a:solidFill>
                  <a:srgbClr val="8B9C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2.09962</c:v>
                </c:pt>
                <c:pt idx="1">
                  <c:v>2.05509</c:v>
                </c:pt>
                <c:pt idx="2">
                  <c:v>2.10536</c:v>
                </c:pt>
                <c:pt idx="3">
                  <c:v>2.17195</c:v>
                </c:pt>
                <c:pt idx="4">
                  <c:v>2.13572</c:v>
                </c:pt>
                <c:pt idx="5">
                  <c:v>2.06972</c:v>
                </c:pt>
                <c:pt idx="6">
                  <c:v>2.0767</c:v>
                </c:pt>
                <c:pt idx="7">
                  <c:v>2.10949</c:v>
                </c:pt>
                <c:pt idx="8">
                  <c:v>2.12532</c:v>
                </c:pt>
                <c:pt idx="9">
                  <c:v>2.1144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94A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A94A3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.5"/>
        </c:scaling>
        <c:delete val="0"/>
        <c:axPos val="l"/>
        <c:majorGridlines>
          <c:spPr>
            <a:ln w="9525" cap="flat">
              <a:solidFill>
                <a:srgbClr val="2A323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A94A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020"/>
              </a:solidFill>
              <a:ln w="25400" cap="flat">
                <a:solidFill>
                  <a:srgbClr val="0F1318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A323D"/>
              </a:solidFill>
              <a:ln w="25400" cap="flat">
                <a:solidFill>
                  <a:srgbClr val="0F131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In training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</c:v>
                </c:pt>
                <c:pt idx="1">
                  <c:v>3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Project: dynamic scene graph generation on VidOR. Review 3 update: 5 of 8 dataset parts complete, parts 6-8 are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Scene graph = objects as nodes, relations as edges. We want this for every moment of a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static scene graph treats each frame alone. A dynamic one keeps identities and records when relations start and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VidOR training set is split into 8 parts. Parts 1-5 are complete. Parts 6-8 are training now because GPU access was limited. Stats from dataset_manifest.json (export snapshot).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mirror the src/ folder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dataset_export on Drive.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 from args.yaml of each run. Only run 3 has saved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3, 10 epochs, from results.csv. Classification loss: train 2.97 to 1.04, validation 2.10 to 2.11.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mAP values across 10 epochs; precision and recall are final-epoch values. PR curve image is from the run-3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and validation predictions from the run-3 folder. The adult class dominates; many classes barely register. Predicted boxes on validation frames show adult and baby at confidence 0.3 to 0.5.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Tracking assigns persistent IDs; graph and temporal modules connect nodes across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 inferred from the dataset_export folders.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access limited the number of parts we could train before this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 slide. Parts 1-5 are complete and reported. Parts 6-8 are currently training; their results will be added after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SCENE GRAPH  ·  VIDOR  ·  REVIEW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1"/>
                </a:solidFill>
              </a:rPr>
              <a:t>REVIEW 3  ·  VIDOR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Scene Graph Generation from Video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Detect objects, track them through time, and predict how they relate - frame by frame.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51206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394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 of 8 VidOR parts complete  ·  parts 6-8 training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418320" y="1737360"/>
            <a:ext cx="1737360" cy="128016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38360" y="2240280"/>
            <a:ext cx="10972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B020"/>
                </a:solidFill>
              </a:rPr>
              <a:t>holds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V="1">
            <a:off x="9052560" y="1737360"/>
            <a:ext cx="365760" cy="2468880"/>
          </a:xfrm>
          <a:prstGeom prst="line">
            <a:avLst/>
          </a:prstGeom>
          <a:noFill/>
          <a:ln w="25400">
            <a:solidFill>
              <a:srgbClr val="4FD1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0" y="2834640"/>
            <a:ext cx="10972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D1C5"/>
                </a:solidFill>
              </a:rPr>
              <a:t>stands by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9052560" y="3017520"/>
            <a:ext cx="2103120" cy="1188720"/>
          </a:xfrm>
          <a:prstGeom prst="line">
            <a:avLst/>
          </a:prstGeom>
          <a:noFill/>
          <a:ln w="25400">
            <a:solidFill>
              <a:srgbClr val="8B9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55480" y="3474720"/>
            <a:ext cx="10972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CFF"/>
                </a:solidFill>
              </a:rPr>
              <a:t>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4206240"/>
            <a:ext cx="1828800" cy="1188720"/>
          </a:xfrm>
          <a:prstGeom prst="line">
            <a:avLst/>
          </a:prstGeom>
          <a:noFill/>
          <a:ln w="25400">
            <a:solidFill>
              <a:srgbClr val="FF6B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0" y="4663440"/>
            <a:ext cx="1097280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B5B"/>
                </a:solidFill>
              </a:rPr>
              <a:t>near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1737360"/>
            <a:ext cx="1463040" cy="3657600"/>
          </a:xfrm>
          <a:prstGeom prst="line">
            <a:avLst/>
          </a:prstGeom>
          <a:noFill/>
          <a:ln w="15875">
            <a:solidFill>
              <a:srgbClr val="8A94A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915400" y="1234440"/>
            <a:ext cx="1005840" cy="100584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98480" y="256032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8B9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bottle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0" y="374904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4FD1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424160" y="493776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6B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24160" y="4937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illustrative scene graph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 video is a story of who does what to whom</a:t>
            </a:r>
            <a:endParaRPr lang="en-US" dirty="0"/>
          </a:p>
        </p:txBody>
      </p:sp>
      <p:pic>
        <p:nvPicPr>
          <p:cNvPr id="5" name="Image 0" descr="Validation frames with detected obje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760720" cy="33009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1206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Real validation frames with detector output (run 3)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8580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OUTPUT PER FRAME  (illustrative)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858000" y="2194560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086600" y="2194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1"/>
                </a:solidFill>
              </a:rPr>
              <a:t>adult</a:t>
            </a:r>
            <a:pPr indent="0" marL="0">
              <a:buNone/>
            </a:pPr>
            <a:r>
              <a:rPr lang="en-US" sz="2000" i="1" dirty="0">
                <a:solidFill>
                  <a:srgbClr val="FFB020"/>
                </a:solidFill>
              </a:rPr>
              <a:t>   holds   </a:t>
            </a:r>
            <a:pPr indent="0" marL="0">
              <a:buNone/>
            </a:pPr>
            <a:r>
              <a:rPr lang="en-US" sz="2000" b="1" dirty="0">
                <a:solidFill>
                  <a:srgbClr val="E8ECF1"/>
                </a:solidFill>
              </a:rPr>
              <a:t>baby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858000" y="3108960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86600" y="31089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1"/>
                </a:solidFill>
              </a:rPr>
              <a:t>baby</a:t>
            </a:r>
            <a:pPr indent="0" marL="0">
              <a:buNone/>
            </a:pPr>
            <a:r>
              <a:rPr lang="en-US" sz="2000" i="1" dirty="0">
                <a:solidFill>
                  <a:srgbClr val="FF6B5B"/>
                </a:solidFill>
              </a:rPr>
              <a:t>   looks at   </a:t>
            </a:r>
            <a:pPr indent="0" marL="0">
              <a:buNone/>
            </a:pPr>
            <a:r>
              <a:rPr lang="en-US" sz="2000" b="1" dirty="0">
                <a:solidFill>
                  <a:srgbClr val="E8ECF1"/>
                </a:solidFill>
              </a:rPr>
              <a:t>adult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858000" y="4023360"/>
            <a:ext cx="47548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086600" y="4023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CF1"/>
                </a:solidFill>
              </a:rPr>
              <a:t>adult</a:t>
            </a:r>
            <a:pPr indent="0" marL="0">
              <a:buNone/>
            </a:pPr>
            <a:r>
              <a:rPr lang="en-US" sz="2000" i="1" dirty="0">
                <a:solidFill>
                  <a:srgbClr val="4FD1C5"/>
                </a:solidFill>
              </a:rPr>
              <a:t>   next to   </a:t>
            </a:r>
            <a:pPr indent="0" marL="0">
              <a:buNone/>
            </a:pPr>
            <a:r>
              <a:rPr lang="en-US" sz="2000" b="1" dirty="0">
                <a:solidFill>
                  <a:srgbClr val="E8ECF1"/>
                </a:solidFill>
              </a:rPr>
              <a:t>baby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Doing this for every frame, with objects that keep their identity over time, is this project's task.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02  ·  WHY DYNAMIC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Per-frame graphs miss what changes over time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73736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Static (per frame)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Each frame labelled on its own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No identity link between frames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Relations flicker on and off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Dynamic (this project)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331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Tracked objects keep one 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Relations carry a start and an end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Context from neighbouring frames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RELATIONS AS INTERVALS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0" y="4754880"/>
            <a:ext cx="0" cy="123444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411480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9120" y="4754880"/>
            <a:ext cx="0" cy="123444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594360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4754880"/>
            <a:ext cx="0" cy="123444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77240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46720" y="4754880"/>
            <a:ext cx="0" cy="123444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9601200" y="4434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875520" y="4754880"/>
            <a:ext cx="0" cy="1234440"/>
          </a:xfrm>
          <a:prstGeom prst="line">
            <a:avLst/>
          </a:prstGeom>
          <a:noFill/>
          <a:ln w="9525">
            <a:solidFill>
              <a:srgbClr val="2A323D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548640" y="4846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person - holds - ball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89120" y="4864608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230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dog - near - person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560320" y="5248656"/>
            <a:ext cx="5486400" cy="256032"/>
          </a:xfrm>
          <a:prstGeom prst="roundRect">
            <a:avLst>
              <a:gd name="adj" fmla="val 50000"/>
            </a:avLst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614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dog - looks at - ball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5632704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03  · 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VidOR comes in eight parts - five are trained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PART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07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48840" y="17830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4884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PART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2240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807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17830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4904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PART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2240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807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49240" y="17830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4924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PART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240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2807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PART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148840" y="33832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214884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PART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2148840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28" name="Text 25"/>
          <p:cNvSpPr txBox="1"/>
          <p:nvPr/>
        </p:nvSpPr>
        <p:spPr>
          <a:xfrm>
            <a:off x="2148840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training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749040" y="33832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374904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PART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749040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32" name="Text 29"/>
          <p:cNvSpPr txBox="1"/>
          <p:nvPr/>
        </p:nvSpPr>
        <p:spPr>
          <a:xfrm>
            <a:off x="3749040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training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349240" y="3383280"/>
            <a:ext cx="1417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5349240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tx2"/>
                </a:solidFill>
              </a:rPr>
              <a:t>PART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349240" y="38404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36" name="Text 33"/>
          <p:cNvSpPr txBox="1"/>
          <p:nvPr/>
        </p:nvSpPr>
        <p:spPr>
          <a:xfrm>
            <a:off x="5349240" y="4407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training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1206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Filled = complete   ·   Dashed = in training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22376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fps</a:t>
            </a:r>
            <a:endParaRPr lang="en-US" sz="380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frame sampling rate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223760" y="2743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33,277</a:t>
            </a:r>
            <a:endParaRPr lang="en-US" sz="3800" dirty="0"/>
          </a:p>
        </p:txBody>
      </p:sp>
      <p:sp>
        <p:nvSpPr>
          <p:cNvPr id="41" name="Text 38"/>
          <p:cNvSpPr txBox="1"/>
          <p:nvPr/>
        </p:nvSpPr>
        <p:spPr>
          <a:xfrm>
            <a:off x="960120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training frames (YOLO format)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223760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3,594</a:t>
            </a:r>
            <a:endParaRPr lang="en-US" sz="3800" dirty="0"/>
          </a:p>
        </p:txBody>
      </p:sp>
      <p:sp>
        <p:nvSpPr>
          <p:cNvPr id="43" name="Text 40"/>
          <p:cNvSpPr txBox="1"/>
          <p:nvPr/>
        </p:nvSpPr>
        <p:spPr>
          <a:xfrm>
            <a:off x="9601200" y="3703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validation frames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22376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</a:t>
            </a:r>
            <a:endParaRPr lang="en-US" sz="3800" dirty="0"/>
          </a:p>
        </p:txBody>
      </p:sp>
      <p:sp>
        <p:nvSpPr>
          <p:cNvPr id="45" name="Text 42"/>
          <p:cNvSpPr txBox="1"/>
          <p:nvPr/>
        </p:nvSpPr>
        <p:spPr>
          <a:xfrm>
            <a:off x="9601200" y="4663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videos per part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7223760" y="5715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Counts from the last dataset export manifest.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04  · 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Eight stages from raw video to scene graph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188720" y="2834640"/>
            <a:ext cx="9774022" cy="0"/>
          </a:xfrm>
          <a:prstGeom prst="line">
            <a:avLst/>
          </a:prstGeom>
          <a:noFill/>
          <a:ln w="25400">
            <a:solidFill>
              <a:srgbClr val="5B657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Clean and prepare frames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310689" y="25603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10689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944929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944929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Parse VidOR labels, sample at 1 fps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706978" y="256032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0697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341218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341218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YOLOv8s finds objects per frame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103266" y="25603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0326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737506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37506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Link detections into tracks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99555" y="25603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9555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133795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133795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Appearance and geometry per object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895844" y="25603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95844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530084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530084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Build a graph for each frame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292133" y="25603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292133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926373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temporal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926373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Connect graphs across time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688422" y="2560320"/>
            <a:ext cx="548640" cy="54864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68842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322662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322662" y="3657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Predict the predicate between pairs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Trained and evaluated so far: stage 3, detection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remaining stages consume its boxes, so detector quality sets the ceiling.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05  ·  DATA EXPORT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the dataset export contains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391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258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VidOR labels for train and val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391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Source clips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83464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0906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258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yolo_format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Frames and boxes in YOLO layout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283464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0906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Per-video object tracks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14223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258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32588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Extracted object features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72200" y="388620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414223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4944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relation_dataset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Object-pair relation samples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93776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" y="519379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32588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relation_dataset_corrected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32588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Revised relation samples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172200" y="4937760"/>
            <a:ext cx="54406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0" y="5193792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94944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dataset_manifest.json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94944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Parts, fps and counts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06  ·  DETECTOR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YOLOv8s fine-tuned in three runs</a:t>
            </a:r>
            <a:endParaRPr lang="en-US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Base model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yolov8s.pt, pretrained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50008"/>
            <a:ext cx="5486400" cy="0"/>
          </a:xfrm>
          <a:prstGeom prst="line">
            <a:avLst/>
          </a:prstGeom>
          <a:noFill/>
          <a:ln w="9525">
            <a:solidFill>
              <a:srgbClr val="2A32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048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Input size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24048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640 px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5486400" cy="0"/>
          </a:xfrm>
          <a:prstGeom prst="line">
            <a:avLst/>
          </a:prstGeom>
          <a:noFill/>
          <a:ln w="9525">
            <a:solidFill>
              <a:srgbClr val="2A32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0266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Epochs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30266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 per run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593592"/>
            <a:ext cx="5486400" cy="0"/>
          </a:xfrm>
          <a:prstGeom prst="line">
            <a:avLst/>
          </a:prstGeom>
          <a:noFill/>
          <a:ln w="9525">
            <a:solidFill>
              <a:srgbClr val="2A32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6484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Optimizer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36484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auto, lr0 0.01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215384"/>
            <a:ext cx="5486400" cy="0"/>
          </a:xfrm>
          <a:prstGeom prst="line">
            <a:avLst/>
          </a:prstGeom>
          <a:noFill/>
          <a:ln w="9525">
            <a:solidFill>
              <a:srgbClr val="2A32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270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Augmentation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651760" y="42702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mosaic, flip 0.5, HSV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837176"/>
            <a:ext cx="5486400" cy="0"/>
          </a:xfrm>
          <a:prstGeom prst="line">
            <a:avLst/>
          </a:prstGeom>
          <a:noFill/>
          <a:ln w="9525">
            <a:solidFill>
              <a:srgbClr val="2A32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892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Precision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4892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mixed (AMP), Colab GPU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5458968"/>
            <a:ext cx="5486400" cy="0"/>
          </a:xfrm>
          <a:prstGeom prst="line">
            <a:avLst/>
          </a:prstGeom>
          <a:noFill/>
          <a:ln w="9525">
            <a:solidFill>
              <a:srgbClr val="2A32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0" y="1783080"/>
            <a:ext cx="50292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0" y="1783080"/>
            <a:ext cx="502920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685800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batch 16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weights saved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583680" y="3063240"/>
            <a:ext cx="50292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0" y="3063240"/>
            <a:ext cx="502920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0"/>
            </a:schemeClr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68580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2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batch 32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3200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weights saved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583680" y="4343400"/>
            <a:ext cx="50292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0" y="4343400"/>
            <a:ext cx="502920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0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3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batch 32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686800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metrics + curves logged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07  ·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mAP stalls near 0.25 as validation loss stays flat</a:t>
            </a:r>
            <a:endParaRPr lang="en-US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09360" y="164592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Training loss keeps falling while validation loss stays near 2.1 - a sign of over-fitting. Full run: 10 epochs, about 79 minutes on one Colab GPU.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08  ·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Peak 0.263 mAP50 at epoch 7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2377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0.263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mAP50, best (epoch 7)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54680" y="1783080"/>
            <a:ext cx="2377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5468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mAP50-95, best (epoch 7)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886200"/>
            <a:ext cx="2377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0.363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5029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precision, final epoch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154680" y="3886200"/>
            <a:ext cx="2377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54680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0.251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5029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recall, final epoch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783080"/>
            <a:ext cx="5577840" cy="3721608"/>
          </a:xfrm>
          <a:prstGeom prst="roundRect">
            <a:avLst>
              <a:gd name="adj" fmla="val 24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Precision-recall curve, all classes, mAP@0.5 0.26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83080"/>
            <a:ext cx="5577840" cy="37216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035040" y="56235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Precision-recall for all classes (blue) and each class (grey). Precision falls steeply as recall rises.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09  ·  ERROR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Strong on adults, thin on most other classes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457200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onfusion matrix over VidOR classes; the adult class domin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572000" cy="3429000"/>
          </a:xfrm>
          <a:prstGeom prst="rect">
            <a:avLst/>
          </a:prstGeom>
        </p:spPr>
      </p:pic>
      <p:pic>
        <p:nvPicPr>
          <p:cNvPr id="7" name="Image 1" descr="Validation frames with predicted boxes labelled adult and baby with confidence sco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83080"/>
            <a:ext cx="6217920" cy="35661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Confusion matrix: a dark adult cell, faint scatter everywhere else.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394960" y="54864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Validation predictions: adult and baby are found, but confidence stays at 0.3 to 0.5.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10  ·  TEMPORAL 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Tracks turn per-frame boxes into a temporal graph</a:t>
            </a:r>
            <a:endParaRPr lang="en-US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frame 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frame t+1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frame t+2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651760" y="2194560"/>
            <a:ext cx="2743200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651760" y="3749040"/>
            <a:ext cx="2743200" cy="0"/>
          </a:xfrm>
          <a:prstGeom prst="line">
            <a:avLst/>
          </a:prstGeom>
          <a:noFill/>
          <a:ln w="19050">
            <a:solidFill>
              <a:srgbClr val="8B9CF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651760" y="5303520"/>
            <a:ext cx="2743200" cy="0"/>
          </a:xfrm>
          <a:prstGeom prst="line">
            <a:avLst/>
          </a:prstGeom>
          <a:noFill/>
          <a:ln w="19050">
            <a:solidFill>
              <a:srgbClr val="FF6B5B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309360" y="2194560"/>
            <a:ext cx="2743200" cy="0"/>
          </a:xfrm>
          <a:prstGeom prst="line">
            <a:avLst/>
          </a:prstGeom>
          <a:noFill/>
          <a:ln w="19050">
            <a:solidFill>
              <a:srgbClr val="FFB02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309360" y="3749040"/>
            <a:ext cx="2743200" cy="0"/>
          </a:xfrm>
          <a:prstGeom prst="line">
            <a:avLst/>
          </a:prstGeom>
          <a:noFill/>
          <a:ln w="19050">
            <a:solidFill>
              <a:srgbClr val="8B9CFF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309360" y="5303520"/>
            <a:ext cx="2743200" cy="0"/>
          </a:xfrm>
          <a:prstGeom prst="line">
            <a:avLst/>
          </a:prstGeom>
          <a:noFill/>
          <a:ln w="19050">
            <a:solidFill>
              <a:srgbClr val="FF6B5B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2194560" y="2194560"/>
            <a:ext cx="0" cy="1554480"/>
          </a:xfrm>
          <a:prstGeom prst="line">
            <a:avLst/>
          </a:prstGeom>
          <a:noFill/>
          <a:ln w="25400">
            <a:solidFill>
              <a:srgbClr val="4FD1C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94560" y="3749040"/>
            <a:ext cx="0" cy="1554480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173736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373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person #1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737360" y="329184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8B9C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73736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ball #2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737360" y="484632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6B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73736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dog #3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52160" y="2194560"/>
            <a:ext cx="0" cy="1554480"/>
          </a:xfrm>
          <a:prstGeom prst="line">
            <a:avLst/>
          </a:prstGeom>
          <a:noFill/>
          <a:ln w="25400">
            <a:solidFill>
              <a:srgbClr val="4FD1C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3749040"/>
            <a:ext cx="0" cy="1554480"/>
          </a:xfrm>
          <a:prstGeom prst="line">
            <a:avLst/>
          </a:prstGeom>
          <a:noFill/>
          <a:ln w="25400">
            <a:solidFill>
              <a:srgbClr val="FF6B5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0" y="173736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949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person #1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394960" y="329184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8B9C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9496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ball #2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394960" y="484632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6B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9496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dog #3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509760" y="2194560"/>
            <a:ext cx="0" cy="1554480"/>
          </a:xfrm>
          <a:prstGeom prst="line">
            <a:avLst/>
          </a:prstGeom>
          <a:noFill/>
          <a:ln w="25400">
            <a:solidFill>
              <a:srgbClr val="4FD1C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09760" y="3749040"/>
            <a:ext cx="0" cy="1554480"/>
          </a:xfrm>
          <a:prstGeom prst="line">
            <a:avLst/>
          </a:prstGeom>
          <a:noFill/>
          <a:ln w="15875">
            <a:solidFill>
              <a:srgbClr val="8A94A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052560" y="173736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5256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person #1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052560" y="329184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8B9C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52560" y="3291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ball #2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052560" y="4846320"/>
            <a:ext cx="914400" cy="914400"/>
          </a:xfrm>
          <a:prstGeom prst="ellipse">
            <a:avLst/>
          </a:prstGeom>
          <a:solidFill>
            <a:schemeClr val="bg2"/>
          </a:solidFill>
          <a:ln w="25400">
            <a:solidFill>
              <a:srgbClr val="FF6B5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052560" y="4846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dog #3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286000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D1C5"/>
                </a:solidFill>
              </a:rPr>
              <a:t>holds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943600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5B"/>
                </a:solidFill>
              </a:rPr>
              <a:t>looks at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Solid edges: relations inside a frame.   Dashed edges: the same object linked through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11  ·  RELATION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Relation samples come from tracks and features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920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2350008"/>
            <a:ext cx="731520" cy="896112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01752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017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V="1">
            <a:off x="3200400" y="3246120"/>
            <a:ext cx="731520" cy="201168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114800"/>
            <a:ext cx="26517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flipV="1">
            <a:off x="3200400" y="3246120"/>
            <a:ext cx="731520" cy="1298448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265176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2651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relation_dataset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3246120"/>
            <a:ext cx="45720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0" y="2651760"/>
            <a:ext cx="2834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2651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relation_dataset_corrected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509760" y="3246120"/>
            <a:ext cx="45720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66960" y="2651760"/>
            <a:ext cx="1645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66960" y="26517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predicate model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931920" y="4480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Two exports exist: the first relation set and a corrected version. The corrected one is the cleaner input for relation learning.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12  ·  LESSONS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slowed us down and what we learned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039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access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560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Limited Colab time capped how many parts we could train, so parts 6-8 waited.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2039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runs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2560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Ten epochs per run is a small budget for 33k frames.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142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Over-fitting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46634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Validation loss stays flat while training loss falls.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388620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4142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recall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46634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detector misses objects, which limits every later stage.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REVIEW 3  ·  VIDOR 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VidOR training: five of eight parts complete</a:t>
            </a:r>
            <a:endParaRPr lang="en-US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4023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154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5/8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parts complete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029200" y="17830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Parts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035040" y="17830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Status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1783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tx2"/>
                </a:solidFill>
              </a:rPr>
              <a:t>Result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46320" y="2441448"/>
            <a:ext cx="67665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0" y="24414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1 - 5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24414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Complete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4414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Detector: best mAP50 0.263, mAP50-95 0.153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3099816"/>
            <a:ext cx="67665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29200" y="30998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035040" y="309981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Training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498080" y="30998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Pending evaluation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3758184"/>
            <a:ext cx="67665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0" y="37581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035040" y="37581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Training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498080" y="37581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Pending evaluation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846320" y="4416552"/>
            <a:ext cx="676656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29200" y="44165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035040" y="44165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Training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498080" y="44165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Pending evaluation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4846320" y="5257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</a:rPr>
              <a:t>Next in this review: </a:t>
            </a:r>
            <a:pPr indent="0" marL="0">
              <a:buNone/>
            </a:pPr>
            <a:r>
              <a:rPr lang="en-US" sz="1500" dirty="0">
                <a:solidFill>
                  <a:srgbClr val="E8ECF1"/>
                </a:solidFill>
              </a:rPr>
              <a:t>parts 6-8 results, compared against the parts 1-5 baseline of 0.263 mAP50, go in as each run finishes.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13  · 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Finish the parts, then close the loop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188720" y="2926080"/>
            <a:ext cx="9601200" cy="0"/>
          </a:xfrm>
          <a:prstGeom prst="line">
            <a:avLst/>
          </a:prstGeom>
          <a:noFill/>
          <a:ln w="25400">
            <a:solidFill>
              <a:srgbClr val="5B657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parts 6-8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97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Complete training and evaluate each part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703320" y="2606040"/>
            <a:ext cx="640080" cy="64008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033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on all eight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4297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Re-fit the detector with the full, more varied data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37960" y="2606040"/>
            <a:ext cx="640080" cy="640080"/>
          </a:xfrm>
          <a:prstGeom prst="ellipse">
            <a:avLst/>
          </a:prstGeom>
          <a:solidFill>
            <a:srgbClr val="8B9CFF"/>
          </a:solidFill>
          <a:ln w="12700">
            <a:solidFill>
              <a:srgbClr val="8B9C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runs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4297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More epochs, watch validation loss for early stopping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372600" y="2606040"/>
            <a:ext cx="640080" cy="64008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726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full graph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4297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Detection to tracking to temporal relations, end to end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ene Graph Night">
  <a:themeElements>
    <a:clrScheme name="Scene Graph Night">
      <a:dk1>
        <a:srgbClr val="E8ECF1"/>
      </a:dk1>
      <a:lt1>
        <a:srgbClr val="0F1318"/>
      </a:lt1>
      <a:dk2>
        <a:srgbClr val="8A94A3"/>
      </a:dk2>
      <a:lt2>
        <a:srgbClr val="1A2028"/>
      </a:lt2>
      <a:accent1>
        <a:srgbClr val="FFB020"/>
      </a:accent1>
      <a:accent2>
        <a:srgbClr val="4FD1C5"/>
      </a:accent2>
      <a:accent3>
        <a:srgbClr val="FF6B5B"/>
      </a:accent3>
      <a:accent4>
        <a:srgbClr val="8B9CFF"/>
      </a:accent4>
      <a:accent5>
        <a:srgbClr val="A3E635"/>
      </a:accent5>
      <a:accent6>
        <a:srgbClr val="5B6573"/>
      </a:accent6>
      <a:hlink>
        <a:srgbClr val="4FD1C5"/>
      </a:hlink>
      <a:folHlink>
        <a:srgbClr val="8B9CFF"/>
      </a:folHlink>
    </a:clrScheme>
    <a:fontScheme name="Scene Graph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Scene Graph Generation - Review 3</dc:title>
  <dc:subject>PptxGenJS Presentation</dc:subject>
  <dc:creator>PptxGenJS</dc:creator>
  <cp:lastModifiedBy>PptxGenJS</cp:lastModifiedBy>
  <cp:revision>1</cp:revision>
  <dcterms:created xsi:type="dcterms:W3CDTF">2026-10-21T13:21:09Z</dcterms:created>
  <dcterms:modified xsi:type="dcterms:W3CDTF">2026-10-21T13:21:09Z</dcterms:modified>
</cp:coreProperties>
</file>